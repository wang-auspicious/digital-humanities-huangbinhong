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E3F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B1E3F"/>
                </a:solidFill>
                <a:latin typeface="Georgia"/>
              </a:rPr>
              <a:t>ISBI Cell Tracking Challenge 2015 — IoU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U-Net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PhC-U373</c:v>
                </c:pt>
                <c:pt idx="1">
                  <c:v>DIC-HeLa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0.92030000000000001</c:v>
                </c:pt>
                <c:pt idx="1">
                  <c:v>0.77559999999999996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34-1847-994D-5EDDDD8B04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 best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PhC-U373</c:v>
                </c:pt>
                <c:pt idx="1">
                  <c:v>DIC-HeLa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0.83</c:v>
                </c:pt>
                <c:pt idx="1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34-1847-994D-5EDDDD8B04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KTH-SE (2014)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PhC-U373</c:v>
                </c:pt>
                <c:pt idx="1">
                  <c:v>DIC-HeLa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0.79530000000000001</c:v>
                </c:pt>
                <c:pt idx="1">
                  <c:v>0.4607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34-1847-994D-5EDDDD8B0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9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280160"/>
            <a:ext cx="292608" cy="2743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8394192" y="1280160"/>
            <a:ext cx="292608" cy="2743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6949440" y="3730752"/>
            <a:ext cx="17373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7287768" y="1645920"/>
            <a:ext cx="1060704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7287768" y="2286000"/>
            <a:ext cx="1060704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7287768" y="2926080"/>
            <a:ext cx="1060704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3A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Networks for Biomedical Image Segmentation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Olaf Ronneberger · Philipp Fischer · Thomas Brox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Freiburg · MICCAI 2015 · arXiv:1505.04597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713232" y="3611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10-year retrospective:
</a:t>
            </a:r>
            <a:r>
              <a:rPr lang="en-US" sz="12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· reasoning · </a:t>
            </a:r>
            <a:r>
              <a:rPr lang="en-US" sz="1200" i="1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Teaching · GSU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pixel-level prediction is hard — and why it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asks </a:t>
            </a: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Segmentation asks </a:t>
            </a: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+ where, per pixel.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imaging breaks every assumption of ImageNet-era CNNs: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precious — often a few dozen annotated images.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touch, deform, and look almost identical to background.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pixel must be both well-localized and contextually informed.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417320"/>
            <a:ext cx="2834640" cy="1234440"/>
          </a:xfrm>
          <a:prstGeom prst="rect">
            <a:avLst/>
          </a:prstGeom>
          <a:solidFill>
            <a:srgbClr val="EAF2FB"/>
          </a:solidFill>
          <a:ln w="12700">
            <a:solidFill>
              <a:srgbClr val="63A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6035040" y="1618488"/>
            <a:ext cx="594360" cy="502920"/>
          </a:xfrm>
          <a:prstGeom prst="ellipse">
            <a:avLst/>
          </a:prstGeom>
          <a:solidFill>
            <a:srgbClr val="C7D9F0"/>
          </a:solidFill>
          <a:ln w="12700">
            <a:solidFill>
              <a:srgbClr val="63A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583680" y="1920240"/>
            <a:ext cx="548640" cy="457200"/>
          </a:xfrm>
          <a:prstGeom prst="ellipse">
            <a:avLst/>
          </a:prstGeom>
          <a:solidFill>
            <a:srgbClr val="BFD4EE"/>
          </a:solidFill>
          <a:ln w="12700">
            <a:solidFill>
              <a:srgbClr val="63A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7132320" y="1691640"/>
            <a:ext cx="502920" cy="457200"/>
          </a:xfrm>
          <a:prstGeom prst="ellipse">
            <a:avLst/>
          </a:prstGeom>
          <a:solidFill>
            <a:srgbClr val="D3E2F4"/>
          </a:solidFill>
          <a:ln w="12700">
            <a:solidFill>
              <a:srgbClr val="63A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7635240" y="1965960"/>
            <a:ext cx="502920" cy="457200"/>
          </a:xfrm>
          <a:prstGeom prst="ellipse">
            <a:avLst/>
          </a:prstGeom>
          <a:solidFill>
            <a:srgbClr val="C7D9F0"/>
          </a:solidFill>
          <a:ln w="12700">
            <a:solidFill>
              <a:srgbClr val="63A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5760720" y="2670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</a:rPr>
              <a:t>microscopy input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7086600" y="2944368"/>
            <a:ext cx="182880" cy="182880"/>
          </a:xfrm>
          <a:prstGeom prst="rtTriangl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5760720" y="3218688"/>
            <a:ext cx="2834640" cy="12344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035040" y="3419856"/>
            <a:ext cx="59436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583680" y="3721608"/>
            <a:ext cx="5486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7132320" y="3493008"/>
            <a:ext cx="502920" cy="457200"/>
          </a:xfrm>
          <a:prstGeom prst="ellipse">
            <a:avLst/>
          </a:prstGeom>
          <a:solidFill>
            <a:srgbClr val="63A4FF"/>
          </a:solidFill>
          <a:ln w="12700">
            <a:solidFill>
              <a:srgbClr val="63A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7635240" y="3767328"/>
            <a:ext cx="50292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760720" y="4471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</a:rPr>
              <a:t>per-pixel mask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(2012–2015)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Pre-U-Net: sliding-window patches and the FCN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Ciresan et al. 2012 — sliding-window CNN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pixel from a local patch.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→ many training instances per image.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ISBI 2012 EM segmentation by a large margin.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redundant overlapping patch passes.</a:t>
            </a:r>
            <a:endParaRPr lang="en-US" sz="1100" dirty="0"/>
          </a:p>
          <a:p>
            <a:pPr marL="342900" indent="-342900">
              <a:buSzPct val="100000"/>
              <a:buChar char="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between context (large patch) and localization (small patch).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77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73152" cy="310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Long, Shelhamer, Darrell 2014 — FCN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classifier with up-sampling layers.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— produces a dense map.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skips from pool3 / pool4 / pool5 (32s, 16s, 8s).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U-Net inherits — and changes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Encoder/decoder idea — kept.</a:t>
            </a:r>
            <a:endParaRPr lang="en-US" sz="1100" dirty="0"/>
          </a:p>
          <a:p>
            <a:pPr marL="342900" indent="-342900">
              <a:buSzPct val="100000"/>
              <a:buChar char="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Symmetric, many-channel decoder + fine-grained skips — new.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for context. Expand for localization. Skip for detail.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305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130552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Contracting 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3×3 conv + 2×2 max-pool double the channels at every downsample. The network learns 'what is in this region' at progressively coarser scales.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02152" y="1417320"/>
            <a:ext cx="21305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3502152" y="1417320"/>
            <a:ext cx="2130552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639312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+ concat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6744" y="196596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decoder block grabs the matching encoder feature map (cropped to size). Fine spatial detail bypasses the bottleneck and reaches the output.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56248" y="1417320"/>
            <a:ext cx="21305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556248" y="1417320"/>
            <a:ext cx="2130552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693408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Expansive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196596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Up-convolutions halve channels and double resolution. Two 3×3 conv layers re-mix decoder features with the copied encoder ones to produce a precise mask.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U-shape: 23 convolutions, 4 downsamples, 4 upsamples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1248" y="1417320"/>
            <a:ext cx="146304" cy="365760"/>
          </a:xfrm>
          <a:prstGeom prst="rect">
            <a:avLst/>
          </a:prstGeom>
          <a:solidFill>
            <a:srgbClr val="63A4FF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024128" y="1417320"/>
            <a:ext cx="146304" cy="365760"/>
          </a:xfrm>
          <a:prstGeom prst="rect">
            <a:avLst/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31520" y="12161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882128" y="1417320"/>
            <a:ext cx="146304" cy="365760"/>
          </a:xfrm>
          <a:prstGeom prst="rect">
            <a:avLst/>
          </a:prstGeom>
          <a:solidFill>
            <a:srgbClr val="FFD3C0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065008" y="1417320"/>
            <a:ext cx="146304" cy="36576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7772400" y="12161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09928" y="1691640"/>
            <a:ext cx="146304" cy="548640"/>
          </a:xfrm>
          <a:prstGeom prst="rect">
            <a:avLst/>
          </a:prstGeom>
          <a:solidFill>
            <a:srgbClr val="63A4FF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1892808" y="1691640"/>
            <a:ext cx="146304" cy="548640"/>
          </a:xfrm>
          <a:prstGeom prst="rect">
            <a:avLst/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600200" y="1490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13448" y="1691640"/>
            <a:ext cx="146304" cy="548640"/>
          </a:xfrm>
          <a:prstGeom prst="rect">
            <a:avLst/>
          </a:prstGeom>
          <a:solidFill>
            <a:srgbClr val="FFD3C0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7196328" y="1691640"/>
            <a:ext cx="146304" cy="54864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903720" y="1490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2011680"/>
            <a:ext cx="146304" cy="777240"/>
          </a:xfrm>
          <a:prstGeom prst="rect">
            <a:avLst/>
          </a:prstGeom>
          <a:solidFill>
            <a:srgbClr val="63A4FF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2761488" y="2011680"/>
            <a:ext cx="146304" cy="777240"/>
          </a:xfrm>
          <a:prstGeom prst="rect">
            <a:avLst/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246888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44768" y="2011680"/>
            <a:ext cx="146304" cy="777240"/>
          </a:xfrm>
          <a:prstGeom prst="rect">
            <a:avLst/>
          </a:prstGeom>
          <a:solidFill>
            <a:srgbClr val="FFD3C0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327648" y="2011680"/>
            <a:ext cx="146304" cy="77724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03504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47288" y="2377440"/>
            <a:ext cx="146304" cy="1051560"/>
          </a:xfrm>
          <a:prstGeom prst="rect">
            <a:avLst/>
          </a:prstGeom>
          <a:solidFill>
            <a:srgbClr val="63A4FF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3630168" y="2377440"/>
            <a:ext cx="146304" cy="1051560"/>
          </a:xfrm>
          <a:prstGeom prst="rect">
            <a:avLst/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3337560" y="21762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76088" y="2377440"/>
            <a:ext cx="146304" cy="1051560"/>
          </a:xfrm>
          <a:prstGeom prst="rect">
            <a:avLst/>
          </a:prstGeom>
          <a:solidFill>
            <a:srgbClr val="FFD3C0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5458968" y="2377440"/>
            <a:ext cx="146304" cy="105156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5166360" y="21762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15968" y="2834640"/>
            <a:ext cx="146304" cy="1417320"/>
          </a:xfrm>
          <a:prstGeom prst="rect">
            <a:avLst/>
          </a:prstGeom>
          <a:solidFill>
            <a:srgbClr val="63A4FF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4498848" y="2834640"/>
            <a:ext cx="146304" cy="1417320"/>
          </a:xfrm>
          <a:prstGeom prst="rect">
            <a:avLst/>
          </a:prstGeom>
          <a:solidFill>
            <a:srgbClr val="1565C0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4206240" y="2633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05840" y="1801368"/>
            <a:ext cx="868680" cy="0"/>
          </a:xfrm>
          <a:prstGeom prst="line">
            <a:avLst/>
          </a:prstGeom>
          <a:noFill/>
          <a:ln w="17780">
            <a:solidFill>
              <a:srgbClr val="C81E1E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1874520" y="2258568"/>
            <a:ext cx="868680" cy="0"/>
          </a:xfrm>
          <a:prstGeom prst="line">
            <a:avLst/>
          </a:prstGeom>
          <a:noFill/>
          <a:ln w="17780">
            <a:solidFill>
              <a:srgbClr val="C81E1E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2743200" y="2807208"/>
            <a:ext cx="868680" cy="0"/>
          </a:xfrm>
          <a:prstGeom prst="line">
            <a:avLst/>
          </a:prstGeom>
          <a:noFill/>
          <a:ln w="17780">
            <a:solidFill>
              <a:srgbClr val="C81E1E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4" name="Shape 32"/>
          <p:cNvSpPr/>
          <p:nvPr/>
        </p:nvSpPr>
        <p:spPr>
          <a:xfrm>
            <a:off x="3611880" y="3447288"/>
            <a:ext cx="868680" cy="0"/>
          </a:xfrm>
          <a:prstGeom prst="line">
            <a:avLst/>
          </a:prstGeom>
          <a:noFill/>
          <a:ln w="17780">
            <a:solidFill>
              <a:srgbClr val="C81E1E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33"/>
          <p:cNvSpPr/>
          <p:nvPr/>
        </p:nvSpPr>
        <p:spPr>
          <a:xfrm>
            <a:off x="4480560" y="2798064"/>
            <a:ext cx="960120" cy="64922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6" name="Shape 34"/>
          <p:cNvSpPr/>
          <p:nvPr/>
        </p:nvSpPr>
        <p:spPr>
          <a:xfrm>
            <a:off x="5440680" y="2340864"/>
            <a:ext cx="868680" cy="46634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6309360" y="1975104"/>
            <a:ext cx="868680" cy="28346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7178040" y="1655064"/>
            <a:ext cx="868680" cy="14630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1152144" y="1581912"/>
            <a:ext cx="6748272" cy="0"/>
          </a:xfrm>
          <a:prstGeom prst="line">
            <a:avLst/>
          </a:prstGeom>
          <a:noFill/>
          <a:ln w="17780">
            <a:solidFill>
              <a:srgbClr val="FF6B35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2020824" y="1856232"/>
            <a:ext cx="5010912" cy="0"/>
          </a:xfrm>
          <a:prstGeom prst="line">
            <a:avLst/>
          </a:prstGeom>
          <a:noFill/>
          <a:ln w="17780">
            <a:solidFill>
              <a:srgbClr val="FF6B35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2889504" y="2176272"/>
            <a:ext cx="3273552" cy="0"/>
          </a:xfrm>
          <a:prstGeom prst="line">
            <a:avLst/>
          </a:prstGeom>
          <a:noFill/>
          <a:ln w="17780">
            <a:solidFill>
              <a:srgbClr val="FF6B35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3758184" y="2542032"/>
            <a:ext cx="1536192" cy="0"/>
          </a:xfrm>
          <a:prstGeom prst="line">
            <a:avLst/>
          </a:prstGeom>
          <a:noFill/>
          <a:ln w="17780">
            <a:solidFill>
              <a:srgbClr val="FF6B35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solidFill>
            <a:srgbClr val="EAF2FB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457200" y="20116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503920" y="1508760"/>
            <a:ext cx="457200" cy="457200"/>
          </a:xfrm>
          <a:prstGeom prst="rect">
            <a:avLst/>
          </a:prstGeom>
          <a:solidFill>
            <a:srgbClr val="FFD3C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8458200" y="20116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562856"/>
            <a:ext cx="109728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667512" y="4526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+ ReLU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40280" y="4617720"/>
            <a:ext cx="182880" cy="0"/>
          </a:xfrm>
          <a:prstGeom prst="line">
            <a:avLst/>
          </a:prstGeom>
          <a:noFill/>
          <a:ln w="17780">
            <a:solidFill>
              <a:srgbClr val="C81E1E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2468880" y="4526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 2×2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03320" y="4617720"/>
            <a:ext cx="18288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3931920" y="4526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 2×2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120640" y="4617720"/>
            <a:ext cx="182880" cy="0"/>
          </a:xfrm>
          <a:prstGeom prst="line">
            <a:avLst/>
          </a:prstGeom>
          <a:noFill/>
          <a:ln w="17780">
            <a:solidFill>
              <a:srgbClr val="FF6B35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5349240" y="4526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+ concat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629400" y="4562856"/>
            <a:ext cx="10972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6793992" y="4526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up-path features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— capture context, double channels at every step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(in→out)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572 → 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 conv ×2  + 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 → 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max-pool 2×2  →  3×3 conv ×2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→ 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→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max-pool 2×2  →  3×3 conv ×2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 →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→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max-pool 2×2  →  3×3 conv ×2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(bottleneck)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→ 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→ 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max-pool 2×2  →  3×3 conv ×2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417320"/>
            <a:ext cx="2926080" cy="3017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3"/>
          <p:cNvSpPr/>
          <p:nvPr/>
        </p:nvSpPr>
        <p:spPr>
          <a:xfrm>
            <a:off x="5760720" y="1417320"/>
            <a:ext cx="73152" cy="3017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4"/>
          <p:cNvSpPr/>
          <p:nvPr/>
        </p:nvSpPr>
        <p:spPr>
          <a:xfrm>
            <a:off x="59893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of thumb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89320" y="1874520"/>
            <a:ext cx="2606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Unpadded ('valid') 3×3 convs — each layer trims 1 px on every side.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after every conv.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Down-sample with max-pool 2×2 (stride 2).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channels at every downsample (powers of 2).</a:t>
            </a:r>
            <a:endParaRPr lang="en-US" sz="1150" dirty="0"/>
          </a:p>
          <a:p>
            <a:pPr marL="342900" indent="-342900">
              <a:buSzPct val="100000"/>
              <a:buChar char="■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 at the bottleneck reaches the whole context.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EXPANSIVE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 — recover resolution, fuse with skipped detail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up-conv 2×2  (halve channels, double H×W)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→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+ crop matching encoder feature map  →  concatenate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+ 512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 conv  →  ReLU  →  3×3 conv  → 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→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4 times: 512→256, 256→128, 128→64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 conv to K classes  (e.g., K =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417320"/>
            <a:ext cx="29260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3"/>
          <p:cNvSpPr/>
          <p:nvPr/>
        </p:nvSpPr>
        <p:spPr>
          <a:xfrm>
            <a:off x="5760720" y="1417320"/>
            <a:ext cx="73152" cy="3017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4"/>
          <p:cNvSpPr/>
          <p:nvPr/>
        </p:nvSpPr>
        <p:spPr>
          <a:xfrm>
            <a:off x="59893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crop the skip?</a:t>
            </a:r>
            <a:endParaRPr lang="en-US" sz="1400" dirty="0"/>
          </a:p>
        </p:txBody>
      </p:sp>
      <p:sp>
        <p:nvSpPr>
          <p:cNvPr id="4" name="Text 5"/>
          <p:cNvSpPr/>
          <p:nvPr/>
        </p:nvSpPr>
        <p:spPr>
          <a:xfrm>
            <a:off x="5989320" y="192024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Unpadded convolutions shrink every feature map. The encoder map is therefore larger than the decoder map at the same level — center-crop fixes the mismatch.
</a:t>
            </a: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conv layers, 18M parameters, no fully-connected layers.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design choice that defines U-Net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914400" cy="1371600"/>
          </a:xfrm>
          <a:prstGeom prst="rect">
            <a:avLst/>
          </a:prstGeom>
          <a:solidFill>
            <a:srgbClr val="1565C0">
              <a:alpha val="90000"/>
            </a:srgbClr>
          </a:solidFill>
          <a:ln w="635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005840" y="1645920"/>
            <a:ext cx="914400" cy="1371600"/>
          </a:xfrm>
          <a:prstGeom prst="rect">
            <a:avLst/>
          </a:prstGeom>
          <a:solidFill>
            <a:srgbClr val="1565C0">
              <a:alpha val="75000"/>
            </a:srgbClr>
          </a:solidFill>
          <a:ln w="635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914400" cy="1371600"/>
          </a:xfrm>
          <a:prstGeom prst="rect">
            <a:avLst/>
          </a:prstGeom>
          <a:solidFill>
            <a:srgbClr val="1565C0">
              <a:alpha val="60000"/>
            </a:srgbClr>
          </a:solidFill>
          <a:ln w="635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1188720" y="1828800"/>
            <a:ext cx="914400" cy="1371600"/>
          </a:xfrm>
          <a:prstGeom prst="rect">
            <a:avLst/>
          </a:prstGeom>
          <a:solidFill>
            <a:srgbClr val="1565C0">
              <a:alpha val="45000"/>
            </a:srgbClr>
          </a:solidFill>
          <a:ln w="635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(high-res, low-level)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914400" cy="1371600"/>
          </a:xfrm>
          <a:prstGeom prst="rect">
            <a:avLst/>
          </a:prstGeom>
          <a:solidFill>
            <a:srgbClr val="FF6B35">
              <a:alpha val="90000"/>
            </a:srgbClr>
          </a:solidFill>
          <a:ln w="6350">
            <a:solidFill>
              <a:srgbClr val="8B2E1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914400" cy="1371600"/>
          </a:xfrm>
          <a:prstGeom prst="rect">
            <a:avLst/>
          </a:prstGeom>
          <a:solidFill>
            <a:srgbClr val="FF6B35">
              <a:alpha val="75000"/>
            </a:srgbClr>
          </a:solidFill>
          <a:ln w="6350">
            <a:solidFill>
              <a:srgbClr val="8B2E1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914400" cy="1371600"/>
          </a:xfrm>
          <a:prstGeom prst="rect">
            <a:avLst/>
          </a:prstGeom>
          <a:solidFill>
            <a:srgbClr val="FF6B35">
              <a:alpha val="60000"/>
            </a:srgbClr>
          </a:solidFill>
          <a:ln w="6350">
            <a:solidFill>
              <a:srgbClr val="8B2E1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914400" cy="1371600"/>
          </a:xfrm>
          <a:prstGeom prst="rect">
            <a:avLst/>
          </a:prstGeom>
          <a:solidFill>
            <a:srgbClr val="FF6B35">
              <a:alpha val="45000"/>
            </a:srgbClr>
          </a:solidFill>
          <a:ln w="6350">
            <a:solidFill>
              <a:srgbClr val="8B2E1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20040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(low-res, semantic)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⊕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03520" y="141732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skip carries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cropped encoder feature map is concatenated (not added) to the decoder activation, doubling the channel count before the next 3×3 convs.
</a:t>
            </a: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powerful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spatial detail bypasses the lossy bottleneck.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can mix 'where' (encoder) with 'what' (its own coarse semantics).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now reach the encoder through a short path → easier optimization.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a U with skips work so well?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Information-flow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hourglass without skips is a lossy compressor of pixels. Skips re-inject the bits lost during pooling, so the decoder doesn't need to reconstruct edges from scratch.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73152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Multi-scale fusion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82880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gives the final conv access to features at four different scales — semantically rich and spatially detailed — within one differentiable graph.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create shortcut paths similar to ResNet identity. Gradient flow to the encoder becomes 4× shorter; training a 23-layer net on ~30 images is feasible.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Inductive bias for dense prediction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38328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symmetric U mirrors the pixel-aligned structure of input and output. Output[i,j] depends on input[i,j] both directly (via skips) and contextually (via the bottleneck).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Unpadded convolution and the 'valid' philosophy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Unpadded ('valid') 3×3 conv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 layer shrinks the spatial size by 2 px (1 px on each side). No artificial values are ever fabricated at the border.
</a:t>
            </a:r>
            <a:r>
              <a:rPr lang="en-US" sz="15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segmentation map only covers pixels for which the network had </a:t>
            </a: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input.
</a:t>
            </a:r>
            <a:r>
              <a:rPr lang="en-US" sz="15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smaller than input (e.g., 388 × 388 out of 572 × 572). To predict every pixel of a large image, we 'tile' with overlap — see next slide.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1554480"/>
            <a:ext cx="2926080" cy="320040"/>
          </a:xfrm>
          <a:prstGeom prst="rect">
            <a:avLst/>
          </a:prstGeom>
          <a:solidFill>
            <a:srgbClr val="63A4FF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3035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2057400"/>
            <a:ext cx="2743200" cy="320040"/>
          </a:xfrm>
          <a:prstGeom prst="rect">
            <a:avLst/>
          </a:prstGeom>
          <a:solidFill>
            <a:srgbClr val="63A4FF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3035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0" y="2560320"/>
            <a:ext cx="2560320" cy="320040"/>
          </a:xfrm>
          <a:prstGeom prst="rect">
            <a:avLst/>
          </a:prstGeom>
          <a:solidFill>
            <a:srgbClr val="63A4FF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530352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3063240"/>
            <a:ext cx="1280160" cy="320040"/>
          </a:xfrm>
          <a:prstGeom prst="rect">
            <a:avLst/>
          </a:prstGeom>
          <a:solidFill>
            <a:srgbClr val="FFD3C0"/>
          </a:solidFill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3035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(after pool)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780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unpadded 3×3 conv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1-px border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TRICK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Overlap-tile strategy for arbitrarily large images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017520" cy="3017520"/>
          </a:xfrm>
          <a:prstGeom prst="rect">
            <a:avLst/>
          </a:prstGeom>
          <a:solidFill>
            <a:srgbClr val="EAF2FB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1143000" y="2057400"/>
            <a:ext cx="2011680" cy="20116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context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(blue)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region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3017520"/>
            <a:ext cx="54864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4206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73152" cy="3017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05740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large image into overlapping tiles such that each yellow region tiles the whole image seamlessly.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image border, missing input context is filled in by mirroring the image — no synthetic black padding.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stays bounded; resolution is unlimited.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size chosen so every 2×2 pool sees an even-sized map.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TRICK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deformations: the secret to learning from 30 images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deformation?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Tissues, cells, and organs vary continuously. The most common nuisance variation is non-rigid deformation — exactly what elastic warping simulates.
</a:t>
            </a:r>
            <a:r>
              <a:rPr lang="en-US" sz="15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displacement vectors on a coarse 3 × 3 grid.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from a Gaussian, σ ≈ 10 px.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interpolation → per-pixel displacement field.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at the end of the encoder acts as further implicit augmentation.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9240" y="141732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5486400" y="1554480"/>
            <a:ext cx="365760" cy="42976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5852160" y="1597456"/>
            <a:ext cx="365760" cy="10453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6217920" y="160790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6583680" y="1577928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6949440" y="153020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7315200" y="1500849"/>
            <a:ext cx="365760" cy="11234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7680960" y="1512083"/>
            <a:ext cx="365760" cy="43319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8046720" y="1555402"/>
            <a:ext cx="365760" cy="42621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5486400" y="1554480"/>
            <a:ext cx="35344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521744" y="1920240"/>
            <a:ext cx="18721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5540466" y="22860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5533759" y="265176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504779" y="301752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5467155" y="33832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5438582" y="37490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432499" y="4114800"/>
            <a:ext cx="19267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5486400" y="1936453"/>
            <a:ext cx="365760" cy="34922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5852160" y="1971375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6217920" y="196759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6583680" y="192798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6949440" y="1882506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7315200" y="1865586"/>
            <a:ext cx="365760" cy="24441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7680960" y="1890027"/>
            <a:ext cx="365760" cy="47305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8046720" y="1937332"/>
            <a:ext cx="365760" cy="3437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5878463" y="1554480"/>
            <a:ext cx="2483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5903295" y="1920240"/>
            <a:ext cx="78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5904078" y="22860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5880442" y="265176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Shape 32"/>
          <p:cNvSpPr/>
          <p:nvPr/>
        </p:nvSpPr>
        <p:spPr>
          <a:xfrm>
            <a:off x="5843505" y="301752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33"/>
          <p:cNvSpPr/>
          <p:nvPr/>
        </p:nvSpPr>
        <p:spPr>
          <a:xfrm>
            <a:off x="5810639" y="33832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Shape 34"/>
          <p:cNvSpPr/>
          <p:nvPr/>
        </p:nvSpPr>
        <p:spPr>
          <a:xfrm>
            <a:off x="5797300" y="3749040"/>
            <a:ext cx="12463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5809763" y="4114800"/>
            <a:ext cx="32403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5486400" y="2316979"/>
            <a:ext cx="365760" cy="23748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5852160" y="2340727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6217920" y="232305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6583680" y="2277345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6949440" y="223818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7315200" y="2235206"/>
            <a:ext cx="365760" cy="35464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7680960" y="2270670"/>
            <a:ext cx="365760" cy="47065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8046720" y="2317736"/>
            <a:ext cx="365760" cy="23049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6264086" y="1554480"/>
            <a:ext cx="824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Shape 45"/>
          <p:cNvSpPr/>
          <p:nvPr/>
        </p:nvSpPr>
        <p:spPr>
          <a:xfrm>
            <a:off x="6272327" y="19202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Shape 46"/>
          <p:cNvSpPr/>
          <p:nvPr/>
        </p:nvSpPr>
        <p:spPr>
          <a:xfrm>
            <a:off x="6254979" y="22860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Shape 47"/>
          <p:cNvSpPr/>
          <p:nvPr/>
        </p:nvSpPr>
        <p:spPr>
          <a:xfrm>
            <a:off x="6220201" y="265176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Shape 48"/>
          <p:cNvSpPr/>
          <p:nvPr/>
        </p:nvSpPr>
        <p:spPr>
          <a:xfrm>
            <a:off x="6184351" y="301752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Shape 49"/>
          <p:cNvSpPr/>
          <p:nvPr/>
        </p:nvSpPr>
        <p:spPr>
          <a:xfrm>
            <a:off x="6164289" y="3383280"/>
            <a:ext cx="5161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Shape 50"/>
          <p:cNvSpPr/>
          <p:nvPr/>
        </p:nvSpPr>
        <p:spPr>
          <a:xfrm>
            <a:off x="6169450" y="3749040"/>
            <a:ext cx="27957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Shape 51"/>
          <p:cNvSpPr/>
          <p:nvPr/>
        </p:nvSpPr>
        <p:spPr>
          <a:xfrm>
            <a:off x="6197408" y="4114800"/>
            <a:ext cx="37605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Shape 52"/>
          <p:cNvSpPr/>
          <p:nvPr/>
        </p:nvSpPr>
        <p:spPr>
          <a:xfrm>
            <a:off x="5486400" y="2694736"/>
            <a:ext cx="365760" cy="10453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Shape 53"/>
          <p:cNvSpPr/>
          <p:nvPr/>
        </p:nvSpPr>
        <p:spPr>
          <a:xfrm>
            <a:off x="5852160" y="270518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Shape 54"/>
          <p:cNvSpPr/>
          <p:nvPr/>
        </p:nvSpPr>
        <p:spPr>
          <a:xfrm>
            <a:off x="6217920" y="2675208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7" name="Shape 55"/>
          <p:cNvSpPr/>
          <p:nvPr/>
        </p:nvSpPr>
        <p:spPr>
          <a:xfrm>
            <a:off x="6583680" y="262748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Shape 56"/>
          <p:cNvSpPr/>
          <p:nvPr/>
        </p:nvSpPr>
        <p:spPr>
          <a:xfrm>
            <a:off x="6949440" y="2598129"/>
            <a:ext cx="365760" cy="11234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9" name="Shape 57"/>
          <p:cNvSpPr/>
          <p:nvPr/>
        </p:nvSpPr>
        <p:spPr>
          <a:xfrm>
            <a:off x="7315200" y="2609363"/>
            <a:ext cx="365760" cy="43319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Shape 58"/>
          <p:cNvSpPr/>
          <p:nvPr/>
        </p:nvSpPr>
        <p:spPr>
          <a:xfrm>
            <a:off x="7680960" y="2652682"/>
            <a:ext cx="365760" cy="42621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1" name="Shape 59"/>
          <p:cNvSpPr/>
          <p:nvPr/>
        </p:nvSpPr>
        <p:spPr>
          <a:xfrm>
            <a:off x="8046720" y="2695304"/>
            <a:ext cx="365760" cy="9668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2" name="Shape 60"/>
          <p:cNvSpPr/>
          <p:nvPr/>
        </p:nvSpPr>
        <p:spPr>
          <a:xfrm>
            <a:off x="6638407" y="15544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>
            <a:off x="6628037" y="19202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4" name="Shape 62"/>
          <p:cNvSpPr/>
          <p:nvPr/>
        </p:nvSpPr>
        <p:spPr>
          <a:xfrm>
            <a:off x="6596806" y="22860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Shape 63"/>
          <p:cNvSpPr/>
          <p:nvPr/>
        </p:nvSpPr>
        <p:spPr>
          <a:xfrm>
            <a:off x="6559402" y="265176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Shape 64"/>
          <p:cNvSpPr/>
          <p:nvPr/>
        </p:nvSpPr>
        <p:spPr>
          <a:xfrm>
            <a:off x="6533415" y="301752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Shape 65"/>
          <p:cNvSpPr/>
          <p:nvPr/>
        </p:nvSpPr>
        <p:spPr>
          <a:xfrm>
            <a:off x="6531070" y="3383280"/>
            <a:ext cx="22398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8" name="Shape 66"/>
          <p:cNvSpPr/>
          <p:nvPr/>
        </p:nvSpPr>
        <p:spPr>
          <a:xfrm>
            <a:off x="6553467" y="3749040"/>
            <a:ext cx="36607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Shape 67"/>
          <p:cNvSpPr/>
          <p:nvPr/>
        </p:nvSpPr>
        <p:spPr>
          <a:xfrm>
            <a:off x="6590074" y="4114800"/>
            <a:ext cx="3360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Shape 68"/>
          <p:cNvSpPr/>
          <p:nvPr/>
        </p:nvSpPr>
        <p:spPr>
          <a:xfrm>
            <a:off x="5486400" y="3068655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1" name="Shape 69"/>
          <p:cNvSpPr/>
          <p:nvPr/>
        </p:nvSpPr>
        <p:spPr>
          <a:xfrm>
            <a:off x="5852160" y="306487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Shape 70"/>
          <p:cNvSpPr/>
          <p:nvPr/>
        </p:nvSpPr>
        <p:spPr>
          <a:xfrm>
            <a:off x="6217920" y="302526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3" name="Shape 71"/>
          <p:cNvSpPr/>
          <p:nvPr/>
        </p:nvSpPr>
        <p:spPr>
          <a:xfrm>
            <a:off x="6583680" y="2979786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Shape 72"/>
          <p:cNvSpPr/>
          <p:nvPr/>
        </p:nvSpPr>
        <p:spPr>
          <a:xfrm>
            <a:off x="6949440" y="2962866"/>
            <a:ext cx="365760" cy="24441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5" name="Shape 73"/>
          <p:cNvSpPr/>
          <p:nvPr/>
        </p:nvSpPr>
        <p:spPr>
          <a:xfrm>
            <a:off x="7315200" y="2987307"/>
            <a:ext cx="365760" cy="47305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Shape 74"/>
          <p:cNvSpPr/>
          <p:nvPr/>
        </p:nvSpPr>
        <p:spPr>
          <a:xfrm>
            <a:off x="7680960" y="3034612"/>
            <a:ext cx="365760" cy="3437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7" name="Shape 75"/>
          <p:cNvSpPr/>
          <p:nvPr/>
        </p:nvSpPr>
        <p:spPr>
          <a:xfrm>
            <a:off x="8046720" y="306898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Shape 76"/>
          <p:cNvSpPr/>
          <p:nvPr/>
        </p:nvSpPr>
        <p:spPr>
          <a:xfrm>
            <a:off x="6999328" y="15544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Shape 77"/>
          <p:cNvSpPr/>
          <p:nvPr/>
        </p:nvSpPr>
        <p:spPr>
          <a:xfrm>
            <a:off x="6972888" y="19202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6935420" y="22860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Shape 79"/>
          <p:cNvSpPr/>
          <p:nvPr/>
        </p:nvSpPr>
        <p:spPr>
          <a:xfrm>
            <a:off x="6904546" y="265176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2" name="Shape 80"/>
          <p:cNvSpPr/>
          <p:nvPr/>
        </p:nvSpPr>
        <p:spPr>
          <a:xfrm>
            <a:off x="6894786" y="3017520"/>
            <a:ext cx="15945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Shape 81"/>
          <p:cNvSpPr/>
          <p:nvPr/>
        </p:nvSpPr>
        <p:spPr>
          <a:xfrm>
            <a:off x="6910731" y="3383280"/>
            <a:ext cx="3415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4" name="Shape 82"/>
          <p:cNvSpPr/>
          <p:nvPr/>
        </p:nvSpPr>
        <p:spPr>
          <a:xfrm>
            <a:off x="6944881" y="3749040"/>
            <a:ext cx="36294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5" name="Shape 83"/>
          <p:cNvSpPr/>
          <p:nvPr/>
        </p:nvSpPr>
        <p:spPr>
          <a:xfrm>
            <a:off x="6981176" y="4114800"/>
            <a:ext cx="21368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Shape 84"/>
          <p:cNvSpPr/>
          <p:nvPr/>
        </p:nvSpPr>
        <p:spPr>
          <a:xfrm>
            <a:off x="5486400" y="3438007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Shape 85"/>
          <p:cNvSpPr/>
          <p:nvPr/>
        </p:nvSpPr>
        <p:spPr>
          <a:xfrm>
            <a:off x="5852160" y="342033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8" name="Shape 86"/>
          <p:cNvSpPr/>
          <p:nvPr/>
        </p:nvSpPr>
        <p:spPr>
          <a:xfrm>
            <a:off x="6217920" y="3374625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9" name="Shape 87"/>
          <p:cNvSpPr/>
          <p:nvPr/>
        </p:nvSpPr>
        <p:spPr>
          <a:xfrm>
            <a:off x="6583680" y="333546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0" name="Shape 88"/>
          <p:cNvSpPr/>
          <p:nvPr/>
        </p:nvSpPr>
        <p:spPr>
          <a:xfrm>
            <a:off x="6949440" y="3332486"/>
            <a:ext cx="365760" cy="35464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1" name="Shape 89"/>
          <p:cNvSpPr/>
          <p:nvPr/>
        </p:nvSpPr>
        <p:spPr>
          <a:xfrm>
            <a:off x="7315200" y="3367950"/>
            <a:ext cx="365760" cy="47065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2" name="Shape 90"/>
          <p:cNvSpPr/>
          <p:nvPr/>
        </p:nvSpPr>
        <p:spPr>
          <a:xfrm>
            <a:off x="7680960" y="3415016"/>
            <a:ext cx="365760" cy="23049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3" name="Shape 91"/>
          <p:cNvSpPr/>
          <p:nvPr/>
        </p:nvSpPr>
        <p:spPr>
          <a:xfrm>
            <a:off x="8046720" y="3438064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4" name="Shape 92"/>
          <p:cNvSpPr/>
          <p:nvPr/>
        </p:nvSpPr>
        <p:spPr>
          <a:xfrm>
            <a:off x="7348035" y="15544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5" name="Shape 93"/>
          <p:cNvSpPr/>
          <p:nvPr/>
        </p:nvSpPr>
        <p:spPr>
          <a:xfrm>
            <a:off x="7311997" y="19202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6" name="Shape 94"/>
          <p:cNvSpPr/>
          <p:nvPr/>
        </p:nvSpPr>
        <p:spPr>
          <a:xfrm>
            <a:off x="7277466" y="22860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7" name="Shape 95"/>
          <p:cNvSpPr/>
          <p:nvPr/>
        </p:nvSpPr>
        <p:spPr>
          <a:xfrm>
            <a:off x="7260682" y="2651760"/>
            <a:ext cx="8856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8" name="Shape 96"/>
          <p:cNvSpPr/>
          <p:nvPr/>
        </p:nvSpPr>
        <p:spPr>
          <a:xfrm>
            <a:off x="7269538" y="3017520"/>
            <a:ext cx="3033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9" name="Shape 97"/>
          <p:cNvSpPr/>
          <p:nvPr/>
        </p:nvSpPr>
        <p:spPr>
          <a:xfrm>
            <a:off x="7299870" y="3383280"/>
            <a:ext cx="3754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0" name="Shape 98"/>
          <p:cNvSpPr/>
          <p:nvPr/>
        </p:nvSpPr>
        <p:spPr>
          <a:xfrm>
            <a:off x="7337412" y="3749040"/>
            <a:ext cx="27095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Shape 99"/>
          <p:cNvSpPr/>
          <p:nvPr/>
        </p:nvSpPr>
        <p:spPr>
          <a:xfrm>
            <a:off x="7364507" y="4114800"/>
            <a:ext cx="3905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2" name="Shape 100"/>
          <p:cNvSpPr/>
          <p:nvPr/>
        </p:nvSpPr>
        <p:spPr>
          <a:xfrm>
            <a:off x="5486400" y="380246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Shape 101"/>
          <p:cNvSpPr/>
          <p:nvPr/>
        </p:nvSpPr>
        <p:spPr>
          <a:xfrm>
            <a:off x="5852160" y="3772488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4" name="Shape 102"/>
          <p:cNvSpPr/>
          <p:nvPr/>
        </p:nvSpPr>
        <p:spPr>
          <a:xfrm>
            <a:off x="6217920" y="372476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5" name="Shape 103"/>
          <p:cNvSpPr/>
          <p:nvPr/>
        </p:nvSpPr>
        <p:spPr>
          <a:xfrm>
            <a:off x="6583680" y="3695409"/>
            <a:ext cx="365760" cy="11234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6" name="Shape 104"/>
          <p:cNvSpPr/>
          <p:nvPr/>
        </p:nvSpPr>
        <p:spPr>
          <a:xfrm>
            <a:off x="6949440" y="3706643"/>
            <a:ext cx="365760" cy="43319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Shape 105"/>
          <p:cNvSpPr/>
          <p:nvPr/>
        </p:nvSpPr>
        <p:spPr>
          <a:xfrm>
            <a:off x="7315200" y="3749962"/>
            <a:ext cx="365760" cy="42621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8" name="Shape 106"/>
          <p:cNvSpPr/>
          <p:nvPr/>
        </p:nvSpPr>
        <p:spPr>
          <a:xfrm>
            <a:off x="7680960" y="3792584"/>
            <a:ext cx="365760" cy="9668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9" name="Shape 107"/>
          <p:cNvSpPr/>
          <p:nvPr/>
        </p:nvSpPr>
        <p:spPr>
          <a:xfrm>
            <a:off x="8046720" y="380225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Shape 108"/>
          <p:cNvSpPr/>
          <p:nvPr/>
        </p:nvSpPr>
        <p:spPr>
          <a:xfrm>
            <a:off x="7688702" y="15544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1" name="Shape 109"/>
          <p:cNvSpPr/>
          <p:nvPr/>
        </p:nvSpPr>
        <p:spPr>
          <a:xfrm>
            <a:off x="7651891" y="19202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2" name="Shape 110"/>
          <p:cNvSpPr/>
          <p:nvPr/>
        </p:nvSpPr>
        <p:spPr>
          <a:xfrm>
            <a:off x="7628751" y="2286000"/>
            <a:ext cx="1415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3" name="Shape 111"/>
          <p:cNvSpPr/>
          <p:nvPr/>
        </p:nvSpPr>
        <p:spPr>
          <a:xfrm>
            <a:off x="7630166" y="2651760"/>
            <a:ext cx="25304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4" name="Shape 112"/>
          <p:cNvSpPr/>
          <p:nvPr/>
        </p:nvSpPr>
        <p:spPr>
          <a:xfrm>
            <a:off x="7655470" y="3017520"/>
            <a:ext cx="3729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5" name="Shape 113"/>
          <p:cNvSpPr/>
          <p:nvPr/>
        </p:nvSpPr>
        <p:spPr>
          <a:xfrm>
            <a:off x="7692762" y="3383280"/>
            <a:ext cx="31741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6" name="Shape 114"/>
          <p:cNvSpPr/>
          <p:nvPr/>
        </p:nvSpPr>
        <p:spPr>
          <a:xfrm>
            <a:off x="7724504" y="3749040"/>
            <a:ext cx="1126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7" name="Shape 115"/>
          <p:cNvSpPr/>
          <p:nvPr/>
        </p:nvSpPr>
        <p:spPr>
          <a:xfrm>
            <a:off x="7735766" y="41148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8" name="Shape 116"/>
          <p:cNvSpPr/>
          <p:nvPr/>
        </p:nvSpPr>
        <p:spPr>
          <a:xfrm>
            <a:off x="5486400" y="416215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5852160" y="412254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0" name="Shape 118"/>
          <p:cNvSpPr/>
          <p:nvPr/>
        </p:nvSpPr>
        <p:spPr>
          <a:xfrm>
            <a:off x="6217920" y="4077066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6583680" y="4060146"/>
            <a:ext cx="365760" cy="24441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2" name="Shape 120"/>
          <p:cNvSpPr/>
          <p:nvPr/>
        </p:nvSpPr>
        <p:spPr>
          <a:xfrm>
            <a:off x="6949440" y="4084587"/>
            <a:ext cx="365760" cy="47305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Shape 121"/>
          <p:cNvSpPr/>
          <p:nvPr/>
        </p:nvSpPr>
        <p:spPr>
          <a:xfrm>
            <a:off x="7315200" y="4131892"/>
            <a:ext cx="365760" cy="3437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4" name="Shape 122"/>
          <p:cNvSpPr/>
          <p:nvPr/>
        </p:nvSpPr>
        <p:spPr>
          <a:xfrm>
            <a:off x="7680960" y="416626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Shape 123"/>
          <p:cNvSpPr/>
          <p:nvPr/>
        </p:nvSpPr>
        <p:spPr>
          <a:xfrm>
            <a:off x="8046720" y="4161687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6" name="Shape 124"/>
          <p:cNvSpPr/>
          <p:nvPr/>
        </p:nvSpPr>
        <p:spPr>
          <a:xfrm>
            <a:off x="8027475" y="15544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7" name="Shape 125"/>
          <p:cNvSpPr/>
          <p:nvPr/>
        </p:nvSpPr>
        <p:spPr>
          <a:xfrm>
            <a:off x="7998902" y="19202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Shape 126"/>
          <p:cNvSpPr/>
          <p:nvPr/>
        </p:nvSpPr>
        <p:spPr>
          <a:xfrm>
            <a:off x="7992819" y="2286000"/>
            <a:ext cx="19267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9" name="Shape 127"/>
          <p:cNvSpPr/>
          <p:nvPr/>
        </p:nvSpPr>
        <p:spPr>
          <a:xfrm>
            <a:off x="8012086" y="2651760"/>
            <a:ext cx="35556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0" name="Shape 128"/>
          <p:cNvSpPr/>
          <p:nvPr/>
        </p:nvSpPr>
        <p:spPr>
          <a:xfrm>
            <a:off x="8047642" y="3017520"/>
            <a:ext cx="35122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1" name="Shape 129"/>
          <p:cNvSpPr/>
          <p:nvPr/>
        </p:nvSpPr>
        <p:spPr>
          <a:xfrm>
            <a:off x="8082765" y="3383280"/>
            <a:ext cx="1817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2" name="Shape 130"/>
          <p:cNvSpPr/>
          <p:nvPr/>
        </p:nvSpPr>
        <p:spPr>
          <a:xfrm>
            <a:off x="8100935" y="37490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3" name="Shape 131"/>
          <p:cNvSpPr/>
          <p:nvPr/>
        </p:nvSpPr>
        <p:spPr>
          <a:xfrm>
            <a:off x="8093607" y="41148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4" name="Shape 132"/>
          <p:cNvSpPr/>
          <p:nvPr/>
        </p:nvSpPr>
        <p:spPr>
          <a:xfrm>
            <a:off x="5486400" y="4517619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5" name="Shape 133"/>
          <p:cNvSpPr/>
          <p:nvPr/>
        </p:nvSpPr>
        <p:spPr>
          <a:xfrm>
            <a:off x="5852160" y="4471905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6" name="Shape 134"/>
          <p:cNvSpPr/>
          <p:nvPr/>
        </p:nvSpPr>
        <p:spPr>
          <a:xfrm>
            <a:off x="6217920" y="4432742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7" name="Shape 135"/>
          <p:cNvSpPr/>
          <p:nvPr/>
        </p:nvSpPr>
        <p:spPr>
          <a:xfrm>
            <a:off x="6583680" y="4429766"/>
            <a:ext cx="365760" cy="35464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8" name="Shape 136"/>
          <p:cNvSpPr/>
          <p:nvPr/>
        </p:nvSpPr>
        <p:spPr>
          <a:xfrm>
            <a:off x="6949440" y="4465230"/>
            <a:ext cx="365760" cy="47065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9" name="Shape 137"/>
          <p:cNvSpPr/>
          <p:nvPr/>
        </p:nvSpPr>
        <p:spPr>
          <a:xfrm>
            <a:off x="7315200" y="4512296"/>
            <a:ext cx="365760" cy="23049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0" name="Shape 138"/>
          <p:cNvSpPr/>
          <p:nvPr/>
        </p:nvSpPr>
        <p:spPr>
          <a:xfrm>
            <a:off x="7680960" y="4535344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1" name="Shape 139"/>
          <p:cNvSpPr/>
          <p:nvPr/>
        </p:nvSpPr>
        <p:spPr>
          <a:xfrm>
            <a:off x="8046720" y="4516933"/>
            <a:ext cx="365760" cy="0"/>
          </a:xfrm>
          <a:prstGeom prst="line">
            <a:avLst/>
          </a:prstGeom>
          <a:noFill/>
          <a:ln w="762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2" name="Shape 140"/>
          <p:cNvSpPr/>
          <p:nvPr/>
        </p:nvSpPr>
        <p:spPr>
          <a:xfrm>
            <a:off x="8370959" y="155448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3" name="Shape 141"/>
          <p:cNvSpPr/>
          <p:nvPr/>
        </p:nvSpPr>
        <p:spPr>
          <a:xfrm>
            <a:off x="8357620" y="1920240"/>
            <a:ext cx="12463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4" name="Shape 142"/>
          <p:cNvSpPr/>
          <p:nvPr/>
        </p:nvSpPr>
        <p:spPr>
          <a:xfrm>
            <a:off x="8370083" y="2286000"/>
            <a:ext cx="32403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5" name="Shape 143"/>
          <p:cNvSpPr/>
          <p:nvPr/>
        </p:nvSpPr>
        <p:spPr>
          <a:xfrm>
            <a:off x="8402486" y="2651760"/>
            <a:ext cx="37103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" name="Shape 144"/>
          <p:cNvSpPr/>
          <p:nvPr/>
        </p:nvSpPr>
        <p:spPr>
          <a:xfrm>
            <a:off x="8439589" y="3017520"/>
            <a:ext cx="24353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7" name="Shape 145"/>
          <p:cNvSpPr/>
          <p:nvPr/>
        </p:nvSpPr>
        <p:spPr>
          <a:xfrm>
            <a:off x="8463942" y="3383280"/>
            <a:ext cx="15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" name="Shape 146"/>
          <p:cNvSpPr/>
          <p:nvPr/>
        </p:nvSpPr>
        <p:spPr>
          <a:xfrm>
            <a:off x="8464092" y="374904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9" name="Shape 147"/>
          <p:cNvSpPr/>
          <p:nvPr/>
        </p:nvSpPr>
        <p:spPr>
          <a:xfrm>
            <a:off x="8439968" y="4114800"/>
            <a:ext cx="0" cy="365760"/>
          </a:xfrm>
          <a:prstGeom prst="line">
            <a:avLst/>
          </a:prstGeom>
          <a:noFill/>
          <a:ln w="762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" name="Text 148"/>
          <p:cNvSpPr/>
          <p:nvPr/>
        </p:nvSpPr>
        <p:spPr>
          <a:xfrm>
            <a:off x="5303520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warp of a regular grid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2" name="Text 150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TRICK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cross-entropy: separating touching cells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943600" cy="9601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=  Σ  w(x) · log p_ℓ(x)(x)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w(x) = w_c(x)  +  w_0 · exp( − (d₁(x) + d₂(x))² / 2σ² )    with w_0 = 10, σ ≈ 5 px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926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73152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w_c(x)  —  class balance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the long-tail of foreground vs background pixels.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697480"/>
            <a:ext cx="2926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3474720" y="2697480"/>
            <a:ext cx="73152" cy="1783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exp(·) term  —  cell borders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Up-weight the thin background strip between touching cells — d₁, d₂ are distances to the two nearest cells.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1920240" cy="30632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777240" cy="777240"/>
          </a:xfrm>
          <a:prstGeom prst="ellipse">
            <a:avLst/>
          </a:prstGeom>
          <a:solidFill>
            <a:srgbClr val="63A4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7680960" y="2194560"/>
            <a:ext cx="777240" cy="777240"/>
          </a:xfrm>
          <a:prstGeom prst="ellipse">
            <a:avLst/>
          </a:prstGeom>
          <a:solidFill>
            <a:srgbClr val="63A4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7699248" y="2103120"/>
            <a:ext cx="0" cy="96012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81228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high-weight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border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794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net to learn the boundary, not just the mass.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they actually trained a 23-layer net on 30 images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 implementation, single-image batches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483864" y="1554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83864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3864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Compensates batch size = 1 (heavy history)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345936" y="1554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45936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  σ = √(2 / 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fan-in; keeps activations at unit variance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21792" y="3063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CE  +  pixel-wise w(x)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+ boundary up-weighting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9272" y="29260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3319272" y="292608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3483864" y="3063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83864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+ shift + rot. + gray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83864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dropout at the encoder tail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81344" y="29260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6181344" y="2926080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6345936" y="3063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45936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 NVidia Titan (6 GB)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5936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hours total training time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challenges, one architecture — and it won them all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417320"/>
            <a:ext cx="2926080" cy="3017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3"/>
          <p:cNvSpPr/>
          <p:nvPr/>
        </p:nvSpPr>
        <p:spPr>
          <a:xfrm>
            <a:off x="5760720" y="1417320"/>
            <a:ext cx="73152" cy="3017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4"/>
          <p:cNvSpPr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ISBI EM segmentation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(Drosophila VNC, electron microscopy)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Warping error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0.000353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Ciresan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&lt; 1 s for a 512 × 512 image on a 2015 GPU.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0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reasons U-Net 'just works' — and keeps working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U-shape is the right inductive bias for ANY image-to-image task: input and output share spatial coordinates.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20824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0292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03911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give the optimizer four short gradient paths — training is feasible even with tens of images.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0292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4261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depth–width recipe (double channels per downsample) creates a balanced bottleneck: enough capacity for global context without exploding parameters.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029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Loss-level engineering (weighted CE) is decoupled from the architecture — the network is a backbone, not a recipe.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831336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0292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84962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small (~18M params), fast (sub-second per 512² image), and trainable on a single GPU — perfect for low-data, high-stakes domains.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2015 →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of the most-cited papers in all of deep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017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017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(Google Scholar, 2025)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118 000+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top-cited papers in deep learning — and the single most-cited paper in biomedical image analysis.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≈ 30 new citations per day in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U-Net lives today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(CT, MRI, histopath., X-ray)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0848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754880" y="2084832"/>
            <a:ext cx="3813962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&amp; satellite segmentation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5420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754880" y="2542032"/>
            <a:ext cx="3145536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754880" y="27889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Image-to-image translation (pix2pix, CycleGAN)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992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294894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4754880" y="3246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(DDPM, Stable Diffusion, Imagen)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4564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4754880" y="3456432"/>
            <a:ext cx="3617366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754880" y="3703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speech enhancement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9136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4754880" y="3913632"/>
            <a:ext cx="2162556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4754880" y="4160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simulation (weather, fluids)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3708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4754880" y="4370832"/>
            <a:ext cx="2359152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became the workhorse of generative diffusion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DDPM, Imagen, Stable Diffusion 1/2, ControlNet, video diffusion (AnimateDiff, SVD)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a U-Net as the noise-prediction (score) network — exactly the 2015 architecture, with a few additions: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Time-step embedding (sinusoidal MLP) injected into every residual block.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to text/condition inside encoder &amp; decoder blocks.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Group-norm + SiLU + residual blocks instead of plain conv+ReLU.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unchanged — they still carry the 'where' to the decoder.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1463040"/>
            <a:ext cx="2743200" cy="237744"/>
          </a:xfrm>
          <a:prstGeom prst="rect">
            <a:avLst/>
          </a:prstGeom>
          <a:solidFill>
            <a:srgbClr val="63A4FF"/>
          </a:solidFill>
          <a:ln w="889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5577840" y="1481328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57784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89320" y="1792224"/>
            <a:ext cx="2286000" cy="237744"/>
          </a:xfrm>
          <a:prstGeom prst="rect">
            <a:avLst/>
          </a:prstGeom>
          <a:solidFill>
            <a:srgbClr val="63A4FF"/>
          </a:solidFill>
          <a:ln w="889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806440" y="1810512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5806440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2121408"/>
            <a:ext cx="1828800" cy="237744"/>
          </a:xfrm>
          <a:prstGeom prst="rect">
            <a:avLst/>
          </a:prstGeom>
          <a:solidFill>
            <a:srgbClr val="63A4FF"/>
          </a:solidFill>
          <a:ln w="889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6035040" y="2139696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035040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2450592"/>
            <a:ext cx="1371600" cy="237744"/>
          </a:xfrm>
          <a:prstGeom prst="rect">
            <a:avLst/>
          </a:prstGeom>
          <a:solidFill>
            <a:srgbClr val="63A4FF"/>
          </a:solidFill>
          <a:ln w="889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263640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2779776"/>
            <a:ext cx="1371600" cy="237744"/>
          </a:xfrm>
          <a:prstGeom prst="rect">
            <a:avLst/>
          </a:prstGeom>
          <a:solidFill>
            <a:srgbClr val="FFD3C0"/>
          </a:solidFill>
          <a:ln w="889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1828800" cy="237744"/>
          </a:xfrm>
          <a:prstGeom prst="rect">
            <a:avLst/>
          </a:prstGeom>
          <a:solidFill>
            <a:srgbClr val="FFD3C0"/>
          </a:solidFill>
          <a:ln w="889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5989320" y="3438144"/>
            <a:ext cx="2286000" cy="237744"/>
          </a:xfrm>
          <a:prstGeom prst="rect">
            <a:avLst/>
          </a:prstGeom>
          <a:solidFill>
            <a:srgbClr val="FFD3C0"/>
          </a:solidFill>
          <a:ln w="889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5760720" y="3767328"/>
            <a:ext cx="2743200" cy="237744"/>
          </a:xfrm>
          <a:prstGeom prst="rect">
            <a:avLst/>
          </a:prstGeom>
          <a:solidFill>
            <a:srgbClr val="FFD3C0"/>
          </a:solidFill>
          <a:ln w="889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530352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96128" y="2615184"/>
            <a:ext cx="201168" cy="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5669280" y="41422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U-Net  ε_θ(x_t, t, c)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— 2024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nnU-Net Revisited (MICCAI 2024): U-Net is still SOTA when properly scaled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017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017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 et al. — MICCAI 2024 (arXiv 2404.09556)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call for rigorous validation in 3D medical image segmentation"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auditing dozens of 'novel' architectures, the recipe for SOTA in 3D medical segmentation in 2024 is:
</a:t>
            </a: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CNN-based U-Net (ResNet- or ConvNeXt-style).
</a:t>
            </a: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nnU-Net auto-configuration framework.
</a:t>
            </a: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modern compute (bigger models, more GPU memory).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73152" cy="3017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(Swin-UNETR, nnFormer) and Mamba variants do </a:t>
            </a: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beat a properly-scaled CNN U-Net on rigorous 3D benchmarks.
Apparent improvements often came from 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baselines, insufficient datasets, or compute mismatches.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on, the 2015 architecture — at modern scale — is hard to beat in dense biomedical prediction.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— 2024–2026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U-Net families: Trans-UNet, Mamba-UNet, KAN-UNet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Trans-UNet &amp; Swin-UNet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(Chen 2021 → 2024 variants)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bottleneck (or full encoder) with vision transformers — global attention complements local conv detail. Strong on multi-organ 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73152" cy="1371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Mamba-UNet family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VM-UNet, Mamba-UNet, U-Mamba, KM-UNet (2024–2025)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64608" y="20116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conv/attention with structured state-space models (SSMs). Linear-time long-range modeling at high resolution — promising on ISIC, Synapse, polyp.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Diffusion-UNet hybrids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DPUSegDiff, MedSegDiff, Diffusion-CSPAM (2024–2025)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5204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segmentation mask as something to be denoised — the U-Net both segments and refines via reverse-diffusion steps.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KAN-UNet &amp; efficiency variants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Kolmogorov–Arnold networks, xLSTM-UNet (2025)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35204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MLP blocks with learnable activation functions (KANs) or recurrent gates — smaller, more interpretable, similar accuracy.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— 2025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meets foundation models: nnSAM and Medical SAM3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1168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/ SAM3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ViT-H,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billion-scale prompts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20116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063240" y="1627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nnU-Net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auto-configured,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domain-trained CNN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697480"/>
            <a:ext cx="0" cy="411480"/>
          </a:xfrm>
          <a:prstGeom prst="line">
            <a:avLst/>
          </a:prstGeom>
          <a:noFill/>
          <a:ln w="25400">
            <a:solidFill>
              <a:srgbClr val="0B1E3F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1371600" y="3154680"/>
            <a:ext cx="3108960" cy="11887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nnSAM  ·  Medical SAM3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(SAM) + specialization (U-Net).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Few-shot, multi-site, text-promptable.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combination wins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provides modality-agnostic edge / mass cues; nnU-Net contributes the domain-specific decoder.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Plug-and-play: SAM features are inserted into the U-Net's encoder skip stream.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gains are largest in low-data regimes (the original U-Net's home turf).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SAM3 (2025) extends to text-guided, 2D/3D, multi-organ — keeping a U-Net decoder for precise masks.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 · Ronneberger, Fischer, Brox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· TAKEAWAYS · 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years on — what to remember, where it's heading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73152" cy="3017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U-shape is the right inductive bias for image-to-image learning.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are 90% of the magic.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data engineering matter as much as the backbone.</a:t>
            </a:r>
            <a:endParaRPr lang="en-US" sz="1100" dirty="0"/>
          </a:p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 nets win when data is scarce.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73152" cy="3017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338328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783080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MMDiT-style Transformers replace U-Nets in video / large-image generation?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SSM-based U-Nets (Mamba) scale to ultra-high-resolution medical volumes?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combine the generalization of SAM/foundation models with the precision of nnU-Net?</a:t>
            </a:r>
            <a:endParaRPr lang="en-US" sz="1100" dirty="0"/>
          </a:p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'U-Net' for non-image data — graphs, sequences, point clouds?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73152" cy="3017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606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 et al., U-Net,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2015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(arXiv:1505.04597)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 et al., nnU-Net Revisited,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2024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(arXiv:2404.09556)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Peebles &amp; Xie, Scalable Diffusion Models with Transformers (DiT),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2023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 et al., VM-UNet,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(arXiv:2402.02491)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nnSAM,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Physics 2025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et al., U-Nets as Belief Propagation,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(arXiv:2404.18444)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Wiley/Springer comprehensive U-Net reviews,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73152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28600" y="4919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· DL Teaching · GSU ·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2744</Words>
  <Application>Microsoft Macintosh PowerPoint</Application>
  <PresentationFormat>On-screen Show (16:9)</PresentationFormat>
  <Paragraphs>372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U-Net: Convolutional Networks for Biomedical Image Segmentation</dc:title>
  <dc:subject>DL/RL teaching deck — U-Net 2015 + 2024–2026 advances</dc:subject>
  <dc:creator>Andy Li (GSU Teaching)</dc:creator>
  <cp:lastModifiedBy>Xiaolin Andy Li</cp:lastModifiedBy>
  <cp:revision>3</cp:revision>
  <dcterms:created xsi:type="dcterms:W3CDTF">2026-05-27T15:18:52Z</dcterms:created>
  <dcterms:modified xsi:type="dcterms:W3CDTF">2026-05-28T00:54:33Z</dcterms:modified>
</cp:coreProperties>
</file>