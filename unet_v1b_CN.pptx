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4" d="100"/>
          <a:sy n="164" d="100"/>
        </p:scale>
        <p:origin x="56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0" i="0" u="none" strike="noStrike">
                <a:solidFill>
                  <a:srgbClr val="0B1E3F"/>
                </a:solidFill>
                <a:latin typeface="Georgia"/>
              </a:defRPr>
            </a:pPr>
            <a:r>
              <a:rPr sz="1200" b="0" i="0" u="none" strike="noStrike">
                <a:solidFill>
                  <a:srgbClr val="0B1E3F"/>
                </a:solidFill>
                <a:latin typeface="Georgia"/>
              </a:rPr>
              <a:t>ISBI Cell Tracking Challenge 2015 — IoU (higher is better)</a:t>
            </a:r>
          </a:p>
        </c:rich>
      </c:tx>
      <c:overlay val="0"/>
    </c:title>
    <c:autoTitleDeleted val="0"/>
    <c:plotArea>
      <c:layout/>
      <c:barChart>
        <c:barDir val="col"/>
        <c:grouping val="clustered"/>
        <c:varyColors val="0"/>
        <c:ser>
          <c:idx val="0"/>
          <c:order val="0"/>
          <c:tx>
            <c:strRef>
              <c:f>Sheet1!$B$1</c:f>
              <c:strCache>
                <c:ptCount val="1"/>
                <c:pt idx="0">
                  <c:v>U-Net</c:v>
                </c:pt>
              </c:strCache>
            </c:strRef>
          </c:tx>
          <c:spPr>
            <a:solidFill>
              <a:srgbClr val="FF6B35"/>
            </a:solidFill>
            <a:effectLst/>
          </c:spPr>
          <c:invertIfNegative val="0"/>
          <c:cat>
            <c:strRef>
              <c:f>Sheet1!$A$2:$A$3</c:f>
              <c:strCache>
                <c:ptCount val="2"/>
                <c:pt idx="0">
                  <c:v>PhC-U373</c:v>
                </c:pt>
                <c:pt idx="1">
                  <c:v>DIC-HeLa</c:v>
                </c:pt>
              </c:strCache>
            </c:strRef>
          </c:cat>
          <c:val>
            <c:numRef>
              <c:f>Sheet1!$B$2:$B$3</c:f>
              <c:numCache>
                <c:formatCode>General</c:formatCode>
                <c:ptCount val="2"/>
                <c:pt idx="0">
                  <c:v>0.92030000000000001</c:v>
                </c:pt>
                <c:pt idx="1">
                  <c:v>0.77559999999999996</c:v>
                </c:pt>
              </c:numCache>
            </c:numRef>
          </c:val>
          <c:extLst>
            <c:ext xmlns:c16="http://schemas.microsoft.com/office/drawing/2014/chart" uri="{C3380CC4-5D6E-409C-BE32-E72D297353CC}">
              <c16:uniqueId val="{00000000-E034-1847-994D-5EDDDD8B043B}"/>
            </c:ext>
          </c:extLst>
        </c:ser>
        <c:ser>
          <c:idx val="1"/>
          <c:order val="1"/>
          <c:tx>
            <c:strRef>
              <c:f>Sheet1!$C$1</c:f>
              <c:strCache>
                <c:ptCount val="1"/>
                <c:pt idx="0">
                  <c:v>Second best</c:v>
                </c:pt>
              </c:strCache>
            </c:strRef>
          </c:tx>
          <c:spPr>
            <a:solidFill>
              <a:srgbClr val="1565C0"/>
            </a:solidFill>
            <a:effectLst/>
          </c:spPr>
          <c:invertIfNegative val="0"/>
          <c:cat>
            <c:strRef>
              <c:f>Sheet1!$A$2:$A$3</c:f>
              <c:strCache>
                <c:ptCount val="2"/>
                <c:pt idx="0">
                  <c:v>PhC-U373</c:v>
                </c:pt>
                <c:pt idx="1">
                  <c:v>DIC-HeLa</c:v>
                </c:pt>
              </c:strCache>
            </c:strRef>
          </c:cat>
          <c:val>
            <c:numRef>
              <c:f>Sheet1!$C$2:$C$3</c:f>
              <c:numCache>
                <c:formatCode>General</c:formatCode>
                <c:ptCount val="2"/>
                <c:pt idx="0">
                  <c:v>0.83</c:v>
                </c:pt>
                <c:pt idx="1">
                  <c:v>0.46</c:v>
                </c:pt>
              </c:numCache>
            </c:numRef>
          </c:val>
          <c:extLst>
            <c:ext xmlns:c16="http://schemas.microsoft.com/office/drawing/2014/chart" uri="{C3380CC4-5D6E-409C-BE32-E72D297353CC}">
              <c16:uniqueId val="{00000001-E034-1847-994D-5EDDDD8B043B}"/>
            </c:ext>
          </c:extLst>
        </c:ser>
        <c:ser>
          <c:idx val="2"/>
          <c:order val="2"/>
          <c:tx>
            <c:strRef>
              <c:f>Sheet1!$D$1</c:f>
              <c:strCache>
                <c:ptCount val="1"/>
                <c:pt idx="0">
                  <c:v>KTH-SE (2014)</c:v>
                </c:pt>
              </c:strCache>
            </c:strRef>
          </c:tx>
          <c:spPr>
            <a:solidFill>
              <a:srgbClr val="94A3B8"/>
            </a:solidFill>
            <a:effectLst/>
          </c:spPr>
          <c:invertIfNegative val="0"/>
          <c:cat>
            <c:strRef>
              <c:f>Sheet1!$A$2:$A$3</c:f>
              <c:strCache>
                <c:ptCount val="2"/>
                <c:pt idx="0">
                  <c:v>PhC-U373</c:v>
                </c:pt>
                <c:pt idx="1">
                  <c:v>DIC-HeLa</c:v>
                </c:pt>
              </c:strCache>
            </c:strRef>
          </c:cat>
          <c:val>
            <c:numRef>
              <c:f>Sheet1!$D$2:$D$3</c:f>
              <c:numCache>
                <c:formatCode>General</c:formatCode>
                <c:ptCount val="2"/>
                <c:pt idx="0">
                  <c:v>0.79530000000000001</c:v>
                </c:pt>
                <c:pt idx="1">
                  <c:v>0.4607</c:v>
                </c:pt>
              </c:numCache>
            </c:numRef>
          </c:val>
          <c:extLst>
            <c:ext xmlns:c16="http://schemas.microsoft.com/office/drawing/2014/chart" uri="{C3380CC4-5D6E-409C-BE32-E72D297353CC}">
              <c16:uniqueId val="{00000002-E034-1847-994D-5EDDDD8B043B}"/>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75569"/>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4894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6949440" y="1280160"/>
            <a:ext cx="292608" cy="2743200"/>
          </a:xfrm>
          <a:prstGeom prst="rect">
            <a:avLst/>
          </a:prstGeom>
          <a:solidFill>
            <a:srgbClr val="1565C0"/>
          </a:solidFill>
          <a:ln w="12700">
            <a:solidFill>
              <a:srgbClr val="1565C0"/>
            </a:solidFill>
            <a:prstDash val="solid"/>
          </a:ln>
        </p:spPr>
        <p:txBody>
          <a:bodyPr/>
          <a:lstStyle/>
          <a:p>
            <a:endParaRPr lang="en-CN"/>
          </a:p>
        </p:txBody>
      </p:sp>
      <p:sp>
        <p:nvSpPr>
          <p:cNvPr id="3" name="Shape 1"/>
          <p:cNvSpPr/>
          <p:nvPr/>
        </p:nvSpPr>
        <p:spPr>
          <a:xfrm>
            <a:off x="8394192" y="1280160"/>
            <a:ext cx="292608" cy="2743200"/>
          </a:xfrm>
          <a:prstGeom prst="rect">
            <a:avLst/>
          </a:prstGeom>
          <a:solidFill>
            <a:srgbClr val="1565C0"/>
          </a:solidFill>
          <a:ln w="12700">
            <a:solidFill>
              <a:srgbClr val="1565C0"/>
            </a:solidFill>
            <a:prstDash val="solid"/>
          </a:ln>
        </p:spPr>
        <p:txBody>
          <a:bodyPr/>
          <a:lstStyle/>
          <a:p>
            <a:endParaRPr lang="en-CN"/>
          </a:p>
        </p:txBody>
      </p:sp>
      <p:sp>
        <p:nvSpPr>
          <p:cNvPr id="4" name="Shape 2"/>
          <p:cNvSpPr/>
          <p:nvPr/>
        </p:nvSpPr>
        <p:spPr>
          <a:xfrm>
            <a:off x="6949440" y="3730752"/>
            <a:ext cx="1737360" cy="292608"/>
          </a:xfrm>
          <a:prstGeom prst="rect">
            <a:avLst/>
          </a:prstGeom>
          <a:solidFill>
            <a:srgbClr val="1565C0"/>
          </a:solidFill>
          <a:ln w="12700">
            <a:solidFill>
              <a:srgbClr val="1565C0"/>
            </a:solidFill>
            <a:prstDash val="solid"/>
          </a:ln>
        </p:spPr>
        <p:txBody>
          <a:bodyPr/>
          <a:lstStyle/>
          <a:p>
            <a:endParaRPr lang="en-CN"/>
          </a:p>
        </p:txBody>
      </p:sp>
      <p:sp>
        <p:nvSpPr>
          <p:cNvPr id="5" name="Shape 3"/>
          <p:cNvSpPr/>
          <p:nvPr/>
        </p:nvSpPr>
        <p:spPr>
          <a:xfrm>
            <a:off x="7287768" y="1645920"/>
            <a:ext cx="1060704" cy="54864"/>
          </a:xfrm>
          <a:prstGeom prst="rect">
            <a:avLst/>
          </a:prstGeom>
          <a:solidFill>
            <a:srgbClr val="FF6B35"/>
          </a:solidFill>
          <a:ln w="12700">
            <a:solidFill>
              <a:srgbClr val="FF6B35"/>
            </a:solidFill>
            <a:prstDash val="solid"/>
          </a:ln>
        </p:spPr>
        <p:txBody>
          <a:bodyPr/>
          <a:lstStyle/>
          <a:p>
            <a:endParaRPr lang="en-CN"/>
          </a:p>
        </p:txBody>
      </p:sp>
      <p:sp>
        <p:nvSpPr>
          <p:cNvPr id="6" name="Shape 4"/>
          <p:cNvSpPr/>
          <p:nvPr/>
        </p:nvSpPr>
        <p:spPr>
          <a:xfrm>
            <a:off x="7287768" y="2286000"/>
            <a:ext cx="1060704" cy="54864"/>
          </a:xfrm>
          <a:prstGeom prst="rect">
            <a:avLst/>
          </a:prstGeom>
          <a:solidFill>
            <a:srgbClr val="FF6B35"/>
          </a:solidFill>
          <a:ln w="12700">
            <a:solidFill>
              <a:srgbClr val="FF6B35"/>
            </a:solidFill>
            <a:prstDash val="solid"/>
          </a:ln>
        </p:spPr>
        <p:txBody>
          <a:bodyPr/>
          <a:lstStyle/>
          <a:p>
            <a:endParaRPr lang="en-CN"/>
          </a:p>
        </p:txBody>
      </p:sp>
      <p:sp>
        <p:nvSpPr>
          <p:cNvPr id="7" name="Shape 5"/>
          <p:cNvSpPr/>
          <p:nvPr/>
        </p:nvSpPr>
        <p:spPr>
          <a:xfrm>
            <a:off x="7287768" y="2926080"/>
            <a:ext cx="1060704" cy="54864"/>
          </a:xfrm>
          <a:prstGeom prst="rect">
            <a:avLst/>
          </a:prstGeom>
          <a:solidFill>
            <a:srgbClr val="FF6B35"/>
          </a:solidFill>
          <a:ln w="12700">
            <a:solidFill>
              <a:srgbClr val="FF6B35"/>
            </a:solidFill>
            <a:prstDash val="solid"/>
          </a:ln>
        </p:spPr>
        <p:txBody>
          <a:bodyPr/>
          <a:lstStyle/>
          <a:p>
            <a:endParaRPr lang="en-CN"/>
          </a:p>
        </p:txBody>
      </p:sp>
      <p:sp>
        <p:nvSpPr>
          <p:cNvPr id="8" name="Text 6"/>
          <p:cNvSpPr/>
          <p:nvPr/>
        </p:nvSpPr>
        <p:spPr>
          <a:xfrm>
            <a:off x="548640" y="914400"/>
            <a:ext cx="5943600" cy="1097280"/>
          </a:xfrm>
          <a:prstGeom prst="rect">
            <a:avLst/>
          </a:prstGeom>
          <a:noFill/>
          <a:ln/>
        </p:spPr>
        <p:txBody>
          <a:bodyPr wrap="square" lIns="0" tIns="0" rIns="0" bIns="0" rtlCol="0" anchor="ctr"/>
          <a:lstStyle/>
          <a:p>
            <a:pPr marL="0" indent="0">
              <a:buNone/>
            </a:pPr>
            <a:r>
              <a:rPr lang="en-US" sz="8400" b="1" kern="0" spc="800" dirty="0">
                <a:solidFill>
                  <a:srgbClr val="FFFFFF"/>
                </a:solidFill>
                <a:latin typeface="Georgia" pitchFamily="34" charset="0"/>
                <a:ea typeface="Georgia" pitchFamily="34" charset="-122"/>
                <a:cs typeface="Georgia" pitchFamily="34" charset="-120"/>
              </a:rPr>
              <a:t>U-NET</a:t>
            </a:r>
            <a:endParaRPr lang="en-US" sz="8400" dirty="0"/>
          </a:p>
        </p:txBody>
      </p:sp>
      <p:sp>
        <p:nvSpPr>
          <p:cNvPr id="9" name="Text 7"/>
          <p:cNvSpPr/>
          <p:nvPr/>
        </p:nvSpPr>
        <p:spPr>
          <a:xfrm>
            <a:off x="548640" y="2011680"/>
            <a:ext cx="6217920" cy="548640"/>
          </a:xfrm>
          <a:prstGeom prst="rect">
            <a:avLst/>
          </a:prstGeom>
          <a:noFill/>
          <a:ln/>
        </p:spPr>
        <p:txBody>
          <a:bodyPr wrap="square" lIns="0" tIns="0" rIns="0" bIns="0" rtlCol="0" anchor="ctr"/>
          <a:lstStyle/>
          <a:p>
            <a:pPr marL="0" indent="0">
              <a:buNone/>
            </a:pPr>
            <a:r>
              <a:rPr lang="en-US" sz="2000" i="1" dirty="0">
                <a:solidFill>
                  <a:srgbClr val="63A4FF"/>
                </a:solidFill>
                <a:latin typeface="Georgia" pitchFamily="34" charset="0"/>
                <a:ea typeface="Georgia" pitchFamily="34" charset="-122"/>
                <a:cs typeface="Georgia" pitchFamily="34" charset="-120"/>
              </a:rPr>
              <a:t>用于生物医学图像分割的卷积网络</a:t>
            </a:r>
            <a:endParaRPr lang="en-US" sz="2000" dirty="0"/>
          </a:p>
        </p:txBody>
      </p:sp>
      <p:sp>
        <p:nvSpPr>
          <p:cNvPr id="10" name="Text 8"/>
          <p:cNvSpPr/>
          <p:nvPr/>
        </p:nvSpPr>
        <p:spPr>
          <a:xfrm>
            <a:off x="548640" y="2697480"/>
            <a:ext cx="6217920" cy="274320"/>
          </a:xfrm>
          <a:prstGeom prst="rect">
            <a:avLst/>
          </a:prstGeom>
          <a:noFill/>
          <a:ln/>
        </p:spPr>
        <p:txBody>
          <a:bodyPr wrap="square" lIns="0" tIns="0" rIns="0" bIns="0" rtlCol="0" anchor="ctr"/>
          <a:lstStyle/>
          <a:p>
            <a:pPr marL="0" indent="0">
              <a:buNone/>
            </a:pPr>
            <a:r>
              <a:rPr lang="en-US" sz="1300" dirty="0">
                <a:solidFill>
                  <a:srgbClr val="EAF2FB"/>
                </a:solidFill>
                <a:latin typeface="Calibri" pitchFamily="34" charset="0"/>
                <a:ea typeface="Calibri" pitchFamily="34" charset="-122"/>
                <a:cs typeface="Calibri" pitchFamily="34" charset="-120"/>
              </a:rPr>
              <a:t>Olaf Ronneberger - Philipp Fischer - Thomas Brox</a:t>
            </a:r>
            <a:endParaRPr lang="en-US" sz="1300" dirty="0"/>
          </a:p>
        </p:txBody>
      </p:sp>
      <p:sp>
        <p:nvSpPr>
          <p:cNvPr id="11" name="Text 9"/>
          <p:cNvSpPr/>
          <p:nvPr/>
        </p:nvSpPr>
        <p:spPr>
          <a:xfrm>
            <a:off x="548640" y="2944368"/>
            <a:ext cx="6217920" cy="274320"/>
          </a:xfrm>
          <a:prstGeom prst="rect">
            <a:avLst/>
          </a:prstGeom>
          <a:noFill/>
          <a:ln/>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弗莱堡大学 - MICCAI 2015 - arXiv:1505.04597</a:t>
            </a:r>
            <a:endParaRPr lang="en-US" sz="1100" dirty="0"/>
          </a:p>
        </p:txBody>
      </p:sp>
      <p:sp>
        <p:nvSpPr>
          <p:cNvPr id="12" name="Shape 10"/>
          <p:cNvSpPr/>
          <p:nvPr/>
        </p:nvSpPr>
        <p:spPr>
          <a:xfrm>
            <a:off x="548640" y="3611880"/>
            <a:ext cx="54864" cy="594360"/>
          </a:xfrm>
          <a:prstGeom prst="rect">
            <a:avLst/>
          </a:prstGeom>
          <a:solidFill>
            <a:srgbClr val="FF6B35"/>
          </a:solidFill>
          <a:ln w="12700">
            <a:solidFill>
              <a:srgbClr val="FF6B35"/>
            </a:solidFill>
            <a:prstDash val="solid"/>
          </a:ln>
        </p:spPr>
        <p:txBody>
          <a:bodyPr/>
          <a:lstStyle/>
          <a:p>
            <a:endParaRPr lang="en-CN"/>
          </a:p>
        </p:txBody>
      </p:sp>
      <p:sp>
        <p:nvSpPr>
          <p:cNvPr id="13" name="Text 11"/>
          <p:cNvSpPr/>
          <p:nvPr/>
        </p:nvSpPr>
        <p:spPr>
          <a:xfrm>
            <a:off x="713232" y="3611880"/>
            <a:ext cx="594360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十年回顾：
概念 - 推理 - 设计选择</a:t>
            </a:r>
            <a:r>
              <a:rPr lang="en-US" sz="1200" i="1" dirty="0">
                <a:solidFill>
                  <a:srgbClr val="EAF2FB"/>
                </a:solidFill>
                <a:latin typeface="Calibri" pitchFamily="34" charset="0"/>
                <a:ea typeface="Calibri" pitchFamily="34" charset="-122"/>
                <a:cs typeface="Calibri" pitchFamily="34" charset="-120"/>
              </a:rPr>
              <a:t/>
            </a:r>
            <a:r>
              <a:rPr lang="en-US" sz="1200" i="1">
                <a:solidFill>
                  <a:srgbClr val="EAF2FB"/>
                </a:solidFill>
                <a:latin typeface="Calibri" pitchFamily="34" charset="0"/>
                <a:ea typeface="Calibri" pitchFamily="34" charset="-122"/>
                <a:cs typeface="Calibri" pitchFamily="34" charset="-120"/>
              </a:rPr>
              <a:t/>
            </a:r>
            <a:endParaRPr lang="en-US" sz="1400" dirty="0"/>
          </a:p>
        </p:txBody>
      </p:sp>
      <p:sp>
        <p:nvSpPr>
          <p:cNvPr id="14" name="Text 12"/>
          <p:cNvSpPr/>
          <p:nvPr/>
        </p:nvSpPr>
        <p:spPr>
          <a:xfrm>
            <a:off x="548640" y="4736592"/>
            <a:ext cx="365760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深度学习教学 - GSU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研究动机</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为什么像素级预测很难——以及为什么它很重要</a:t>
            </a:r>
            <a:endParaRPr lang="en-US" sz="2400" dirty="0"/>
          </a:p>
        </p:txBody>
      </p:sp>
      <p:sp>
        <p:nvSpPr>
          <p:cNvPr id="4" name="Text 2"/>
          <p:cNvSpPr/>
          <p:nvPr/>
        </p:nvSpPr>
        <p:spPr>
          <a:xfrm>
            <a:off x="457200" y="1417320"/>
            <a:ext cx="5120640" cy="301752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分类问的是什么？  -  分割问的是什么+在哪里，逐像素回答。
生物医学图像打破了ImageNet时代CNN的每个假设：</a:t>
            </a:r>
            <a:r>
              <a:rPr lang="en-US" sz="1400" b="1" dirty="0">
                <a:solidFill>
                  <a:srgbClr val="0B1E3F"/>
                </a:solidFill>
                <a:latin typeface="Calibri" pitchFamily="34" charset="0"/>
                <a:ea typeface="Calibri" pitchFamily="34" charset="-122"/>
                <a:cs typeface="Calibri" pitchFamily="34" charset="-120"/>
              </a:rPr>
              <a:t/>
            </a:r>
            <a:r>
              <a:rPr lang="en-US" sz="1400" dirty="0">
                <a:solidFill>
                  <a:srgbClr val="475569"/>
                </a:solidFill>
                <a:latin typeface="Calibri" pitchFamily="34" charset="0"/>
                <a:ea typeface="Calibri" pitchFamily="34" charset="-122"/>
                <a:cs typeface="Calibri" pitchFamily="34" charset="-120"/>
              </a:rPr>
              <a:t/>
            </a:r>
            <a:r>
              <a:rPr lang="en-US" sz="1400" b="1" dirty="0">
                <a:solidFill>
                  <a:srgbClr val="0B1E3F"/>
                </a:solidFill>
                <a:latin typeface="Calibri" pitchFamily="34" charset="0"/>
                <a:ea typeface="Calibri" pitchFamily="34" charset="-122"/>
                <a:cs typeface="Calibri" pitchFamily="34" charset="-120"/>
              </a:rPr>
              <a:t/>
            </a:r>
            <a:r>
              <a:rPr lang="en-US" sz="1400" dirty="0">
                <a:solidFill>
                  <a:srgbClr val="000000"/>
                </a:solidFill>
                <a:latin typeface="Calibri" pitchFamily="34" charset="0"/>
                <a:ea typeface="Calibri" pitchFamily="34" charset="-122"/>
                <a:cs typeface="Calibri" pitchFamily="34" charset="-120"/>
              </a:rPr>
              <a:t/>
            </a:r>
            <a:r>
              <a:rPr lang="en-US" sz="1400" dirty="0">
                <a:solidFill>
                  <a:srgbClr val="475569"/>
                </a:solidFill>
                <a:latin typeface="Calibri" pitchFamily="34" charset="0"/>
                <a:ea typeface="Calibri" pitchFamily="34" charset="-122"/>
                <a:cs typeface="Calibri" pitchFamily="34" charset="-120"/>
              </a:rPr>
              <a:t/>
            </a:r>
            <a:endParaRPr lang="en-US" sz="1400" dirty="0"/>
          </a:p>
          <a:p>
            <a:pPr marL="342900" indent="-342900">
              <a:spcAft>
                <a:spcPts val="400"/>
              </a:spcAft>
              <a:buSzPct val="100000"/>
              <a:buChar char="■"/>
            </a:pPr>
            <a:r>
              <a:rPr lang="en-US" sz="1400" dirty="0">
                <a:solidFill>
                  <a:srgbClr val="475569"/>
                </a:solidFill>
                <a:latin typeface="Calibri" pitchFamily="34" charset="0"/>
                <a:ea typeface="Calibri" pitchFamily="34" charset="-122"/>
                <a:cs typeface="Calibri" pitchFamily="34" charset="-120"/>
              </a:rPr>
              <a:t>标注数据极其珍贵——通常只有几十张标注图像。</a:t>
            </a:r>
            <a:endParaRPr lang="en-US" sz="1400" dirty="0"/>
          </a:p>
          <a:p>
            <a:pPr marL="342900" indent="-342900">
              <a:spcAft>
                <a:spcPts val="400"/>
              </a:spcAft>
              <a:buSzPct val="100000"/>
              <a:buChar char="■"/>
            </a:pPr>
            <a:r>
              <a:rPr lang="en-US" sz="1400" dirty="0">
                <a:solidFill>
                  <a:srgbClr val="475569"/>
                </a:solidFill>
                <a:latin typeface="Calibri" pitchFamily="34" charset="0"/>
                <a:ea typeface="Calibri" pitchFamily="34" charset="-122"/>
                <a:cs typeface="Calibri" pitchFamily="34" charset="-120"/>
              </a:rPr>
              <a:t>目标相互接触、变形，且与背景几乎无法区分。</a:t>
            </a:r>
            <a:endParaRPr lang="en-US" sz="1400" dirty="0"/>
          </a:p>
          <a:p>
            <a:pPr marL="342900" indent="-342900">
              <a:buSzPct val="100000"/>
              <a:buChar char="■"/>
            </a:pPr>
            <a:r>
              <a:rPr lang="en-US" sz="1400" dirty="0">
                <a:solidFill>
                  <a:srgbClr val="475569"/>
                </a:solidFill>
                <a:latin typeface="Calibri" pitchFamily="34" charset="0"/>
                <a:ea typeface="Calibri" pitchFamily="34" charset="-122"/>
                <a:cs typeface="Calibri" pitchFamily="34" charset="-120"/>
              </a:rPr>
              <a:t>每个输出像素必须同时具备精确定位和充分的上下文信息。</a:t>
            </a:r>
            <a:endParaRPr lang="en-US" sz="1400" dirty="0"/>
          </a:p>
        </p:txBody>
      </p:sp>
      <p:sp>
        <p:nvSpPr>
          <p:cNvPr id="5" name="Shape 3"/>
          <p:cNvSpPr/>
          <p:nvPr/>
        </p:nvSpPr>
        <p:spPr>
          <a:xfrm>
            <a:off x="5760720" y="1417320"/>
            <a:ext cx="2834640" cy="1234440"/>
          </a:xfrm>
          <a:prstGeom prst="rect">
            <a:avLst/>
          </a:prstGeom>
          <a:solidFill>
            <a:srgbClr val="EAF2FB"/>
          </a:solidFill>
          <a:ln w="12700">
            <a:solidFill>
              <a:srgbClr val="63A4FF"/>
            </a:solidFill>
            <a:prstDash val="solid"/>
          </a:ln>
        </p:spPr>
        <p:txBody>
          <a:bodyPr/>
          <a:lstStyle/>
          <a:p>
            <a:endParaRPr lang="en-CN"/>
          </a:p>
        </p:txBody>
      </p:sp>
      <p:sp>
        <p:nvSpPr>
          <p:cNvPr id="6" name="Shape 4"/>
          <p:cNvSpPr/>
          <p:nvPr/>
        </p:nvSpPr>
        <p:spPr>
          <a:xfrm>
            <a:off x="6035040" y="1618488"/>
            <a:ext cx="594360" cy="502920"/>
          </a:xfrm>
          <a:prstGeom prst="ellipse">
            <a:avLst/>
          </a:prstGeom>
          <a:solidFill>
            <a:srgbClr val="C7D9F0"/>
          </a:solidFill>
          <a:ln w="12700">
            <a:solidFill>
              <a:srgbClr val="63A4FF"/>
            </a:solidFill>
            <a:prstDash val="solid"/>
          </a:ln>
        </p:spPr>
        <p:txBody>
          <a:bodyPr/>
          <a:lstStyle/>
          <a:p>
            <a:endParaRPr lang="en-CN"/>
          </a:p>
        </p:txBody>
      </p:sp>
      <p:sp>
        <p:nvSpPr>
          <p:cNvPr id="7" name="Shape 5"/>
          <p:cNvSpPr/>
          <p:nvPr/>
        </p:nvSpPr>
        <p:spPr>
          <a:xfrm>
            <a:off x="6583680" y="1920240"/>
            <a:ext cx="548640" cy="457200"/>
          </a:xfrm>
          <a:prstGeom prst="ellipse">
            <a:avLst/>
          </a:prstGeom>
          <a:solidFill>
            <a:srgbClr val="BFD4EE"/>
          </a:solidFill>
          <a:ln w="12700">
            <a:solidFill>
              <a:srgbClr val="63A4FF"/>
            </a:solidFill>
            <a:prstDash val="solid"/>
          </a:ln>
        </p:spPr>
        <p:txBody>
          <a:bodyPr/>
          <a:lstStyle/>
          <a:p>
            <a:endParaRPr lang="en-CN"/>
          </a:p>
        </p:txBody>
      </p:sp>
      <p:sp>
        <p:nvSpPr>
          <p:cNvPr id="8" name="Shape 6"/>
          <p:cNvSpPr/>
          <p:nvPr/>
        </p:nvSpPr>
        <p:spPr>
          <a:xfrm>
            <a:off x="7132320" y="1691640"/>
            <a:ext cx="502920" cy="457200"/>
          </a:xfrm>
          <a:prstGeom prst="ellipse">
            <a:avLst/>
          </a:prstGeom>
          <a:solidFill>
            <a:srgbClr val="D3E2F4"/>
          </a:solidFill>
          <a:ln w="12700">
            <a:solidFill>
              <a:srgbClr val="63A4FF"/>
            </a:solidFill>
            <a:prstDash val="solid"/>
          </a:ln>
        </p:spPr>
        <p:txBody>
          <a:bodyPr/>
          <a:lstStyle/>
          <a:p>
            <a:endParaRPr lang="en-CN"/>
          </a:p>
        </p:txBody>
      </p:sp>
      <p:sp>
        <p:nvSpPr>
          <p:cNvPr id="9" name="Shape 7"/>
          <p:cNvSpPr/>
          <p:nvPr/>
        </p:nvSpPr>
        <p:spPr>
          <a:xfrm>
            <a:off x="7635240" y="1965960"/>
            <a:ext cx="502920" cy="457200"/>
          </a:xfrm>
          <a:prstGeom prst="ellipse">
            <a:avLst/>
          </a:prstGeom>
          <a:solidFill>
            <a:srgbClr val="C7D9F0"/>
          </a:solidFill>
          <a:ln w="12700">
            <a:solidFill>
              <a:srgbClr val="63A4FF"/>
            </a:solidFill>
            <a:prstDash val="solid"/>
          </a:ln>
        </p:spPr>
        <p:txBody>
          <a:bodyPr/>
          <a:lstStyle/>
          <a:p>
            <a:endParaRPr lang="en-CN"/>
          </a:p>
        </p:txBody>
      </p:sp>
      <p:sp>
        <p:nvSpPr>
          <p:cNvPr id="10" name="Text 8"/>
          <p:cNvSpPr/>
          <p:nvPr/>
        </p:nvSpPr>
        <p:spPr>
          <a:xfrm>
            <a:off x="5760720" y="2670048"/>
            <a:ext cx="2834640" cy="201168"/>
          </a:xfrm>
          <a:prstGeom prst="rect">
            <a:avLst/>
          </a:prstGeom>
          <a:noFill/>
          <a:ln/>
        </p:spPr>
        <p:txBody>
          <a:bodyPr wrap="square" lIns="0" tIns="0" rIns="0" bIns="0" rtlCol="0" anchor="ctr"/>
          <a:lstStyle/>
          <a:p>
            <a:pPr marL="0" indent="0" algn="ctr">
              <a:buNone/>
            </a:pPr>
            <a:r>
              <a:rPr lang="en-US" sz="1000" i="1" dirty="0">
                <a:solidFill>
                  <a:srgbClr val="475569"/>
                </a:solidFill>
              </a:rPr>
              <a:t>显微镜输入图像</a:t>
            </a:r>
            <a:endParaRPr lang="en-US" sz="1000" dirty="0"/>
          </a:p>
        </p:txBody>
      </p:sp>
      <p:sp>
        <p:nvSpPr>
          <p:cNvPr id="11" name="Shape 9"/>
          <p:cNvSpPr/>
          <p:nvPr/>
        </p:nvSpPr>
        <p:spPr>
          <a:xfrm rot="5400000">
            <a:off x="7086600" y="2944368"/>
            <a:ext cx="182880" cy="182880"/>
          </a:xfrm>
          <a:prstGeom prst="rtTriangle">
            <a:avLst/>
          </a:prstGeom>
          <a:solidFill>
            <a:srgbClr val="FF6B35"/>
          </a:solidFill>
          <a:ln w="12700">
            <a:solidFill>
              <a:srgbClr val="FF6B35"/>
            </a:solidFill>
            <a:prstDash val="solid"/>
          </a:ln>
        </p:spPr>
        <p:txBody>
          <a:bodyPr/>
          <a:lstStyle/>
          <a:p>
            <a:endParaRPr lang="en-CN"/>
          </a:p>
        </p:txBody>
      </p:sp>
      <p:sp>
        <p:nvSpPr>
          <p:cNvPr id="12" name="Shape 10"/>
          <p:cNvSpPr/>
          <p:nvPr/>
        </p:nvSpPr>
        <p:spPr>
          <a:xfrm>
            <a:off x="5760720" y="3218688"/>
            <a:ext cx="2834640" cy="1234440"/>
          </a:xfrm>
          <a:prstGeom prst="rect">
            <a:avLst/>
          </a:prstGeom>
          <a:solidFill>
            <a:srgbClr val="0B1E3F"/>
          </a:solidFill>
          <a:ln w="12700">
            <a:solidFill>
              <a:srgbClr val="0B1E3F"/>
            </a:solidFill>
            <a:prstDash val="solid"/>
          </a:ln>
        </p:spPr>
        <p:txBody>
          <a:bodyPr/>
          <a:lstStyle/>
          <a:p>
            <a:endParaRPr lang="en-CN"/>
          </a:p>
        </p:txBody>
      </p:sp>
      <p:sp>
        <p:nvSpPr>
          <p:cNvPr id="13" name="Shape 11"/>
          <p:cNvSpPr/>
          <p:nvPr/>
        </p:nvSpPr>
        <p:spPr>
          <a:xfrm>
            <a:off x="6035040" y="3419856"/>
            <a:ext cx="594360" cy="502920"/>
          </a:xfrm>
          <a:prstGeom prst="ellipse">
            <a:avLst/>
          </a:prstGeom>
          <a:solidFill>
            <a:srgbClr val="FF6B35"/>
          </a:solidFill>
          <a:ln w="12700">
            <a:solidFill>
              <a:srgbClr val="FF6B35"/>
            </a:solidFill>
            <a:prstDash val="solid"/>
          </a:ln>
        </p:spPr>
        <p:txBody>
          <a:bodyPr/>
          <a:lstStyle/>
          <a:p>
            <a:endParaRPr lang="en-CN"/>
          </a:p>
        </p:txBody>
      </p:sp>
      <p:sp>
        <p:nvSpPr>
          <p:cNvPr id="14" name="Shape 12"/>
          <p:cNvSpPr/>
          <p:nvPr/>
        </p:nvSpPr>
        <p:spPr>
          <a:xfrm>
            <a:off x="6583680" y="3721608"/>
            <a:ext cx="548640" cy="457200"/>
          </a:xfrm>
          <a:prstGeom prst="ellipse">
            <a:avLst/>
          </a:prstGeom>
          <a:solidFill>
            <a:srgbClr val="10B981"/>
          </a:solidFill>
          <a:ln w="12700">
            <a:solidFill>
              <a:srgbClr val="10B981"/>
            </a:solidFill>
            <a:prstDash val="solid"/>
          </a:ln>
        </p:spPr>
        <p:txBody>
          <a:bodyPr/>
          <a:lstStyle/>
          <a:p>
            <a:endParaRPr lang="en-CN"/>
          </a:p>
        </p:txBody>
      </p:sp>
      <p:sp>
        <p:nvSpPr>
          <p:cNvPr id="15" name="Shape 13"/>
          <p:cNvSpPr/>
          <p:nvPr/>
        </p:nvSpPr>
        <p:spPr>
          <a:xfrm>
            <a:off x="7132320" y="3493008"/>
            <a:ext cx="502920" cy="457200"/>
          </a:xfrm>
          <a:prstGeom prst="ellipse">
            <a:avLst/>
          </a:prstGeom>
          <a:solidFill>
            <a:srgbClr val="63A4FF"/>
          </a:solidFill>
          <a:ln w="12700">
            <a:solidFill>
              <a:srgbClr val="63A4FF"/>
            </a:solidFill>
            <a:prstDash val="solid"/>
          </a:ln>
        </p:spPr>
        <p:txBody>
          <a:bodyPr/>
          <a:lstStyle/>
          <a:p>
            <a:endParaRPr lang="en-CN"/>
          </a:p>
        </p:txBody>
      </p:sp>
      <p:sp>
        <p:nvSpPr>
          <p:cNvPr id="16" name="Shape 14"/>
          <p:cNvSpPr/>
          <p:nvPr/>
        </p:nvSpPr>
        <p:spPr>
          <a:xfrm>
            <a:off x="7635240" y="3767328"/>
            <a:ext cx="502920" cy="457200"/>
          </a:xfrm>
          <a:prstGeom prst="ellipse">
            <a:avLst/>
          </a:prstGeom>
          <a:solidFill>
            <a:srgbClr val="F59E0B"/>
          </a:solidFill>
          <a:ln w="12700">
            <a:solidFill>
              <a:srgbClr val="F59E0B"/>
            </a:solidFill>
            <a:prstDash val="solid"/>
          </a:ln>
        </p:spPr>
        <p:txBody>
          <a:bodyPr/>
          <a:lstStyle/>
          <a:p>
            <a:endParaRPr lang="en-CN"/>
          </a:p>
        </p:txBody>
      </p:sp>
      <p:sp>
        <p:nvSpPr>
          <p:cNvPr id="17" name="Text 15"/>
          <p:cNvSpPr/>
          <p:nvPr/>
        </p:nvSpPr>
        <p:spPr>
          <a:xfrm>
            <a:off x="5760720" y="4471416"/>
            <a:ext cx="2834640" cy="201168"/>
          </a:xfrm>
          <a:prstGeom prst="rect">
            <a:avLst/>
          </a:prstGeom>
          <a:noFill/>
          <a:ln/>
        </p:spPr>
        <p:txBody>
          <a:bodyPr wrap="square" lIns="0" tIns="0" rIns="0" bIns="0" rtlCol="0" anchor="ctr"/>
          <a:lstStyle/>
          <a:p>
            <a:pPr marL="0" indent="0" algn="ctr">
              <a:buNone/>
            </a:pPr>
            <a:r>
              <a:rPr lang="en-US" sz="1000" i="1" dirty="0">
                <a:solidFill>
                  <a:srgbClr val="475569"/>
                </a:solidFill>
              </a:rPr>
              <a:t>逐像素分割掩码</a:t>
            </a:r>
            <a:endParaRPr lang="en-US" sz="1000" dirty="0"/>
          </a:p>
        </p:txBody>
      </p:sp>
      <p:sp>
        <p:nvSpPr>
          <p:cNvPr id="18" name="Shape 16"/>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19" name="Text 17"/>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20" name="Text 18"/>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2 / 22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历史背景 (2012-2015)</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U-Net之前：滑动窗口补丁与全卷积网络</a:t>
            </a:r>
            <a:endParaRPr lang="en-US" sz="2400" dirty="0"/>
          </a:p>
        </p:txBody>
      </p:sp>
      <p:sp>
        <p:nvSpPr>
          <p:cNvPr id="4" name="Shape 2"/>
          <p:cNvSpPr/>
          <p:nvPr/>
        </p:nvSpPr>
        <p:spPr>
          <a:xfrm>
            <a:off x="457200" y="1417320"/>
            <a:ext cx="4023360" cy="3108960"/>
          </a:xfrm>
          <a:prstGeom prst="rect">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txBody>
          <a:bodyPr/>
          <a:lstStyle/>
          <a:p>
            <a:endParaRPr lang="en-CN"/>
          </a:p>
        </p:txBody>
      </p:sp>
      <p:sp>
        <p:nvSpPr>
          <p:cNvPr id="5" name="Shape 3"/>
          <p:cNvSpPr/>
          <p:nvPr/>
        </p:nvSpPr>
        <p:spPr>
          <a:xfrm>
            <a:off x="457200" y="1417320"/>
            <a:ext cx="73152" cy="3108960"/>
          </a:xfrm>
          <a:prstGeom prst="rect">
            <a:avLst/>
          </a:prstGeom>
          <a:solidFill>
            <a:srgbClr val="1565C0"/>
          </a:solidFill>
          <a:ln w="12700">
            <a:solidFill>
              <a:srgbClr val="1565C0"/>
            </a:solidFill>
            <a:prstDash val="solid"/>
          </a:ln>
        </p:spPr>
        <p:txBody>
          <a:bodyPr/>
          <a:lstStyle/>
          <a:p>
            <a:endParaRPr lang="en-CN"/>
          </a:p>
        </p:txBody>
      </p:sp>
      <p:sp>
        <p:nvSpPr>
          <p:cNvPr id="6" name="Text 4"/>
          <p:cNvSpPr/>
          <p:nvPr/>
        </p:nvSpPr>
        <p:spPr>
          <a:xfrm>
            <a:off x="685800" y="1554480"/>
            <a:ext cx="3657600" cy="365760"/>
          </a:xfrm>
          <a:prstGeom prst="rect">
            <a:avLst/>
          </a:prstGeom>
          <a:noFill/>
          <a:ln/>
        </p:spPr>
        <p:txBody>
          <a:bodyPr wrap="square" lIns="0" tIns="0" rIns="0" bIns="0" rtlCol="0" anchor="ctr"/>
          <a:lstStyle/>
          <a:p>
            <a:pPr marL="0" indent="0">
              <a:buNone/>
            </a:pPr>
            <a:r>
              <a:rPr lang="en-US" sz="1400" b="1" dirty="0">
                <a:solidFill>
                  <a:srgbClr val="0B1E3F"/>
                </a:solidFill>
                <a:latin typeface="Georgia" pitchFamily="34" charset="0"/>
                <a:ea typeface="Georgia" pitchFamily="34" charset="-122"/>
                <a:cs typeface="Georgia" pitchFamily="34" charset="-120"/>
              </a:rPr>
              <a:t>Ciresan et al. 2012 - 滑动窗口CNN</a:t>
            </a:r>
            <a:endParaRPr lang="en-US" sz="1400" dirty="0"/>
          </a:p>
        </p:txBody>
      </p:sp>
      <p:sp>
        <p:nvSpPr>
          <p:cNvPr id="7" name="Text 5"/>
          <p:cNvSpPr/>
          <p:nvPr/>
        </p:nvSpPr>
        <p:spPr>
          <a:xfrm>
            <a:off x="685800" y="1965960"/>
            <a:ext cx="3657600" cy="1463040"/>
          </a:xfrm>
          <a:prstGeom prst="rect">
            <a:avLst/>
          </a:prstGeom>
          <a:noFill/>
          <a:ln/>
        </p:spPr>
        <p:txBody>
          <a:bodyPr wrap="square" rtlCol="0" anchor="ctr"/>
          <a:lstStyle/>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基于局部补丁对每个像素进行分类。</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补丁 -&gt; 每张图像产生大量训练样本。</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以大幅优势赢得ISBI 2012电子显微镜分割竞赛。</a:t>
            </a:r>
            <a:endParaRPr lang="en-US" sz="1200" dirty="0"/>
          </a:p>
        </p:txBody>
      </p:sp>
      <p:sp>
        <p:nvSpPr>
          <p:cNvPr id="8" name="Text 6"/>
          <p:cNvSpPr/>
          <p:nvPr/>
        </p:nvSpPr>
        <p:spPr>
          <a:xfrm>
            <a:off x="685800" y="3474720"/>
            <a:ext cx="3657600" cy="274320"/>
          </a:xfrm>
          <a:prstGeom prst="rect">
            <a:avLst/>
          </a:prstGeom>
          <a:noFill/>
          <a:ln/>
        </p:spPr>
        <p:txBody>
          <a:bodyPr wrap="square" lIns="0" tIns="0" rIns="0" bIns="0" rtlCol="0" anchor="ctr"/>
          <a:lstStyle/>
          <a:p>
            <a:pPr marL="0" indent="0">
              <a:buNone/>
            </a:pPr>
            <a:r>
              <a:rPr lang="en-US" sz="1200" b="1" i="1" dirty="0">
                <a:solidFill>
                  <a:srgbClr val="FF6B35"/>
                </a:solidFill>
                <a:latin typeface="Calibri" pitchFamily="34" charset="0"/>
                <a:ea typeface="Calibri" pitchFamily="34" charset="-122"/>
                <a:cs typeface="Calibri" pitchFamily="34" charset="-120"/>
              </a:rPr>
              <a:t>缺点</a:t>
            </a:r>
            <a:endParaRPr lang="en-US" sz="1200" dirty="0"/>
          </a:p>
        </p:txBody>
      </p:sp>
      <p:sp>
        <p:nvSpPr>
          <p:cNvPr id="9" name="Text 7"/>
          <p:cNvSpPr/>
          <p:nvPr/>
        </p:nvSpPr>
        <p:spPr>
          <a:xfrm>
            <a:off x="685800" y="3749040"/>
            <a:ext cx="3657600" cy="731520"/>
          </a:xfrm>
          <a:prstGeom prst="rect">
            <a:avLst/>
          </a:prstGeom>
          <a:noFill/>
          <a:ln/>
        </p:spPr>
        <p:txBody>
          <a:bodyPr wrap="square" rtlCol="0" anchor="ctr"/>
          <a:lstStyle/>
          <a:p>
            <a:pPr marL="342900" indent="-342900">
              <a:spcAft>
                <a:spcPts val="300"/>
              </a:spcAft>
              <a:buSzPct val="100000"/>
              <a:buChar char="▢"/>
            </a:pPr>
            <a:r>
              <a:rPr lang="en-US" sz="1100" dirty="0">
                <a:solidFill>
                  <a:srgbClr val="475569"/>
                </a:solidFill>
                <a:latin typeface="Calibri" pitchFamily="34" charset="0"/>
                <a:ea typeface="Calibri" pitchFamily="34" charset="-122"/>
                <a:cs typeface="Calibri" pitchFamily="34" charset="-120"/>
              </a:rPr>
              <a:t>速度慢：补丁大量重叠，计算冗余。</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上下文（大补丁）与定位精度（小补丁）之间难以权衡。</a:t>
            </a:r>
            <a:endParaRPr lang="en-US" sz="1100" dirty="0"/>
          </a:p>
        </p:txBody>
      </p:sp>
      <p:sp>
        <p:nvSpPr>
          <p:cNvPr id="10" name="Shape 8"/>
          <p:cNvSpPr/>
          <p:nvPr/>
        </p:nvSpPr>
        <p:spPr>
          <a:xfrm>
            <a:off x="4709160" y="1417320"/>
            <a:ext cx="3977640" cy="3108960"/>
          </a:xfrm>
          <a:prstGeom prst="rect">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txBody>
          <a:bodyPr/>
          <a:lstStyle/>
          <a:p>
            <a:endParaRPr lang="en-CN"/>
          </a:p>
        </p:txBody>
      </p:sp>
      <p:sp>
        <p:nvSpPr>
          <p:cNvPr id="11" name="Shape 9"/>
          <p:cNvSpPr/>
          <p:nvPr/>
        </p:nvSpPr>
        <p:spPr>
          <a:xfrm>
            <a:off x="4709160" y="1417320"/>
            <a:ext cx="73152" cy="3108960"/>
          </a:xfrm>
          <a:prstGeom prst="rect">
            <a:avLst/>
          </a:prstGeom>
          <a:solidFill>
            <a:srgbClr val="10B981"/>
          </a:solidFill>
          <a:ln w="12700">
            <a:solidFill>
              <a:srgbClr val="10B981"/>
            </a:solidFill>
            <a:prstDash val="solid"/>
          </a:ln>
        </p:spPr>
        <p:txBody>
          <a:bodyPr/>
          <a:lstStyle/>
          <a:p>
            <a:endParaRPr lang="en-CN"/>
          </a:p>
        </p:txBody>
      </p:sp>
      <p:sp>
        <p:nvSpPr>
          <p:cNvPr id="12" name="Text 10"/>
          <p:cNvSpPr/>
          <p:nvPr/>
        </p:nvSpPr>
        <p:spPr>
          <a:xfrm>
            <a:off x="4937760" y="1554480"/>
            <a:ext cx="3657600" cy="365760"/>
          </a:xfrm>
          <a:prstGeom prst="rect">
            <a:avLst/>
          </a:prstGeom>
          <a:noFill/>
          <a:ln/>
        </p:spPr>
        <p:txBody>
          <a:bodyPr wrap="square" lIns="0" tIns="0" rIns="0" bIns="0" rtlCol="0" anchor="ctr"/>
          <a:lstStyle/>
          <a:p>
            <a:pPr marL="0" indent="0">
              <a:buNone/>
            </a:pPr>
            <a:r>
              <a:rPr lang="en-US" sz="1400" b="1" dirty="0">
                <a:solidFill>
                  <a:srgbClr val="0B1E3F"/>
                </a:solidFill>
                <a:latin typeface="Georgia" pitchFamily="34" charset="0"/>
                <a:ea typeface="Georgia" pitchFamily="34" charset="-122"/>
                <a:cs typeface="Georgia" pitchFamily="34" charset="-120"/>
              </a:rPr>
              <a:t>Long, Shelhamer, Darrell 2014 - 全卷积网络(FCN)</a:t>
            </a:r>
            <a:endParaRPr lang="en-US" sz="1400" dirty="0"/>
          </a:p>
        </p:txBody>
      </p:sp>
      <p:sp>
        <p:nvSpPr>
          <p:cNvPr id="13" name="Text 11"/>
          <p:cNvSpPr/>
          <p:nvPr/>
        </p:nvSpPr>
        <p:spPr>
          <a:xfrm>
            <a:off x="4937760" y="1965960"/>
            <a:ext cx="3657600" cy="1463040"/>
          </a:xfrm>
          <a:prstGeom prst="rect">
            <a:avLst/>
          </a:prstGeom>
          <a:noFill/>
          <a:ln/>
        </p:spPr>
        <p:txBody>
          <a:bodyPr wrap="square" rtlCol="0" anchor="ctr"/>
          <a:lstStyle/>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用上采样层替代分类器。</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一次前向传播——直接生成密集预测图。</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从pool3/pool4/pool5引入粗略跳跃连接（32倍、16倍、8倍）。</a:t>
            </a:r>
            <a:endParaRPr lang="en-US" sz="1200" dirty="0"/>
          </a:p>
        </p:txBody>
      </p:sp>
      <p:sp>
        <p:nvSpPr>
          <p:cNvPr id="14" name="Text 12"/>
          <p:cNvSpPr/>
          <p:nvPr/>
        </p:nvSpPr>
        <p:spPr>
          <a:xfrm>
            <a:off x="4937760" y="3474720"/>
            <a:ext cx="3657600" cy="274320"/>
          </a:xfrm>
          <a:prstGeom prst="rect">
            <a:avLst/>
          </a:prstGeom>
          <a:noFill/>
          <a:ln/>
        </p:spPr>
        <p:txBody>
          <a:bodyPr wrap="square" lIns="0" tIns="0" rIns="0" bIns="0" rtlCol="0" anchor="ctr"/>
          <a:lstStyle/>
          <a:p>
            <a:pPr marL="0" indent="0">
              <a:buNone/>
            </a:pPr>
            <a:r>
              <a:rPr lang="en-US" sz="1200" b="1" i="1" dirty="0">
                <a:solidFill>
                  <a:srgbClr val="FF6B35"/>
                </a:solidFill>
                <a:latin typeface="Calibri" pitchFamily="34" charset="0"/>
                <a:ea typeface="Calibri" pitchFamily="34" charset="-122"/>
                <a:cs typeface="Calibri" pitchFamily="34" charset="-120"/>
              </a:rPr>
              <a:t>U-Net继承了什么——又改变了什么</a:t>
            </a:r>
            <a:endParaRPr lang="en-US" sz="1200" dirty="0"/>
          </a:p>
        </p:txBody>
      </p:sp>
      <p:sp>
        <p:nvSpPr>
          <p:cNvPr id="15" name="Text 13"/>
          <p:cNvSpPr/>
          <p:nvPr/>
        </p:nvSpPr>
        <p:spPr>
          <a:xfrm>
            <a:off x="4937760" y="3749040"/>
            <a:ext cx="3657600" cy="731520"/>
          </a:xfrm>
          <a:prstGeom prst="rect">
            <a:avLst/>
          </a:prstGeom>
          <a:noFill/>
          <a:ln/>
        </p:spPr>
        <p:txBody>
          <a:bodyPr wrap="square" rtlCol="0" anchor="ctr"/>
          <a:lstStyle/>
          <a:p>
            <a:pPr marL="342900" indent="-342900">
              <a:spcAft>
                <a:spcPts val="300"/>
              </a:spcAft>
              <a:buSzPct val="100000"/>
              <a:buChar char="▢"/>
            </a:pPr>
            <a:r>
              <a:rPr lang="en-US" sz="1100" dirty="0">
                <a:solidFill>
                  <a:srgbClr val="475569"/>
                </a:solidFill>
                <a:latin typeface="Calibri" pitchFamily="34" charset="0"/>
                <a:ea typeface="Calibri" pitchFamily="34" charset="-122"/>
                <a:cs typeface="Calibri" pitchFamily="34" charset="-120"/>
              </a:rPr>
              <a:t>编码器/解码器思想——保留。</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对称、多通道解码器+细粒度跳跃连接——创新。</a:t>
            </a:r>
            <a:endParaRPr lang="en-US" sz="1100" dirty="0"/>
          </a:p>
        </p:txBody>
      </p:sp>
      <p:sp>
        <p:nvSpPr>
          <p:cNvPr id="16" name="Shape 14"/>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17" name="Text 15"/>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18" name="Text 16"/>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3 / 22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核心思想</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收缩获取上下文。扩展恢复定位。跳跃保留细节。</a:t>
            </a:r>
            <a:endParaRPr lang="en-US" sz="2400" dirty="0"/>
          </a:p>
        </p:txBody>
      </p:sp>
      <p:sp>
        <p:nvSpPr>
          <p:cNvPr id="4" name="Shape 2"/>
          <p:cNvSpPr/>
          <p:nvPr/>
        </p:nvSpPr>
        <p:spPr>
          <a:xfrm>
            <a:off x="457200" y="1417320"/>
            <a:ext cx="2130552" cy="3017520"/>
          </a:xfrm>
          <a:prstGeom prst="rect">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txBody>
          <a:bodyPr/>
          <a:lstStyle/>
          <a:p>
            <a:endParaRPr lang="en-CN"/>
          </a:p>
        </p:txBody>
      </p:sp>
      <p:sp>
        <p:nvSpPr>
          <p:cNvPr id="5" name="Shape 3"/>
          <p:cNvSpPr/>
          <p:nvPr/>
        </p:nvSpPr>
        <p:spPr>
          <a:xfrm>
            <a:off x="457200" y="1417320"/>
            <a:ext cx="2130552" cy="411480"/>
          </a:xfrm>
          <a:prstGeom prst="rect">
            <a:avLst/>
          </a:prstGeom>
          <a:solidFill>
            <a:srgbClr val="1565C0"/>
          </a:solidFill>
          <a:ln w="12700">
            <a:solidFill>
              <a:srgbClr val="1565C0"/>
            </a:solidFill>
            <a:prstDash val="solid"/>
          </a:ln>
        </p:spPr>
        <p:txBody>
          <a:bodyPr/>
          <a:lstStyle/>
          <a:p>
            <a:endParaRPr lang="en-CN"/>
          </a:p>
        </p:txBody>
      </p:sp>
      <p:sp>
        <p:nvSpPr>
          <p:cNvPr id="6" name="Text 4"/>
          <p:cNvSpPr/>
          <p:nvPr/>
        </p:nvSpPr>
        <p:spPr>
          <a:xfrm>
            <a:off x="594360" y="1444752"/>
            <a:ext cx="1828800"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收缩路径</a:t>
            </a:r>
            <a:endParaRPr lang="en-US" sz="1400" dirty="0"/>
          </a:p>
        </p:txBody>
      </p:sp>
      <p:sp>
        <p:nvSpPr>
          <p:cNvPr id="7" name="Text 5"/>
          <p:cNvSpPr/>
          <p:nvPr/>
        </p:nvSpPr>
        <p:spPr>
          <a:xfrm>
            <a:off x="621792" y="1965960"/>
            <a:ext cx="1828800" cy="233172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堆叠3x3卷积+2x2最大池化，每次下采样通道数翻倍。网络在逐步粗糙的尺度上学习"这个区域里有什么"。</a:t>
            </a:r>
            <a:endParaRPr lang="en-US" sz="1200" dirty="0"/>
          </a:p>
        </p:txBody>
      </p:sp>
      <p:sp>
        <p:nvSpPr>
          <p:cNvPr id="8" name="Shape 6"/>
          <p:cNvSpPr/>
          <p:nvPr/>
        </p:nvSpPr>
        <p:spPr>
          <a:xfrm>
            <a:off x="3502152" y="1417320"/>
            <a:ext cx="2130552" cy="3017520"/>
          </a:xfrm>
          <a:prstGeom prst="rect">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txBody>
          <a:bodyPr/>
          <a:lstStyle/>
          <a:p>
            <a:endParaRPr lang="en-CN"/>
          </a:p>
        </p:txBody>
      </p:sp>
      <p:sp>
        <p:nvSpPr>
          <p:cNvPr id="9" name="Shape 7"/>
          <p:cNvSpPr/>
          <p:nvPr/>
        </p:nvSpPr>
        <p:spPr>
          <a:xfrm>
            <a:off x="3502152" y="1417320"/>
            <a:ext cx="2130552" cy="411480"/>
          </a:xfrm>
          <a:prstGeom prst="rect">
            <a:avLst/>
          </a:prstGeom>
          <a:solidFill>
            <a:srgbClr val="FF6B35"/>
          </a:solidFill>
          <a:ln w="12700">
            <a:solidFill>
              <a:srgbClr val="FF6B35"/>
            </a:solidFill>
            <a:prstDash val="solid"/>
          </a:ln>
        </p:spPr>
        <p:txBody>
          <a:bodyPr/>
          <a:lstStyle/>
          <a:p>
            <a:endParaRPr lang="en-CN"/>
          </a:p>
        </p:txBody>
      </p:sp>
      <p:sp>
        <p:nvSpPr>
          <p:cNvPr id="10" name="Text 8"/>
          <p:cNvSpPr/>
          <p:nvPr/>
        </p:nvSpPr>
        <p:spPr>
          <a:xfrm>
            <a:off x="3639312" y="1444752"/>
            <a:ext cx="1828800"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跳跃连接+拼接</a:t>
            </a:r>
            <a:endParaRPr lang="en-US" sz="1400" dirty="0"/>
          </a:p>
        </p:txBody>
      </p:sp>
      <p:sp>
        <p:nvSpPr>
          <p:cNvPr id="11" name="Text 9"/>
          <p:cNvSpPr/>
          <p:nvPr/>
        </p:nvSpPr>
        <p:spPr>
          <a:xfrm>
            <a:off x="3666744" y="1965960"/>
            <a:ext cx="1828800" cy="233172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每个解码器块获取对应的编码器特征图（裁剪至相同尺寸）。精细的空间细节绕过瓶颈直达输出。</a:t>
            </a:r>
            <a:endParaRPr lang="en-US" sz="1200" dirty="0"/>
          </a:p>
        </p:txBody>
      </p:sp>
      <p:sp>
        <p:nvSpPr>
          <p:cNvPr id="12" name="Shape 10"/>
          <p:cNvSpPr/>
          <p:nvPr/>
        </p:nvSpPr>
        <p:spPr>
          <a:xfrm>
            <a:off x="6556248" y="1417320"/>
            <a:ext cx="2130552" cy="3017520"/>
          </a:xfrm>
          <a:prstGeom prst="rect">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txBody>
          <a:bodyPr/>
          <a:lstStyle/>
          <a:p>
            <a:endParaRPr lang="en-CN"/>
          </a:p>
        </p:txBody>
      </p:sp>
      <p:sp>
        <p:nvSpPr>
          <p:cNvPr id="13" name="Shape 11"/>
          <p:cNvSpPr/>
          <p:nvPr/>
        </p:nvSpPr>
        <p:spPr>
          <a:xfrm>
            <a:off x="6556248" y="1417320"/>
            <a:ext cx="2130552" cy="411480"/>
          </a:xfrm>
          <a:prstGeom prst="rect">
            <a:avLst/>
          </a:prstGeom>
          <a:solidFill>
            <a:srgbClr val="10B981"/>
          </a:solidFill>
          <a:ln w="12700">
            <a:solidFill>
              <a:srgbClr val="10B981"/>
            </a:solidFill>
            <a:prstDash val="solid"/>
          </a:ln>
        </p:spPr>
        <p:txBody>
          <a:bodyPr/>
          <a:lstStyle/>
          <a:p>
            <a:endParaRPr lang="en-CN"/>
          </a:p>
        </p:txBody>
      </p:sp>
      <p:sp>
        <p:nvSpPr>
          <p:cNvPr id="14" name="Text 12"/>
          <p:cNvSpPr/>
          <p:nvPr/>
        </p:nvSpPr>
        <p:spPr>
          <a:xfrm>
            <a:off x="6693408" y="1444752"/>
            <a:ext cx="1828800"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扩展路径</a:t>
            </a:r>
            <a:endParaRPr lang="en-US" sz="1400" dirty="0"/>
          </a:p>
        </p:txBody>
      </p:sp>
      <p:sp>
        <p:nvSpPr>
          <p:cNvPr id="15" name="Text 13"/>
          <p:cNvSpPr/>
          <p:nvPr/>
        </p:nvSpPr>
        <p:spPr>
          <a:xfrm>
            <a:off x="6720840" y="1965960"/>
            <a:ext cx="1828800" cy="233172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上卷积将通道数减半、分辨率翻倍。两层3x3卷积将解码器特征与复制的编码器特征重新混合，生成精确的分割掩码。</a:t>
            </a:r>
            <a:endParaRPr lang="en-US" sz="1200" dirty="0"/>
          </a:p>
        </p:txBody>
      </p:sp>
      <p:sp>
        <p:nvSpPr>
          <p:cNvPr id="16" name="Shape 14"/>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17" name="Text 15"/>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18" name="Text 16"/>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4 / 22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网络架构</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U形结构：23个卷积层，4次下采样，4次上采样</a:t>
            </a:r>
            <a:endParaRPr lang="en-US" sz="2400" dirty="0"/>
          </a:p>
        </p:txBody>
      </p:sp>
      <p:sp>
        <p:nvSpPr>
          <p:cNvPr id="4" name="Shape 2"/>
          <p:cNvSpPr/>
          <p:nvPr/>
        </p:nvSpPr>
        <p:spPr>
          <a:xfrm>
            <a:off x="841248" y="1417320"/>
            <a:ext cx="146304" cy="365760"/>
          </a:xfrm>
          <a:prstGeom prst="rect">
            <a:avLst/>
          </a:prstGeom>
          <a:solidFill>
            <a:srgbClr val="63A4FF"/>
          </a:solidFill>
          <a:ln w="9525">
            <a:solidFill>
              <a:srgbClr val="1565C0"/>
            </a:solidFill>
            <a:prstDash val="solid"/>
          </a:ln>
        </p:spPr>
        <p:txBody>
          <a:bodyPr/>
          <a:lstStyle/>
          <a:p>
            <a:endParaRPr lang="en-CN"/>
          </a:p>
        </p:txBody>
      </p:sp>
      <p:sp>
        <p:nvSpPr>
          <p:cNvPr id="5" name="Shape 3"/>
          <p:cNvSpPr/>
          <p:nvPr/>
        </p:nvSpPr>
        <p:spPr>
          <a:xfrm>
            <a:off x="1024128" y="1417320"/>
            <a:ext cx="146304" cy="365760"/>
          </a:xfrm>
          <a:prstGeom prst="rect">
            <a:avLst/>
          </a:prstGeom>
          <a:solidFill>
            <a:srgbClr val="1565C0"/>
          </a:solidFill>
          <a:ln w="9525">
            <a:solidFill>
              <a:srgbClr val="1565C0"/>
            </a:solidFill>
            <a:prstDash val="solid"/>
          </a:ln>
        </p:spPr>
        <p:txBody>
          <a:bodyPr/>
          <a:lstStyle/>
          <a:p>
            <a:endParaRPr lang="en-CN"/>
          </a:p>
        </p:txBody>
      </p:sp>
      <p:sp>
        <p:nvSpPr>
          <p:cNvPr id="6" name="Text 4"/>
          <p:cNvSpPr/>
          <p:nvPr/>
        </p:nvSpPr>
        <p:spPr>
          <a:xfrm>
            <a:off x="731520" y="1216152"/>
            <a:ext cx="640080" cy="182880"/>
          </a:xfrm>
          <a:prstGeom prst="rect">
            <a:avLst/>
          </a:prstGeom>
          <a:noFill/>
          <a:ln/>
        </p:spPr>
        <p:txBody>
          <a:bodyPr wrap="square" lIns="0" tIns="0" rIns="0" bIns="0" rtlCol="0" anchor="ctr"/>
          <a:lstStyle/>
          <a:p>
            <a:pPr marL="0" indent="0" algn="ctr">
              <a:buNone/>
            </a:pPr>
            <a:r>
              <a:rPr lang="en-US" sz="800" dirty="0">
                <a:solidFill>
                  <a:srgbClr val="0B1E3F"/>
                </a:solidFill>
                <a:latin typeface="Calibri" pitchFamily="34" charset="0"/>
                <a:ea typeface="Calibri" pitchFamily="34" charset="-122"/>
                <a:cs typeface="Calibri" pitchFamily="34" charset="-120"/>
              </a:rPr>
              <a:t>64</a:t>
            </a:r>
            <a:endParaRPr lang="en-US" sz="800" dirty="0"/>
          </a:p>
        </p:txBody>
      </p:sp>
      <p:sp>
        <p:nvSpPr>
          <p:cNvPr id="7" name="Shape 5"/>
          <p:cNvSpPr/>
          <p:nvPr/>
        </p:nvSpPr>
        <p:spPr>
          <a:xfrm>
            <a:off x="7882128" y="1417320"/>
            <a:ext cx="146304" cy="365760"/>
          </a:xfrm>
          <a:prstGeom prst="rect">
            <a:avLst/>
          </a:prstGeom>
          <a:solidFill>
            <a:srgbClr val="FFD3C0"/>
          </a:solidFill>
          <a:ln w="9525">
            <a:solidFill>
              <a:srgbClr val="FF6B35"/>
            </a:solidFill>
            <a:prstDash val="solid"/>
          </a:ln>
        </p:spPr>
        <p:txBody>
          <a:bodyPr/>
          <a:lstStyle/>
          <a:p>
            <a:endParaRPr lang="en-CN"/>
          </a:p>
        </p:txBody>
      </p:sp>
      <p:sp>
        <p:nvSpPr>
          <p:cNvPr id="8" name="Shape 6"/>
          <p:cNvSpPr/>
          <p:nvPr/>
        </p:nvSpPr>
        <p:spPr>
          <a:xfrm>
            <a:off x="8065008" y="1417320"/>
            <a:ext cx="146304" cy="365760"/>
          </a:xfrm>
          <a:prstGeom prst="rect">
            <a:avLst/>
          </a:prstGeom>
          <a:solidFill>
            <a:srgbClr val="FF6B35"/>
          </a:solidFill>
          <a:ln w="9525">
            <a:solidFill>
              <a:srgbClr val="FF6B35"/>
            </a:solidFill>
            <a:prstDash val="solid"/>
          </a:ln>
        </p:spPr>
        <p:txBody>
          <a:bodyPr/>
          <a:lstStyle/>
          <a:p>
            <a:endParaRPr lang="en-CN"/>
          </a:p>
        </p:txBody>
      </p:sp>
      <p:sp>
        <p:nvSpPr>
          <p:cNvPr id="9" name="Text 7"/>
          <p:cNvSpPr/>
          <p:nvPr/>
        </p:nvSpPr>
        <p:spPr>
          <a:xfrm>
            <a:off x="7772400" y="1216152"/>
            <a:ext cx="640080" cy="182880"/>
          </a:xfrm>
          <a:prstGeom prst="rect">
            <a:avLst/>
          </a:prstGeom>
          <a:noFill/>
          <a:ln/>
        </p:spPr>
        <p:txBody>
          <a:bodyPr wrap="square" lIns="0" tIns="0" rIns="0" bIns="0" rtlCol="0" anchor="ctr"/>
          <a:lstStyle/>
          <a:p>
            <a:pPr marL="0" indent="0" algn="ctr">
              <a:buNone/>
            </a:pPr>
            <a:r>
              <a:rPr lang="en-US" sz="800" dirty="0">
                <a:solidFill>
                  <a:srgbClr val="0B1E3F"/>
                </a:solidFill>
                <a:latin typeface="Calibri" pitchFamily="34" charset="0"/>
                <a:ea typeface="Calibri" pitchFamily="34" charset="-122"/>
                <a:cs typeface="Calibri" pitchFamily="34" charset="-120"/>
              </a:rPr>
              <a:t>64</a:t>
            </a:r>
            <a:endParaRPr lang="en-US" sz="800" dirty="0"/>
          </a:p>
        </p:txBody>
      </p:sp>
      <p:sp>
        <p:nvSpPr>
          <p:cNvPr id="10" name="Shape 8"/>
          <p:cNvSpPr/>
          <p:nvPr/>
        </p:nvSpPr>
        <p:spPr>
          <a:xfrm>
            <a:off x="1709928" y="1691640"/>
            <a:ext cx="146304" cy="548640"/>
          </a:xfrm>
          <a:prstGeom prst="rect">
            <a:avLst/>
          </a:prstGeom>
          <a:solidFill>
            <a:srgbClr val="63A4FF"/>
          </a:solidFill>
          <a:ln w="9525">
            <a:solidFill>
              <a:srgbClr val="1565C0"/>
            </a:solidFill>
            <a:prstDash val="solid"/>
          </a:ln>
        </p:spPr>
        <p:txBody>
          <a:bodyPr/>
          <a:lstStyle/>
          <a:p>
            <a:endParaRPr lang="en-CN"/>
          </a:p>
        </p:txBody>
      </p:sp>
      <p:sp>
        <p:nvSpPr>
          <p:cNvPr id="11" name="Shape 9"/>
          <p:cNvSpPr/>
          <p:nvPr/>
        </p:nvSpPr>
        <p:spPr>
          <a:xfrm>
            <a:off x="1892808" y="1691640"/>
            <a:ext cx="146304" cy="548640"/>
          </a:xfrm>
          <a:prstGeom prst="rect">
            <a:avLst/>
          </a:prstGeom>
          <a:solidFill>
            <a:srgbClr val="1565C0"/>
          </a:solidFill>
          <a:ln w="9525">
            <a:solidFill>
              <a:srgbClr val="1565C0"/>
            </a:solidFill>
            <a:prstDash val="solid"/>
          </a:ln>
        </p:spPr>
        <p:txBody>
          <a:bodyPr/>
          <a:lstStyle/>
          <a:p>
            <a:endParaRPr lang="en-CN"/>
          </a:p>
        </p:txBody>
      </p:sp>
      <p:sp>
        <p:nvSpPr>
          <p:cNvPr id="12" name="Text 10"/>
          <p:cNvSpPr/>
          <p:nvPr/>
        </p:nvSpPr>
        <p:spPr>
          <a:xfrm>
            <a:off x="1600200" y="1490472"/>
            <a:ext cx="640080" cy="182880"/>
          </a:xfrm>
          <a:prstGeom prst="rect">
            <a:avLst/>
          </a:prstGeom>
          <a:noFill/>
          <a:ln/>
        </p:spPr>
        <p:txBody>
          <a:bodyPr wrap="square" lIns="0" tIns="0" rIns="0" bIns="0" rtlCol="0" anchor="ctr"/>
          <a:lstStyle/>
          <a:p>
            <a:pPr marL="0" indent="0" algn="ctr">
              <a:buNone/>
            </a:pPr>
            <a:r>
              <a:rPr lang="en-US" sz="800" dirty="0">
                <a:solidFill>
                  <a:srgbClr val="0B1E3F"/>
                </a:solidFill>
                <a:latin typeface="Calibri" pitchFamily="34" charset="0"/>
                <a:ea typeface="Calibri" pitchFamily="34" charset="-122"/>
                <a:cs typeface="Calibri" pitchFamily="34" charset="-120"/>
              </a:rPr>
              <a:t>128</a:t>
            </a:r>
            <a:endParaRPr lang="en-US" sz="800" dirty="0"/>
          </a:p>
        </p:txBody>
      </p:sp>
      <p:sp>
        <p:nvSpPr>
          <p:cNvPr id="13" name="Shape 11"/>
          <p:cNvSpPr/>
          <p:nvPr/>
        </p:nvSpPr>
        <p:spPr>
          <a:xfrm>
            <a:off x="7013448" y="1691640"/>
            <a:ext cx="146304" cy="548640"/>
          </a:xfrm>
          <a:prstGeom prst="rect">
            <a:avLst/>
          </a:prstGeom>
          <a:solidFill>
            <a:srgbClr val="FFD3C0"/>
          </a:solidFill>
          <a:ln w="9525">
            <a:solidFill>
              <a:srgbClr val="FF6B35"/>
            </a:solidFill>
            <a:prstDash val="solid"/>
          </a:ln>
        </p:spPr>
        <p:txBody>
          <a:bodyPr/>
          <a:lstStyle/>
          <a:p>
            <a:endParaRPr lang="en-CN"/>
          </a:p>
        </p:txBody>
      </p:sp>
      <p:sp>
        <p:nvSpPr>
          <p:cNvPr id="14" name="Shape 12"/>
          <p:cNvSpPr/>
          <p:nvPr/>
        </p:nvSpPr>
        <p:spPr>
          <a:xfrm>
            <a:off x="7196328" y="1691640"/>
            <a:ext cx="146304" cy="548640"/>
          </a:xfrm>
          <a:prstGeom prst="rect">
            <a:avLst/>
          </a:prstGeom>
          <a:solidFill>
            <a:srgbClr val="FF6B35"/>
          </a:solidFill>
          <a:ln w="9525">
            <a:solidFill>
              <a:srgbClr val="FF6B35"/>
            </a:solidFill>
            <a:prstDash val="solid"/>
          </a:ln>
        </p:spPr>
        <p:txBody>
          <a:bodyPr/>
          <a:lstStyle/>
          <a:p>
            <a:endParaRPr lang="en-CN"/>
          </a:p>
        </p:txBody>
      </p:sp>
      <p:sp>
        <p:nvSpPr>
          <p:cNvPr id="15" name="Text 13"/>
          <p:cNvSpPr/>
          <p:nvPr/>
        </p:nvSpPr>
        <p:spPr>
          <a:xfrm>
            <a:off x="6903720" y="1490472"/>
            <a:ext cx="640080" cy="182880"/>
          </a:xfrm>
          <a:prstGeom prst="rect">
            <a:avLst/>
          </a:prstGeom>
          <a:noFill/>
          <a:ln/>
        </p:spPr>
        <p:txBody>
          <a:bodyPr wrap="square" lIns="0" tIns="0" rIns="0" bIns="0" rtlCol="0" anchor="ctr"/>
          <a:lstStyle/>
          <a:p>
            <a:pPr marL="0" indent="0" algn="ctr">
              <a:buNone/>
            </a:pPr>
            <a:r>
              <a:rPr lang="en-US" sz="800" dirty="0">
                <a:solidFill>
                  <a:srgbClr val="0B1E3F"/>
                </a:solidFill>
                <a:latin typeface="Calibri" pitchFamily="34" charset="0"/>
                <a:ea typeface="Calibri" pitchFamily="34" charset="-122"/>
                <a:cs typeface="Calibri" pitchFamily="34" charset="-120"/>
              </a:rPr>
              <a:t>128</a:t>
            </a:r>
            <a:endParaRPr lang="en-US" sz="800" dirty="0"/>
          </a:p>
        </p:txBody>
      </p:sp>
      <p:sp>
        <p:nvSpPr>
          <p:cNvPr id="16" name="Shape 14"/>
          <p:cNvSpPr/>
          <p:nvPr/>
        </p:nvSpPr>
        <p:spPr>
          <a:xfrm>
            <a:off x="2578608" y="2011680"/>
            <a:ext cx="146304" cy="777240"/>
          </a:xfrm>
          <a:prstGeom prst="rect">
            <a:avLst/>
          </a:prstGeom>
          <a:solidFill>
            <a:srgbClr val="63A4FF"/>
          </a:solidFill>
          <a:ln w="9525">
            <a:solidFill>
              <a:srgbClr val="1565C0"/>
            </a:solidFill>
            <a:prstDash val="solid"/>
          </a:ln>
        </p:spPr>
        <p:txBody>
          <a:bodyPr/>
          <a:lstStyle/>
          <a:p>
            <a:endParaRPr lang="en-CN"/>
          </a:p>
        </p:txBody>
      </p:sp>
      <p:sp>
        <p:nvSpPr>
          <p:cNvPr id="17" name="Shape 15"/>
          <p:cNvSpPr/>
          <p:nvPr/>
        </p:nvSpPr>
        <p:spPr>
          <a:xfrm>
            <a:off x="2761488" y="2011680"/>
            <a:ext cx="146304" cy="777240"/>
          </a:xfrm>
          <a:prstGeom prst="rect">
            <a:avLst/>
          </a:prstGeom>
          <a:solidFill>
            <a:srgbClr val="1565C0"/>
          </a:solidFill>
          <a:ln w="9525">
            <a:solidFill>
              <a:srgbClr val="1565C0"/>
            </a:solidFill>
            <a:prstDash val="solid"/>
          </a:ln>
        </p:spPr>
        <p:txBody>
          <a:bodyPr/>
          <a:lstStyle/>
          <a:p>
            <a:endParaRPr lang="en-CN"/>
          </a:p>
        </p:txBody>
      </p:sp>
      <p:sp>
        <p:nvSpPr>
          <p:cNvPr id="18" name="Text 16"/>
          <p:cNvSpPr/>
          <p:nvPr/>
        </p:nvSpPr>
        <p:spPr>
          <a:xfrm>
            <a:off x="2468880" y="1810512"/>
            <a:ext cx="640080" cy="182880"/>
          </a:xfrm>
          <a:prstGeom prst="rect">
            <a:avLst/>
          </a:prstGeom>
          <a:noFill/>
          <a:ln/>
        </p:spPr>
        <p:txBody>
          <a:bodyPr wrap="square" lIns="0" tIns="0" rIns="0" bIns="0" rtlCol="0" anchor="ctr"/>
          <a:lstStyle/>
          <a:p>
            <a:pPr marL="0" indent="0" algn="ctr">
              <a:buNone/>
            </a:pPr>
            <a:r>
              <a:rPr lang="en-US" sz="800" dirty="0">
                <a:solidFill>
                  <a:srgbClr val="0B1E3F"/>
                </a:solidFill>
                <a:latin typeface="Calibri" pitchFamily="34" charset="0"/>
                <a:ea typeface="Calibri" pitchFamily="34" charset="-122"/>
                <a:cs typeface="Calibri" pitchFamily="34" charset="-120"/>
              </a:rPr>
              <a:t>256</a:t>
            </a:r>
            <a:endParaRPr lang="en-US" sz="800" dirty="0"/>
          </a:p>
        </p:txBody>
      </p:sp>
      <p:sp>
        <p:nvSpPr>
          <p:cNvPr id="19" name="Shape 17"/>
          <p:cNvSpPr/>
          <p:nvPr/>
        </p:nvSpPr>
        <p:spPr>
          <a:xfrm>
            <a:off x="6144768" y="2011680"/>
            <a:ext cx="146304" cy="777240"/>
          </a:xfrm>
          <a:prstGeom prst="rect">
            <a:avLst/>
          </a:prstGeom>
          <a:solidFill>
            <a:srgbClr val="FFD3C0"/>
          </a:solidFill>
          <a:ln w="9525">
            <a:solidFill>
              <a:srgbClr val="FF6B35"/>
            </a:solidFill>
            <a:prstDash val="solid"/>
          </a:ln>
        </p:spPr>
        <p:txBody>
          <a:bodyPr/>
          <a:lstStyle/>
          <a:p>
            <a:endParaRPr lang="en-CN"/>
          </a:p>
        </p:txBody>
      </p:sp>
      <p:sp>
        <p:nvSpPr>
          <p:cNvPr id="20" name="Shape 18"/>
          <p:cNvSpPr/>
          <p:nvPr/>
        </p:nvSpPr>
        <p:spPr>
          <a:xfrm>
            <a:off x="6327648" y="2011680"/>
            <a:ext cx="146304" cy="777240"/>
          </a:xfrm>
          <a:prstGeom prst="rect">
            <a:avLst/>
          </a:prstGeom>
          <a:solidFill>
            <a:srgbClr val="FF6B35"/>
          </a:solidFill>
          <a:ln w="9525">
            <a:solidFill>
              <a:srgbClr val="FF6B35"/>
            </a:solidFill>
            <a:prstDash val="solid"/>
          </a:ln>
        </p:spPr>
        <p:txBody>
          <a:bodyPr/>
          <a:lstStyle/>
          <a:p>
            <a:endParaRPr lang="en-CN"/>
          </a:p>
        </p:txBody>
      </p:sp>
      <p:sp>
        <p:nvSpPr>
          <p:cNvPr id="21" name="Text 19"/>
          <p:cNvSpPr/>
          <p:nvPr/>
        </p:nvSpPr>
        <p:spPr>
          <a:xfrm>
            <a:off x="6035040" y="1810512"/>
            <a:ext cx="640080" cy="182880"/>
          </a:xfrm>
          <a:prstGeom prst="rect">
            <a:avLst/>
          </a:prstGeom>
          <a:noFill/>
          <a:ln/>
        </p:spPr>
        <p:txBody>
          <a:bodyPr wrap="square" lIns="0" tIns="0" rIns="0" bIns="0" rtlCol="0" anchor="ctr"/>
          <a:lstStyle/>
          <a:p>
            <a:pPr marL="0" indent="0" algn="ctr">
              <a:buNone/>
            </a:pPr>
            <a:r>
              <a:rPr lang="en-US" sz="800" dirty="0">
                <a:solidFill>
                  <a:srgbClr val="0B1E3F"/>
                </a:solidFill>
                <a:latin typeface="Calibri" pitchFamily="34" charset="0"/>
                <a:ea typeface="Calibri" pitchFamily="34" charset="-122"/>
                <a:cs typeface="Calibri" pitchFamily="34" charset="-120"/>
              </a:rPr>
              <a:t>256</a:t>
            </a:r>
            <a:endParaRPr lang="en-US" sz="800" dirty="0"/>
          </a:p>
        </p:txBody>
      </p:sp>
      <p:sp>
        <p:nvSpPr>
          <p:cNvPr id="22" name="Shape 20"/>
          <p:cNvSpPr/>
          <p:nvPr/>
        </p:nvSpPr>
        <p:spPr>
          <a:xfrm>
            <a:off x="3447288" y="2377440"/>
            <a:ext cx="146304" cy="1051560"/>
          </a:xfrm>
          <a:prstGeom prst="rect">
            <a:avLst/>
          </a:prstGeom>
          <a:solidFill>
            <a:srgbClr val="63A4FF"/>
          </a:solidFill>
          <a:ln w="9525">
            <a:solidFill>
              <a:srgbClr val="1565C0"/>
            </a:solidFill>
            <a:prstDash val="solid"/>
          </a:ln>
        </p:spPr>
        <p:txBody>
          <a:bodyPr/>
          <a:lstStyle/>
          <a:p>
            <a:endParaRPr lang="en-CN"/>
          </a:p>
        </p:txBody>
      </p:sp>
      <p:sp>
        <p:nvSpPr>
          <p:cNvPr id="23" name="Shape 21"/>
          <p:cNvSpPr/>
          <p:nvPr/>
        </p:nvSpPr>
        <p:spPr>
          <a:xfrm>
            <a:off x="3630168" y="2377440"/>
            <a:ext cx="146304" cy="1051560"/>
          </a:xfrm>
          <a:prstGeom prst="rect">
            <a:avLst/>
          </a:prstGeom>
          <a:solidFill>
            <a:srgbClr val="1565C0"/>
          </a:solidFill>
          <a:ln w="9525">
            <a:solidFill>
              <a:srgbClr val="1565C0"/>
            </a:solidFill>
            <a:prstDash val="solid"/>
          </a:ln>
        </p:spPr>
        <p:txBody>
          <a:bodyPr/>
          <a:lstStyle/>
          <a:p>
            <a:endParaRPr lang="en-CN"/>
          </a:p>
        </p:txBody>
      </p:sp>
      <p:sp>
        <p:nvSpPr>
          <p:cNvPr id="24" name="Text 22"/>
          <p:cNvSpPr/>
          <p:nvPr/>
        </p:nvSpPr>
        <p:spPr>
          <a:xfrm>
            <a:off x="3337560" y="2176272"/>
            <a:ext cx="640080" cy="182880"/>
          </a:xfrm>
          <a:prstGeom prst="rect">
            <a:avLst/>
          </a:prstGeom>
          <a:noFill/>
          <a:ln/>
        </p:spPr>
        <p:txBody>
          <a:bodyPr wrap="square" lIns="0" tIns="0" rIns="0" bIns="0" rtlCol="0" anchor="ctr"/>
          <a:lstStyle/>
          <a:p>
            <a:pPr marL="0" indent="0" algn="ctr">
              <a:buNone/>
            </a:pPr>
            <a:r>
              <a:rPr lang="en-US" sz="800" dirty="0">
                <a:solidFill>
                  <a:srgbClr val="0B1E3F"/>
                </a:solidFill>
                <a:latin typeface="Calibri" pitchFamily="34" charset="0"/>
                <a:ea typeface="Calibri" pitchFamily="34" charset="-122"/>
                <a:cs typeface="Calibri" pitchFamily="34" charset="-120"/>
              </a:rPr>
              <a:t>512</a:t>
            </a:r>
            <a:endParaRPr lang="en-US" sz="800" dirty="0"/>
          </a:p>
        </p:txBody>
      </p:sp>
      <p:sp>
        <p:nvSpPr>
          <p:cNvPr id="25" name="Shape 23"/>
          <p:cNvSpPr/>
          <p:nvPr/>
        </p:nvSpPr>
        <p:spPr>
          <a:xfrm>
            <a:off x="5276088" y="2377440"/>
            <a:ext cx="146304" cy="1051560"/>
          </a:xfrm>
          <a:prstGeom prst="rect">
            <a:avLst/>
          </a:prstGeom>
          <a:solidFill>
            <a:srgbClr val="FFD3C0"/>
          </a:solidFill>
          <a:ln w="9525">
            <a:solidFill>
              <a:srgbClr val="FF6B35"/>
            </a:solidFill>
            <a:prstDash val="solid"/>
          </a:ln>
        </p:spPr>
        <p:txBody>
          <a:bodyPr/>
          <a:lstStyle/>
          <a:p>
            <a:endParaRPr lang="en-CN"/>
          </a:p>
        </p:txBody>
      </p:sp>
      <p:sp>
        <p:nvSpPr>
          <p:cNvPr id="26" name="Shape 24"/>
          <p:cNvSpPr/>
          <p:nvPr/>
        </p:nvSpPr>
        <p:spPr>
          <a:xfrm>
            <a:off x="5458968" y="2377440"/>
            <a:ext cx="146304" cy="1051560"/>
          </a:xfrm>
          <a:prstGeom prst="rect">
            <a:avLst/>
          </a:prstGeom>
          <a:solidFill>
            <a:srgbClr val="FF6B35"/>
          </a:solidFill>
          <a:ln w="9525">
            <a:solidFill>
              <a:srgbClr val="FF6B35"/>
            </a:solidFill>
            <a:prstDash val="solid"/>
          </a:ln>
        </p:spPr>
        <p:txBody>
          <a:bodyPr/>
          <a:lstStyle/>
          <a:p>
            <a:endParaRPr lang="en-CN"/>
          </a:p>
        </p:txBody>
      </p:sp>
      <p:sp>
        <p:nvSpPr>
          <p:cNvPr id="27" name="Text 25"/>
          <p:cNvSpPr/>
          <p:nvPr/>
        </p:nvSpPr>
        <p:spPr>
          <a:xfrm>
            <a:off x="5166360" y="2176272"/>
            <a:ext cx="640080" cy="182880"/>
          </a:xfrm>
          <a:prstGeom prst="rect">
            <a:avLst/>
          </a:prstGeom>
          <a:noFill/>
          <a:ln/>
        </p:spPr>
        <p:txBody>
          <a:bodyPr wrap="square" lIns="0" tIns="0" rIns="0" bIns="0" rtlCol="0" anchor="ctr"/>
          <a:lstStyle/>
          <a:p>
            <a:pPr marL="0" indent="0" algn="ctr">
              <a:buNone/>
            </a:pPr>
            <a:r>
              <a:rPr lang="en-US" sz="800" dirty="0">
                <a:solidFill>
                  <a:srgbClr val="0B1E3F"/>
                </a:solidFill>
                <a:latin typeface="Calibri" pitchFamily="34" charset="0"/>
                <a:ea typeface="Calibri" pitchFamily="34" charset="-122"/>
                <a:cs typeface="Calibri" pitchFamily="34" charset="-120"/>
              </a:rPr>
              <a:t>512</a:t>
            </a:r>
            <a:endParaRPr lang="en-US" sz="800" dirty="0"/>
          </a:p>
        </p:txBody>
      </p:sp>
      <p:sp>
        <p:nvSpPr>
          <p:cNvPr id="28" name="Shape 26"/>
          <p:cNvSpPr/>
          <p:nvPr/>
        </p:nvSpPr>
        <p:spPr>
          <a:xfrm>
            <a:off x="4315968" y="2834640"/>
            <a:ext cx="146304" cy="1417320"/>
          </a:xfrm>
          <a:prstGeom prst="rect">
            <a:avLst/>
          </a:prstGeom>
          <a:solidFill>
            <a:srgbClr val="63A4FF"/>
          </a:solidFill>
          <a:ln w="9525">
            <a:solidFill>
              <a:srgbClr val="1565C0"/>
            </a:solidFill>
            <a:prstDash val="solid"/>
          </a:ln>
        </p:spPr>
        <p:txBody>
          <a:bodyPr/>
          <a:lstStyle/>
          <a:p>
            <a:endParaRPr lang="en-CN"/>
          </a:p>
        </p:txBody>
      </p:sp>
      <p:sp>
        <p:nvSpPr>
          <p:cNvPr id="29" name="Shape 27"/>
          <p:cNvSpPr/>
          <p:nvPr/>
        </p:nvSpPr>
        <p:spPr>
          <a:xfrm>
            <a:off x="4498848" y="2834640"/>
            <a:ext cx="146304" cy="1417320"/>
          </a:xfrm>
          <a:prstGeom prst="rect">
            <a:avLst/>
          </a:prstGeom>
          <a:solidFill>
            <a:srgbClr val="1565C0"/>
          </a:solidFill>
          <a:ln w="9525">
            <a:solidFill>
              <a:srgbClr val="1565C0"/>
            </a:solidFill>
            <a:prstDash val="solid"/>
          </a:ln>
        </p:spPr>
        <p:txBody>
          <a:bodyPr/>
          <a:lstStyle/>
          <a:p>
            <a:endParaRPr lang="en-CN"/>
          </a:p>
        </p:txBody>
      </p:sp>
      <p:sp>
        <p:nvSpPr>
          <p:cNvPr id="30" name="Text 28"/>
          <p:cNvSpPr/>
          <p:nvPr/>
        </p:nvSpPr>
        <p:spPr>
          <a:xfrm>
            <a:off x="4206240" y="2633472"/>
            <a:ext cx="640080" cy="182880"/>
          </a:xfrm>
          <a:prstGeom prst="rect">
            <a:avLst/>
          </a:prstGeom>
          <a:noFill/>
          <a:ln/>
        </p:spPr>
        <p:txBody>
          <a:bodyPr wrap="square" lIns="0" tIns="0" rIns="0" bIns="0" rtlCol="0" anchor="ctr"/>
          <a:lstStyle/>
          <a:p>
            <a:pPr marL="0" indent="0" algn="ctr">
              <a:buNone/>
            </a:pPr>
            <a:r>
              <a:rPr lang="en-US" sz="800" dirty="0">
                <a:solidFill>
                  <a:srgbClr val="0B1E3F"/>
                </a:solidFill>
                <a:latin typeface="Calibri" pitchFamily="34" charset="0"/>
                <a:ea typeface="Calibri" pitchFamily="34" charset="-122"/>
                <a:cs typeface="Calibri" pitchFamily="34" charset="-120"/>
              </a:rPr>
              <a:t>1024</a:t>
            </a:r>
            <a:endParaRPr lang="en-US" sz="800" dirty="0"/>
          </a:p>
        </p:txBody>
      </p:sp>
      <p:sp>
        <p:nvSpPr>
          <p:cNvPr id="31" name="Shape 29"/>
          <p:cNvSpPr/>
          <p:nvPr/>
        </p:nvSpPr>
        <p:spPr>
          <a:xfrm>
            <a:off x="1005840" y="1801368"/>
            <a:ext cx="868680" cy="0"/>
          </a:xfrm>
          <a:prstGeom prst="line">
            <a:avLst/>
          </a:prstGeom>
          <a:noFill/>
          <a:ln w="17780">
            <a:solidFill>
              <a:srgbClr val="C81E1E"/>
            </a:solidFill>
            <a:prstDash val="solid"/>
            <a:tailEnd type="triangle"/>
          </a:ln>
        </p:spPr>
        <p:txBody>
          <a:bodyPr/>
          <a:lstStyle/>
          <a:p>
            <a:endParaRPr lang="en-CN"/>
          </a:p>
        </p:txBody>
      </p:sp>
      <p:sp>
        <p:nvSpPr>
          <p:cNvPr id="32" name="Shape 30"/>
          <p:cNvSpPr/>
          <p:nvPr/>
        </p:nvSpPr>
        <p:spPr>
          <a:xfrm>
            <a:off x="1874520" y="2258568"/>
            <a:ext cx="868680" cy="0"/>
          </a:xfrm>
          <a:prstGeom prst="line">
            <a:avLst/>
          </a:prstGeom>
          <a:noFill/>
          <a:ln w="17780">
            <a:solidFill>
              <a:srgbClr val="C81E1E"/>
            </a:solidFill>
            <a:prstDash val="solid"/>
            <a:tailEnd type="triangle"/>
          </a:ln>
        </p:spPr>
        <p:txBody>
          <a:bodyPr/>
          <a:lstStyle/>
          <a:p>
            <a:endParaRPr lang="en-CN"/>
          </a:p>
        </p:txBody>
      </p:sp>
      <p:sp>
        <p:nvSpPr>
          <p:cNvPr id="33" name="Shape 31"/>
          <p:cNvSpPr/>
          <p:nvPr/>
        </p:nvSpPr>
        <p:spPr>
          <a:xfrm>
            <a:off x="2743200" y="2807208"/>
            <a:ext cx="868680" cy="0"/>
          </a:xfrm>
          <a:prstGeom prst="line">
            <a:avLst/>
          </a:prstGeom>
          <a:noFill/>
          <a:ln w="17780">
            <a:solidFill>
              <a:srgbClr val="C81E1E"/>
            </a:solidFill>
            <a:prstDash val="solid"/>
            <a:tailEnd type="triangle"/>
          </a:ln>
        </p:spPr>
        <p:txBody>
          <a:bodyPr/>
          <a:lstStyle/>
          <a:p>
            <a:endParaRPr lang="en-CN"/>
          </a:p>
        </p:txBody>
      </p:sp>
      <p:sp>
        <p:nvSpPr>
          <p:cNvPr id="34" name="Shape 32"/>
          <p:cNvSpPr/>
          <p:nvPr/>
        </p:nvSpPr>
        <p:spPr>
          <a:xfrm>
            <a:off x="3611880" y="3447288"/>
            <a:ext cx="868680" cy="0"/>
          </a:xfrm>
          <a:prstGeom prst="line">
            <a:avLst/>
          </a:prstGeom>
          <a:noFill/>
          <a:ln w="17780">
            <a:solidFill>
              <a:srgbClr val="C81E1E"/>
            </a:solidFill>
            <a:prstDash val="solid"/>
            <a:tailEnd type="triangle"/>
          </a:ln>
        </p:spPr>
        <p:txBody>
          <a:bodyPr/>
          <a:lstStyle/>
          <a:p>
            <a:endParaRPr lang="en-CN"/>
          </a:p>
        </p:txBody>
      </p:sp>
      <p:sp>
        <p:nvSpPr>
          <p:cNvPr id="35" name="Shape 33"/>
          <p:cNvSpPr/>
          <p:nvPr/>
        </p:nvSpPr>
        <p:spPr>
          <a:xfrm>
            <a:off x="4480560" y="2798064"/>
            <a:ext cx="960120" cy="649224"/>
          </a:xfrm>
          <a:prstGeom prst="line">
            <a:avLst/>
          </a:prstGeom>
          <a:noFill/>
          <a:ln w="17780">
            <a:solidFill>
              <a:srgbClr val="10B981"/>
            </a:solidFill>
            <a:prstDash val="solid"/>
            <a:tailEnd type="triangle"/>
          </a:ln>
        </p:spPr>
        <p:txBody>
          <a:bodyPr/>
          <a:lstStyle/>
          <a:p>
            <a:endParaRPr lang="en-CN"/>
          </a:p>
        </p:txBody>
      </p:sp>
      <p:sp>
        <p:nvSpPr>
          <p:cNvPr id="36" name="Shape 34"/>
          <p:cNvSpPr/>
          <p:nvPr/>
        </p:nvSpPr>
        <p:spPr>
          <a:xfrm>
            <a:off x="5440680" y="2340864"/>
            <a:ext cx="868680" cy="466344"/>
          </a:xfrm>
          <a:prstGeom prst="line">
            <a:avLst/>
          </a:prstGeom>
          <a:noFill/>
          <a:ln w="17780">
            <a:solidFill>
              <a:srgbClr val="10B981"/>
            </a:solidFill>
            <a:prstDash val="solid"/>
            <a:tailEnd type="triangle"/>
          </a:ln>
        </p:spPr>
        <p:txBody>
          <a:bodyPr/>
          <a:lstStyle/>
          <a:p>
            <a:endParaRPr lang="en-CN"/>
          </a:p>
        </p:txBody>
      </p:sp>
      <p:sp>
        <p:nvSpPr>
          <p:cNvPr id="37" name="Shape 35"/>
          <p:cNvSpPr/>
          <p:nvPr/>
        </p:nvSpPr>
        <p:spPr>
          <a:xfrm>
            <a:off x="6309360" y="1975104"/>
            <a:ext cx="868680" cy="283464"/>
          </a:xfrm>
          <a:prstGeom prst="line">
            <a:avLst/>
          </a:prstGeom>
          <a:noFill/>
          <a:ln w="17780">
            <a:solidFill>
              <a:srgbClr val="10B981"/>
            </a:solidFill>
            <a:prstDash val="solid"/>
            <a:tailEnd type="triangle"/>
          </a:ln>
        </p:spPr>
        <p:txBody>
          <a:bodyPr/>
          <a:lstStyle/>
          <a:p>
            <a:endParaRPr lang="en-CN"/>
          </a:p>
        </p:txBody>
      </p:sp>
      <p:sp>
        <p:nvSpPr>
          <p:cNvPr id="38" name="Shape 36"/>
          <p:cNvSpPr/>
          <p:nvPr/>
        </p:nvSpPr>
        <p:spPr>
          <a:xfrm>
            <a:off x="7178040" y="1655064"/>
            <a:ext cx="868680" cy="146304"/>
          </a:xfrm>
          <a:prstGeom prst="line">
            <a:avLst/>
          </a:prstGeom>
          <a:noFill/>
          <a:ln w="17780">
            <a:solidFill>
              <a:srgbClr val="10B981"/>
            </a:solidFill>
            <a:prstDash val="solid"/>
            <a:tailEnd type="triangle"/>
          </a:ln>
        </p:spPr>
        <p:txBody>
          <a:bodyPr/>
          <a:lstStyle/>
          <a:p>
            <a:endParaRPr lang="en-CN"/>
          </a:p>
        </p:txBody>
      </p:sp>
      <p:sp>
        <p:nvSpPr>
          <p:cNvPr id="39" name="Shape 37"/>
          <p:cNvSpPr/>
          <p:nvPr/>
        </p:nvSpPr>
        <p:spPr>
          <a:xfrm>
            <a:off x="1152144" y="1581912"/>
            <a:ext cx="6748272" cy="0"/>
          </a:xfrm>
          <a:prstGeom prst="line">
            <a:avLst/>
          </a:prstGeom>
          <a:noFill/>
          <a:ln w="17780">
            <a:solidFill>
              <a:srgbClr val="FF6B35"/>
            </a:solidFill>
            <a:prstDash val="dash"/>
            <a:tailEnd type="triangle"/>
          </a:ln>
        </p:spPr>
        <p:txBody>
          <a:bodyPr/>
          <a:lstStyle/>
          <a:p>
            <a:endParaRPr lang="en-CN"/>
          </a:p>
        </p:txBody>
      </p:sp>
      <p:sp>
        <p:nvSpPr>
          <p:cNvPr id="40" name="Shape 38"/>
          <p:cNvSpPr/>
          <p:nvPr/>
        </p:nvSpPr>
        <p:spPr>
          <a:xfrm>
            <a:off x="2020824" y="1856232"/>
            <a:ext cx="5010912" cy="0"/>
          </a:xfrm>
          <a:prstGeom prst="line">
            <a:avLst/>
          </a:prstGeom>
          <a:noFill/>
          <a:ln w="17780">
            <a:solidFill>
              <a:srgbClr val="FF6B35"/>
            </a:solidFill>
            <a:prstDash val="dash"/>
            <a:tailEnd type="triangle"/>
          </a:ln>
        </p:spPr>
        <p:txBody>
          <a:bodyPr/>
          <a:lstStyle/>
          <a:p>
            <a:endParaRPr lang="en-CN"/>
          </a:p>
        </p:txBody>
      </p:sp>
      <p:sp>
        <p:nvSpPr>
          <p:cNvPr id="41" name="Shape 39"/>
          <p:cNvSpPr/>
          <p:nvPr/>
        </p:nvSpPr>
        <p:spPr>
          <a:xfrm>
            <a:off x="2889504" y="2176272"/>
            <a:ext cx="3273552" cy="0"/>
          </a:xfrm>
          <a:prstGeom prst="line">
            <a:avLst/>
          </a:prstGeom>
          <a:noFill/>
          <a:ln w="17780">
            <a:solidFill>
              <a:srgbClr val="FF6B35"/>
            </a:solidFill>
            <a:prstDash val="dash"/>
            <a:tailEnd type="triangle"/>
          </a:ln>
        </p:spPr>
        <p:txBody>
          <a:bodyPr/>
          <a:lstStyle/>
          <a:p>
            <a:endParaRPr lang="en-CN"/>
          </a:p>
        </p:txBody>
      </p:sp>
      <p:sp>
        <p:nvSpPr>
          <p:cNvPr id="42" name="Shape 40"/>
          <p:cNvSpPr/>
          <p:nvPr/>
        </p:nvSpPr>
        <p:spPr>
          <a:xfrm>
            <a:off x="3758184" y="2542032"/>
            <a:ext cx="1536192" cy="0"/>
          </a:xfrm>
          <a:prstGeom prst="line">
            <a:avLst/>
          </a:prstGeom>
          <a:noFill/>
          <a:ln w="17780">
            <a:solidFill>
              <a:srgbClr val="FF6B35"/>
            </a:solidFill>
            <a:prstDash val="dash"/>
            <a:tailEnd type="triangle"/>
          </a:ln>
        </p:spPr>
        <p:txBody>
          <a:bodyPr/>
          <a:lstStyle/>
          <a:p>
            <a:endParaRPr lang="en-CN"/>
          </a:p>
        </p:txBody>
      </p:sp>
      <p:sp>
        <p:nvSpPr>
          <p:cNvPr id="43" name="Shape 41"/>
          <p:cNvSpPr/>
          <p:nvPr/>
        </p:nvSpPr>
        <p:spPr>
          <a:xfrm>
            <a:off x="502920" y="1508760"/>
            <a:ext cx="457200" cy="457200"/>
          </a:xfrm>
          <a:prstGeom prst="rect">
            <a:avLst/>
          </a:prstGeom>
          <a:solidFill>
            <a:srgbClr val="EAF2FB"/>
          </a:solidFill>
          <a:ln w="12700">
            <a:solidFill>
              <a:srgbClr val="1565C0"/>
            </a:solidFill>
            <a:prstDash val="solid"/>
          </a:ln>
        </p:spPr>
        <p:txBody>
          <a:bodyPr/>
          <a:lstStyle/>
          <a:p>
            <a:endParaRPr lang="en-CN"/>
          </a:p>
        </p:txBody>
      </p:sp>
      <p:sp>
        <p:nvSpPr>
          <p:cNvPr id="44" name="Text 42"/>
          <p:cNvSpPr/>
          <p:nvPr/>
        </p:nvSpPr>
        <p:spPr>
          <a:xfrm>
            <a:off x="457200" y="2011680"/>
            <a:ext cx="548640" cy="292608"/>
          </a:xfrm>
          <a:prstGeom prst="rect">
            <a:avLst/>
          </a:prstGeom>
          <a:noFill/>
          <a:ln/>
        </p:spPr>
        <p:txBody>
          <a:bodyPr wrap="square" lIns="0" tIns="0" rIns="0" bIns="0" rtlCol="0" anchor="ctr"/>
          <a:lstStyle/>
          <a:p>
            <a:pPr marL="0" indent="0" algn="ctr">
              <a:buNone/>
            </a:pPr>
            <a:r>
              <a:rPr lang="en-US" sz="900" i="1" dirty="0">
                <a:solidFill>
                  <a:srgbClr val="475569"/>
                </a:solidFill>
                <a:latin typeface="Calibri" pitchFamily="34" charset="0"/>
                <a:ea typeface="Calibri" pitchFamily="34" charset="-122"/>
                <a:cs typeface="Calibri" pitchFamily="34" charset="-120"/>
              </a:rPr>
              <a:t>输入</a:t>
            </a:r>
            <a:endParaRPr lang="en-US" sz="900" dirty="0"/>
          </a:p>
          <a:p>
            <a:pPr marL="0" indent="0" algn="ctr">
              <a:buNone/>
            </a:pPr>
            <a:r>
              <a:rPr lang="en-US" sz="900" i="1" dirty="0">
                <a:solidFill>
                  <a:srgbClr val="475569"/>
                </a:solidFill>
                <a:latin typeface="Calibri" pitchFamily="34" charset="0"/>
                <a:ea typeface="Calibri" pitchFamily="34" charset="-122"/>
                <a:cs typeface="Calibri" pitchFamily="34" charset="-120"/>
              </a:rPr>
              <a:t>图像块</a:t>
            </a:r>
            <a:endParaRPr lang="en-US" sz="900" dirty="0"/>
          </a:p>
        </p:txBody>
      </p:sp>
      <p:sp>
        <p:nvSpPr>
          <p:cNvPr id="45" name="Shape 43"/>
          <p:cNvSpPr/>
          <p:nvPr/>
        </p:nvSpPr>
        <p:spPr>
          <a:xfrm>
            <a:off x="8503920" y="1508760"/>
            <a:ext cx="457200" cy="457200"/>
          </a:xfrm>
          <a:prstGeom prst="rect">
            <a:avLst/>
          </a:prstGeom>
          <a:solidFill>
            <a:srgbClr val="FFD3C0"/>
          </a:solidFill>
          <a:ln w="12700">
            <a:solidFill>
              <a:srgbClr val="FF6B35"/>
            </a:solidFill>
            <a:prstDash val="solid"/>
          </a:ln>
        </p:spPr>
        <p:txBody>
          <a:bodyPr/>
          <a:lstStyle/>
          <a:p>
            <a:endParaRPr lang="en-CN"/>
          </a:p>
        </p:txBody>
      </p:sp>
      <p:sp>
        <p:nvSpPr>
          <p:cNvPr id="46" name="Text 44"/>
          <p:cNvSpPr/>
          <p:nvPr/>
        </p:nvSpPr>
        <p:spPr>
          <a:xfrm>
            <a:off x="8458200" y="2011680"/>
            <a:ext cx="548640" cy="292608"/>
          </a:xfrm>
          <a:prstGeom prst="rect">
            <a:avLst/>
          </a:prstGeom>
          <a:noFill/>
          <a:ln/>
        </p:spPr>
        <p:txBody>
          <a:bodyPr wrap="square" lIns="0" tIns="0" rIns="0" bIns="0" rtlCol="0" anchor="ctr"/>
          <a:lstStyle/>
          <a:p>
            <a:pPr marL="0" indent="0" algn="ctr">
              <a:buNone/>
            </a:pPr>
            <a:r>
              <a:rPr lang="en-US" sz="900" i="1" dirty="0">
                <a:solidFill>
                  <a:srgbClr val="475569"/>
                </a:solidFill>
                <a:latin typeface="Calibri" pitchFamily="34" charset="0"/>
                <a:ea typeface="Calibri" pitchFamily="34" charset="-122"/>
                <a:cs typeface="Calibri" pitchFamily="34" charset="-120"/>
              </a:rPr>
              <a:t>分割</a:t>
            </a:r>
            <a:endParaRPr lang="en-US" sz="900" dirty="0"/>
          </a:p>
          <a:p>
            <a:pPr marL="0" indent="0" algn="ctr">
              <a:buNone/>
            </a:pPr>
            <a:r>
              <a:rPr lang="en-US" sz="900" i="1" dirty="0">
                <a:solidFill>
                  <a:srgbClr val="475569"/>
                </a:solidFill>
                <a:latin typeface="Calibri" pitchFamily="34" charset="0"/>
                <a:ea typeface="Calibri" pitchFamily="34" charset="-122"/>
                <a:cs typeface="Calibri" pitchFamily="34" charset="-120"/>
              </a:rPr>
              <a:t>结果</a:t>
            </a:r>
            <a:endParaRPr lang="en-US" sz="900" dirty="0"/>
          </a:p>
        </p:txBody>
      </p:sp>
      <p:sp>
        <p:nvSpPr>
          <p:cNvPr id="47" name="Shape 45"/>
          <p:cNvSpPr/>
          <p:nvPr/>
        </p:nvSpPr>
        <p:spPr>
          <a:xfrm>
            <a:off x="502920" y="4562856"/>
            <a:ext cx="109728" cy="109728"/>
          </a:xfrm>
          <a:prstGeom prst="rect">
            <a:avLst/>
          </a:prstGeom>
          <a:solidFill>
            <a:srgbClr val="1565C0"/>
          </a:solidFill>
          <a:ln w="12700">
            <a:solidFill>
              <a:srgbClr val="1565C0"/>
            </a:solidFill>
            <a:prstDash val="solid"/>
          </a:ln>
        </p:spPr>
        <p:txBody>
          <a:bodyPr/>
          <a:lstStyle/>
          <a:p>
            <a:endParaRPr lang="en-CN"/>
          </a:p>
        </p:txBody>
      </p:sp>
      <p:sp>
        <p:nvSpPr>
          <p:cNvPr id="48" name="Text 46"/>
          <p:cNvSpPr/>
          <p:nvPr/>
        </p:nvSpPr>
        <p:spPr>
          <a:xfrm>
            <a:off x="667512" y="4526280"/>
            <a:ext cx="1645920" cy="1828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3x3卷积 + ReLU</a:t>
            </a:r>
            <a:endParaRPr lang="en-US" sz="900" dirty="0"/>
          </a:p>
        </p:txBody>
      </p:sp>
      <p:sp>
        <p:nvSpPr>
          <p:cNvPr id="49" name="Shape 47"/>
          <p:cNvSpPr/>
          <p:nvPr/>
        </p:nvSpPr>
        <p:spPr>
          <a:xfrm>
            <a:off x="2240280" y="4617720"/>
            <a:ext cx="182880" cy="0"/>
          </a:xfrm>
          <a:prstGeom prst="line">
            <a:avLst/>
          </a:prstGeom>
          <a:noFill/>
          <a:ln w="17780">
            <a:solidFill>
              <a:srgbClr val="C81E1E"/>
            </a:solidFill>
            <a:prstDash val="solid"/>
            <a:tailEnd type="triangle"/>
          </a:ln>
        </p:spPr>
        <p:txBody>
          <a:bodyPr/>
          <a:lstStyle/>
          <a:p>
            <a:endParaRPr lang="en-CN"/>
          </a:p>
        </p:txBody>
      </p:sp>
      <p:sp>
        <p:nvSpPr>
          <p:cNvPr id="50" name="Text 48"/>
          <p:cNvSpPr/>
          <p:nvPr/>
        </p:nvSpPr>
        <p:spPr>
          <a:xfrm>
            <a:off x="2468880" y="4526280"/>
            <a:ext cx="1280160" cy="1828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2x2最大池化</a:t>
            </a:r>
            <a:endParaRPr lang="en-US" sz="900" dirty="0"/>
          </a:p>
        </p:txBody>
      </p:sp>
      <p:sp>
        <p:nvSpPr>
          <p:cNvPr id="51" name="Shape 49"/>
          <p:cNvSpPr/>
          <p:nvPr/>
        </p:nvSpPr>
        <p:spPr>
          <a:xfrm>
            <a:off x="3703320" y="4617720"/>
            <a:ext cx="182880" cy="0"/>
          </a:xfrm>
          <a:prstGeom prst="line">
            <a:avLst/>
          </a:prstGeom>
          <a:noFill/>
          <a:ln w="17780">
            <a:solidFill>
              <a:srgbClr val="10B981"/>
            </a:solidFill>
            <a:prstDash val="solid"/>
            <a:tailEnd type="triangle"/>
          </a:ln>
        </p:spPr>
        <p:txBody>
          <a:bodyPr/>
          <a:lstStyle/>
          <a:p>
            <a:endParaRPr lang="en-CN"/>
          </a:p>
        </p:txBody>
      </p:sp>
      <p:sp>
        <p:nvSpPr>
          <p:cNvPr id="52" name="Text 50"/>
          <p:cNvSpPr/>
          <p:nvPr/>
        </p:nvSpPr>
        <p:spPr>
          <a:xfrm>
            <a:off x="3931920" y="4526280"/>
            <a:ext cx="1280160" cy="1828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2x2上卷积</a:t>
            </a:r>
            <a:endParaRPr lang="en-US" sz="900" dirty="0"/>
          </a:p>
        </p:txBody>
      </p:sp>
      <p:sp>
        <p:nvSpPr>
          <p:cNvPr id="53" name="Shape 51"/>
          <p:cNvSpPr/>
          <p:nvPr/>
        </p:nvSpPr>
        <p:spPr>
          <a:xfrm>
            <a:off x="5120640" y="4617720"/>
            <a:ext cx="182880" cy="0"/>
          </a:xfrm>
          <a:prstGeom prst="line">
            <a:avLst/>
          </a:prstGeom>
          <a:noFill/>
          <a:ln w="17780">
            <a:solidFill>
              <a:srgbClr val="FF6B35"/>
            </a:solidFill>
            <a:prstDash val="dash"/>
            <a:tailEnd type="triangle"/>
          </a:ln>
        </p:spPr>
        <p:txBody>
          <a:bodyPr/>
          <a:lstStyle/>
          <a:p>
            <a:endParaRPr lang="en-CN"/>
          </a:p>
        </p:txBody>
      </p:sp>
      <p:sp>
        <p:nvSpPr>
          <p:cNvPr id="54" name="Text 52"/>
          <p:cNvSpPr/>
          <p:nvPr/>
        </p:nvSpPr>
        <p:spPr>
          <a:xfrm>
            <a:off x="5349240" y="4526280"/>
            <a:ext cx="1280160" cy="1828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复制 + 拼接</a:t>
            </a:r>
            <a:endParaRPr lang="en-US" sz="900" dirty="0"/>
          </a:p>
        </p:txBody>
      </p:sp>
      <p:sp>
        <p:nvSpPr>
          <p:cNvPr id="55" name="Shape 53"/>
          <p:cNvSpPr/>
          <p:nvPr/>
        </p:nvSpPr>
        <p:spPr>
          <a:xfrm>
            <a:off x="6629400" y="4562856"/>
            <a:ext cx="109728" cy="109728"/>
          </a:xfrm>
          <a:prstGeom prst="rect">
            <a:avLst/>
          </a:prstGeom>
          <a:solidFill>
            <a:srgbClr val="FF6B35"/>
          </a:solidFill>
          <a:ln w="12700">
            <a:solidFill>
              <a:srgbClr val="FF6B35"/>
            </a:solidFill>
            <a:prstDash val="solid"/>
          </a:ln>
        </p:spPr>
        <p:txBody>
          <a:bodyPr/>
          <a:lstStyle/>
          <a:p>
            <a:endParaRPr lang="en-CN"/>
          </a:p>
        </p:txBody>
      </p:sp>
      <p:sp>
        <p:nvSpPr>
          <p:cNvPr id="56" name="Text 54"/>
          <p:cNvSpPr/>
          <p:nvPr/>
        </p:nvSpPr>
        <p:spPr>
          <a:xfrm>
            <a:off x="6793992" y="4526280"/>
            <a:ext cx="1645920" cy="1828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上采样路径特征</a:t>
            </a:r>
            <a:endParaRPr lang="en-US" sz="900" dirty="0"/>
          </a:p>
        </p:txBody>
      </p:sp>
      <p:sp>
        <p:nvSpPr>
          <p:cNvPr id="57" name="Shape 55"/>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58" name="Text 56"/>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59" name="Text 57"/>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5 / 22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收缩路径</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编码器——捕获上下文，每步通道数翻倍</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120640" cy="914400"/>
        </p:xfrm>
        <a:graphic>
          <a:graphicData uri="http://schemas.openxmlformats.org/drawingml/2006/table">
            <a:tbl>
              <a:tblPr/>
              <a:tblGrid>
                <a:gridCol w="9601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层级</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E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空间尺寸 (输入-&gt;输出)</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E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通道数</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E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模块</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E3F"/>
                    </a:solidFill>
                  </a:tcPr>
                </a:tc>
                <a:extLst>
                  <a:ext uri="{0D108BD9-81ED-4DB2-BD59-A6C34878D82A}">
                    <a16:rowId xmlns:a16="http://schemas.microsoft.com/office/drawing/2014/main" val="10000"/>
                  </a:ext>
                </a:extLst>
              </a:tr>
              <a:tr h="310896">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L1</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572 → 568</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 → 64</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3x3卷积x2 + ReLU</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L2</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284 → 280</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64 → 128</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2x2最大池化 -&gt; 3x3卷积x2</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extLst>
                  <a:ext uri="{0D108BD9-81ED-4DB2-BD59-A6C34878D82A}">
                    <a16:rowId xmlns:a16="http://schemas.microsoft.com/office/drawing/2014/main" val="10002"/>
                  </a:ext>
                </a:extLst>
              </a:tr>
              <a:tr h="310896">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L3</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140 → 136</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128 → 256</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2x2最大池化 -&gt; 3x3卷积x2</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L4</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68  → 64</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256 → 512</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2x2最大池化 -&gt; 3x3卷积x2</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extLst>
                  <a:ext uri="{0D108BD9-81ED-4DB2-BD59-A6C34878D82A}">
                    <a16:rowId xmlns:a16="http://schemas.microsoft.com/office/drawing/2014/main" val="10004"/>
                  </a:ext>
                </a:extLst>
              </a:tr>
              <a:tr h="310896">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L5（瓶颈层）</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32 → 28</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512 → 1024</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2x2最大池化 -&gt; 3x3卷积x2</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760720" y="1417320"/>
            <a:ext cx="2926080" cy="3017520"/>
          </a:xfrm>
          <a:prstGeom prst="rect">
            <a:avLst/>
          </a:prstGeom>
          <a:solidFill>
            <a:srgbClr val="0B1E3F"/>
          </a:solidFill>
          <a:ln w="12700">
            <a:solidFill>
              <a:srgbClr val="0B1E3F"/>
            </a:solidFill>
            <a:prstDash val="solid"/>
          </a:ln>
        </p:spPr>
        <p:txBody>
          <a:bodyPr/>
          <a:lstStyle/>
          <a:p>
            <a:endParaRPr lang="en-CN"/>
          </a:p>
        </p:txBody>
      </p:sp>
      <p:sp>
        <p:nvSpPr>
          <p:cNvPr id="6" name="Shape 3"/>
          <p:cNvSpPr/>
          <p:nvPr/>
        </p:nvSpPr>
        <p:spPr>
          <a:xfrm>
            <a:off x="5760720" y="1417320"/>
            <a:ext cx="73152" cy="3017520"/>
          </a:xfrm>
          <a:prstGeom prst="rect">
            <a:avLst/>
          </a:prstGeom>
          <a:solidFill>
            <a:srgbClr val="FF6B35"/>
          </a:solidFill>
          <a:ln w="12700">
            <a:solidFill>
              <a:srgbClr val="FF6B35"/>
            </a:solidFill>
            <a:prstDash val="solid"/>
          </a:ln>
        </p:spPr>
        <p:txBody>
          <a:bodyPr/>
          <a:lstStyle/>
          <a:p>
            <a:endParaRPr lang="en-CN"/>
          </a:p>
        </p:txBody>
      </p:sp>
      <p:sp>
        <p:nvSpPr>
          <p:cNvPr id="4" name="Text 4"/>
          <p:cNvSpPr/>
          <p:nvPr/>
        </p:nvSpPr>
        <p:spPr>
          <a:xfrm>
            <a:off x="5989320" y="1508760"/>
            <a:ext cx="2560320" cy="32004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设计规则</a:t>
            </a:r>
            <a:endParaRPr lang="en-US" sz="1400" dirty="0"/>
          </a:p>
        </p:txBody>
      </p:sp>
      <p:sp>
        <p:nvSpPr>
          <p:cNvPr id="8" name="Text 5"/>
          <p:cNvSpPr/>
          <p:nvPr/>
        </p:nvSpPr>
        <p:spPr>
          <a:xfrm>
            <a:off x="5989320" y="1874520"/>
            <a:ext cx="2606040" cy="2514600"/>
          </a:xfrm>
          <a:prstGeom prst="rect">
            <a:avLst/>
          </a:prstGeom>
          <a:noFill/>
          <a:ln/>
        </p:spPr>
        <p:txBody>
          <a:bodyPr wrap="square" rtlCol="0" anchor="ctr"/>
          <a:lstStyle/>
          <a:p>
            <a:pPr marL="342900" indent="-3429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无填充("valid")3x3卷积——每层每边裁剪1像素。</a:t>
            </a:r>
            <a:endParaRPr lang="en-US" sz="1150" dirty="0"/>
          </a:p>
          <a:p>
            <a:pPr marL="342900" indent="-3429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每个卷积后接ReLU。</a:t>
            </a:r>
            <a:endParaRPr lang="en-US" sz="1150" dirty="0"/>
          </a:p>
          <a:p>
            <a:pPr marL="342900" indent="-3429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用2x2最大池化（步幅2）进行下采样。</a:t>
            </a:r>
            <a:endParaRPr lang="en-US" sz="1150" dirty="0"/>
          </a:p>
          <a:p>
            <a:pPr marL="342900" indent="-3429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每次下采样通道数翻倍（2的幂次）。</a:t>
            </a:r>
            <a:endParaRPr lang="en-US" sz="1150" dirty="0"/>
          </a:p>
          <a:p>
            <a:pPr marL="342900" indent="-342900">
              <a:buSzPct val="100000"/>
              <a:buChar char="■"/>
            </a:pPr>
            <a:r>
              <a:rPr lang="en-US" sz="1150" dirty="0">
                <a:solidFill>
                  <a:srgbClr val="E2E8F0"/>
                </a:solidFill>
                <a:latin typeface="Calibri" pitchFamily="34" charset="0"/>
                <a:ea typeface="Calibri" pitchFamily="34" charset="-122"/>
                <a:cs typeface="Calibri" pitchFamily="34" charset="-120"/>
              </a:rPr>
              <a:t>瓶颈层的感受野覆盖整个上下文。</a:t>
            </a:r>
            <a:endParaRPr lang="en-US" sz="1150" dirty="0"/>
          </a:p>
        </p:txBody>
      </p:sp>
      <p:sp>
        <p:nvSpPr>
          <p:cNvPr id="9" name="Shape 6"/>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10" name="Text 7"/>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11" name="Text 8"/>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6 / 22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扩展路径</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解码器——恢复分辨率，融合跳跃连接的细节</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120640" cy="914400"/>
        </p:xfrm>
        <a:graphic>
          <a:graphicData uri="http://schemas.openxmlformats.org/drawingml/2006/table">
            <a:tbl>
              <a:tblPr/>
              <a:tblGrid>
                <a:gridCol w="6400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步骤</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E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操作</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E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通道数</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E3F"/>
                    </a:solidFill>
                  </a:tcPr>
                </a:tc>
                <a:extLst>
                  <a:ext uri="{0D108BD9-81ED-4DB2-BD59-A6C34878D82A}">
                    <a16:rowId xmlns:a16="http://schemas.microsoft.com/office/drawing/2014/main" val="10000"/>
                  </a:ext>
                </a:extLst>
              </a:tr>
              <a:tr h="310896">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2x2上卷积（通道数减半，高宽翻倍）</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1024 → 512</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复制 + 裁剪匹配的编码器特征图 -&gt; 拼接</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512 + 512</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extLst>
                  <a:ext uri="{0D108BD9-81ED-4DB2-BD59-A6C34878D82A}">
                    <a16:rowId xmlns:a16="http://schemas.microsoft.com/office/drawing/2014/main" val="10002"/>
                  </a:ext>
                </a:extLst>
              </a:tr>
              <a:tr h="310896">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3x3卷积 -&gt; ReLU -&gt; 3x3卷积 -&gt; ReLU</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1024 → 512</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重复4次：512-&gt;256, 256-&gt;128, 128-&gt;64</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 64</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2FB"/>
                    </a:solidFill>
                  </a:tcPr>
                </a:tc>
                <a:extLst>
                  <a:ext uri="{0D108BD9-81ED-4DB2-BD59-A6C34878D82A}">
                    <a16:rowId xmlns:a16="http://schemas.microsoft.com/office/drawing/2014/main" val="10004"/>
                  </a:ext>
                </a:extLst>
              </a:tr>
              <a:tr h="310896">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最终层</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1x1卷积输出K类（例如K=2）</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64 → K</a:t>
                      </a:r>
                      <a:endParaRPr lang="en-US" sz="1100" dirty="0">
                        <a:latin typeface="Calibri" charset="0"/>
                        <a:ea typeface="Calibri" charset="0"/>
                        <a:cs typeface="Calibri" charset="0"/>
                      </a:endParaRP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760720" y="1417320"/>
            <a:ext cx="2926080" cy="3017520"/>
          </a:xfrm>
          <a:prstGeom prst="rect">
            <a:avLst/>
          </a:prstGeom>
          <a:solidFill>
            <a:srgbClr val="FFFFFF"/>
          </a:solidFill>
          <a:ln w="12700">
            <a:solidFill>
              <a:srgbClr val="E2E8F0"/>
            </a:solidFill>
            <a:prstDash val="solid"/>
          </a:ln>
        </p:spPr>
        <p:txBody>
          <a:bodyPr/>
          <a:lstStyle/>
          <a:p>
            <a:endParaRPr lang="en-CN"/>
          </a:p>
        </p:txBody>
      </p:sp>
      <p:sp>
        <p:nvSpPr>
          <p:cNvPr id="6" name="Shape 3"/>
          <p:cNvSpPr/>
          <p:nvPr/>
        </p:nvSpPr>
        <p:spPr>
          <a:xfrm>
            <a:off x="5760720" y="1417320"/>
            <a:ext cx="73152" cy="3017520"/>
          </a:xfrm>
          <a:prstGeom prst="rect">
            <a:avLst/>
          </a:prstGeom>
          <a:solidFill>
            <a:srgbClr val="10B981"/>
          </a:solidFill>
          <a:ln w="12700">
            <a:solidFill>
              <a:srgbClr val="10B981"/>
            </a:solidFill>
            <a:prstDash val="solid"/>
          </a:ln>
        </p:spPr>
        <p:txBody>
          <a:bodyPr/>
          <a:lstStyle/>
          <a:p>
            <a:endParaRPr lang="en-CN"/>
          </a:p>
        </p:txBody>
      </p:sp>
      <p:sp>
        <p:nvSpPr>
          <p:cNvPr id="7" name="Text 4"/>
          <p:cNvSpPr/>
          <p:nvPr/>
        </p:nvSpPr>
        <p:spPr>
          <a:xfrm>
            <a:off x="5989320" y="1508760"/>
            <a:ext cx="2560320" cy="320040"/>
          </a:xfrm>
          <a:prstGeom prst="rect">
            <a:avLst/>
          </a:prstGeom>
          <a:noFill/>
          <a:ln/>
        </p:spPr>
        <p:txBody>
          <a:bodyPr wrap="square" lIns="0" tIns="0" rIns="0" bIns="0" rtlCol="0" anchor="ctr"/>
          <a:lstStyle/>
          <a:p>
            <a:pPr marL="0" indent="0">
              <a:buNone/>
            </a:pPr>
            <a:r>
              <a:rPr lang="en-US" sz="1400" b="1" dirty="0">
                <a:solidFill>
                  <a:srgbClr val="0B1E3F"/>
                </a:solidFill>
                <a:latin typeface="Georgia" pitchFamily="34" charset="0"/>
                <a:ea typeface="Georgia" pitchFamily="34" charset="-122"/>
                <a:cs typeface="Georgia" pitchFamily="34" charset="-120"/>
              </a:rPr>
              <a:t>为什么需要裁剪跳跃连接？</a:t>
            </a:r>
            <a:endParaRPr lang="en-US" sz="1400" dirty="0"/>
          </a:p>
        </p:txBody>
      </p:sp>
      <p:sp>
        <p:nvSpPr>
          <p:cNvPr id="4" name="Text 5"/>
          <p:cNvSpPr/>
          <p:nvPr/>
        </p:nvSpPr>
        <p:spPr>
          <a:xfrm>
            <a:off x="5989320" y="1920240"/>
            <a:ext cx="2606040" cy="2377440"/>
          </a:xfrm>
          <a:prstGeom prst="rect">
            <a:avLst/>
          </a:prstGeom>
          <a:noFill/>
          <a:ln/>
        </p:spPr>
        <p:txBody>
          <a:bodyPr wrap="square" rtlCol="0" anchor="ctr"/>
          <a:lstStyle/>
          <a:p>
            <a:pPr marL="0" indent="0">
              <a:spcAft>
                <a:spcPts val="600"/>
              </a:spcAft>
              <a:buNone/>
            </a:pPr>
            <a:r>
              <a:rPr lang="en-US" sz="1200" dirty="0">
                <a:solidFill>
                  <a:srgbClr val="475569"/>
                </a:solidFill>
                <a:latin typeface="Calibri" pitchFamily="34" charset="0"/>
                <a:ea typeface="Calibri" pitchFamily="34" charset="-122"/>
                <a:cs typeface="Calibri" pitchFamily="34" charset="-120"/>
              </a:rPr>
              <a:t>无填充卷积使每层特征图缩小。因此同层级的编码器特征图比解码器特征图更大——中心裁剪来解决尺寸不匹配。
总计：23个卷积层，18M参数，无全连接层。</a:t>
            </a:r>
            <a:r>
              <a:rPr lang="en-US" sz="1200" b="1" dirty="0">
                <a:solidFill>
                  <a:srgbClr val="475569"/>
                </a:solidFill>
                <a:latin typeface="Calibri" pitchFamily="34" charset="0"/>
                <a:ea typeface="Calibri" pitchFamily="34" charset="-122"/>
                <a:cs typeface="Calibri" pitchFamily="34" charset="-120"/>
              </a:rPr>
              <a:t/>
            </a:r>
            <a:r>
              <a:rPr lang="en-US" sz="1200" dirty="0">
                <a:solidFill>
                  <a:srgbClr val="475569"/>
                </a:solidFill>
                <a:latin typeface="Calibri" pitchFamily="34" charset="0"/>
                <a:ea typeface="Calibri" pitchFamily="34" charset="-122"/>
                <a:cs typeface="Calibri" pitchFamily="34" charset="-120"/>
              </a:rPr>
              <a:t/>
            </a:r>
            <a:endParaRPr lang="en-US" sz="1200" dirty="0"/>
          </a:p>
        </p:txBody>
      </p:sp>
      <p:sp>
        <p:nvSpPr>
          <p:cNvPr id="9" name="Shape 6"/>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10" name="Text 7"/>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11" name="Text 8"/>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7 / 22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跳跃连接</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定义U-Net的唯一设计选择</a:t>
            </a:r>
            <a:endParaRPr lang="en-US" sz="2400" dirty="0"/>
          </a:p>
        </p:txBody>
      </p:sp>
      <p:sp>
        <p:nvSpPr>
          <p:cNvPr id="4" name="Shape 2"/>
          <p:cNvSpPr/>
          <p:nvPr/>
        </p:nvSpPr>
        <p:spPr>
          <a:xfrm>
            <a:off x="914400" y="1554480"/>
            <a:ext cx="914400" cy="1371600"/>
          </a:xfrm>
          <a:prstGeom prst="rect">
            <a:avLst/>
          </a:prstGeom>
          <a:solidFill>
            <a:srgbClr val="1565C0">
              <a:alpha val="90000"/>
            </a:srgbClr>
          </a:solidFill>
          <a:ln w="6350">
            <a:solidFill>
              <a:srgbClr val="0B1E3F"/>
            </a:solidFill>
            <a:prstDash val="solid"/>
          </a:ln>
        </p:spPr>
        <p:txBody>
          <a:bodyPr/>
          <a:lstStyle/>
          <a:p>
            <a:endParaRPr lang="en-CN"/>
          </a:p>
        </p:txBody>
      </p:sp>
      <p:sp>
        <p:nvSpPr>
          <p:cNvPr id="5" name="Shape 3"/>
          <p:cNvSpPr/>
          <p:nvPr/>
        </p:nvSpPr>
        <p:spPr>
          <a:xfrm>
            <a:off x="1005840" y="1645920"/>
            <a:ext cx="914400" cy="1371600"/>
          </a:xfrm>
          <a:prstGeom prst="rect">
            <a:avLst/>
          </a:prstGeom>
          <a:solidFill>
            <a:srgbClr val="1565C0">
              <a:alpha val="75000"/>
            </a:srgbClr>
          </a:solidFill>
          <a:ln w="6350">
            <a:solidFill>
              <a:srgbClr val="0B1E3F"/>
            </a:solidFill>
            <a:prstDash val="solid"/>
          </a:ln>
        </p:spPr>
        <p:txBody>
          <a:bodyPr/>
          <a:lstStyle/>
          <a:p>
            <a:endParaRPr lang="en-CN"/>
          </a:p>
        </p:txBody>
      </p:sp>
      <p:sp>
        <p:nvSpPr>
          <p:cNvPr id="6" name="Shape 4"/>
          <p:cNvSpPr/>
          <p:nvPr/>
        </p:nvSpPr>
        <p:spPr>
          <a:xfrm>
            <a:off x="1097280" y="1737360"/>
            <a:ext cx="914400" cy="1371600"/>
          </a:xfrm>
          <a:prstGeom prst="rect">
            <a:avLst/>
          </a:prstGeom>
          <a:solidFill>
            <a:srgbClr val="1565C0">
              <a:alpha val="60000"/>
            </a:srgbClr>
          </a:solidFill>
          <a:ln w="6350">
            <a:solidFill>
              <a:srgbClr val="0B1E3F"/>
            </a:solidFill>
            <a:prstDash val="solid"/>
          </a:ln>
        </p:spPr>
        <p:txBody>
          <a:bodyPr/>
          <a:lstStyle/>
          <a:p>
            <a:endParaRPr lang="en-CN"/>
          </a:p>
        </p:txBody>
      </p:sp>
      <p:sp>
        <p:nvSpPr>
          <p:cNvPr id="7" name="Shape 5"/>
          <p:cNvSpPr/>
          <p:nvPr/>
        </p:nvSpPr>
        <p:spPr>
          <a:xfrm>
            <a:off x="1188720" y="1828800"/>
            <a:ext cx="914400" cy="1371600"/>
          </a:xfrm>
          <a:prstGeom prst="rect">
            <a:avLst/>
          </a:prstGeom>
          <a:solidFill>
            <a:srgbClr val="1565C0">
              <a:alpha val="45000"/>
            </a:srgbClr>
          </a:solidFill>
          <a:ln w="6350">
            <a:solidFill>
              <a:srgbClr val="0B1E3F"/>
            </a:solidFill>
            <a:prstDash val="solid"/>
          </a:ln>
        </p:spPr>
        <p:txBody>
          <a:bodyPr/>
          <a:lstStyle/>
          <a:p>
            <a:endParaRPr lang="en-CN"/>
          </a:p>
        </p:txBody>
      </p:sp>
      <p:sp>
        <p:nvSpPr>
          <p:cNvPr id="8" name="Text 6"/>
          <p:cNvSpPr/>
          <p:nvPr/>
        </p:nvSpPr>
        <p:spPr>
          <a:xfrm>
            <a:off x="822960" y="3246120"/>
            <a:ext cx="1554480" cy="365760"/>
          </a:xfrm>
          <a:prstGeom prst="rect">
            <a:avLst/>
          </a:prstGeom>
          <a:noFill/>
          <a:ln/>
        </p:spPr>
        <p:txBody>
          <a:bodyPr wrap="square" lIns="0" tIns="0" rIns="0" bIns="0" rtlCol="0" anchor="ctr"/>
          <a:lstStyle/>
          <a:p>
            <a:pPr marL="0" indent="0" algn="ctr">
              <a:buNone/>
            </a:pPr>
            <a:r>
              <a:rPr lang="en-US" sz="1000" i="1" dirty="0">
                <a:solidFill>
                  <a:srgbClr val="475569"/>
                </a:solidFill>
                <a:latin typeface="Calibri" pitchFamily="34" charset="0"/>
                <a:ea typeface="Calibri" pitchFamily="34" charset="-122"/>
                <a:cs typeface="Calibri" pitchFamily="34" charset="-120"/>
              </a:rPr>
              <a:t>编码器特征</a:t>
            </a:r>
            <a:endParaRPr lang="en-US" sz="1000" dirty="0"/>
          </a:p>
          <a:p>
            <a:pPr marL="0" indent="0" algn="ctr">
              <a:buNone/>
            </a:pPr>
            <a:r>
              <a:rPr lang="en-US" sz="1000" i="1" dirty="0">
                <a:solidFill>
                  <a:srgbClr val="475569"/>
                </a:solidFill>
                <a:latin typeface="Calibri" pitchFamily="34" charset="0"/>
                <a:ea typeface="Calibri" pitchFamily="34" charset="-122"/>
                <a:cs typeface="Calibri" pitchFamily="34" charset="-120"/>
              </a:rPr>
              <a:t>（高分辨率，低级特征）</a:t>
            </a:r>
            <a:endParaRPr lang="en-US" sz="1000" dirty="0"/>
          </a:p>
        </p:txBody>
      </p:sp>
      <p:sp>
        <p:nvSpPr>
          <p:cNvPr id="9" name="Shape 7"/>
          <p:cNvSpPr/>
          <p:nvPr/>
        </p:nvSpPr>
        <p:spPr>
          <a:xfrm>
            <a:off x="3291840" y="1554480"/>
            <a:ext cx="914400" cy="1371600"/>
          </a:xfrm>
          <a:prstGeom prst="rect">
            <a:avLst/>
          </a:prstGeom>
          <a:solidFill>
            <a:srgbClr val="FF6B35">
              <a:alpha val="90000"/>
            </a:srgbClr>
          </a:solidFill>
          <a:ln w="6350">
            <a:solidFill>
              <a:srgbClr val="8B2E15"/>
            </a:solidFill>
            <a:prstDash val="solid"/>
          </a:ln>
        </p:spPr>
        <p:txBody>
          <a:bodyPr/>
          <a:lstStyle/>
          <a:p>
            <a:endParaRPr lang="en-CN"/>
          </a:p>
        </p:txBody>
      </p:sp>
      <p:sp>
        <p:nvSpPr>
          <p:cNvPr id="10" name="Shape 8"/>
          <p:cNvSpPr/>
          <p:nvPr/>
        </p:nvSpPr>
        <p:spPr>
          <a:xfrm>
            <a:off x="3383280" y="1645920"/>
            <a:ext cx="914400" cy="1371600"/>
          </a:xfrm>
          <a:prstGeom prst="rect">
            <a:avLst/>
          </a:prstGeom>
          <a:solidFill>
            <a:srgbClr val="FF6B35">
              <a:alpha val="75000"/>
            </a:srgbClr>
          </a:solidFill>
          <a:ln w="6350">
            <a:solidFill>
              <a:srgbClr val="8B2E15"/>
            </a:solidFill>
            <a:prstDash val="solid"/>
          </a:ln>
        </p:spPr>
        <p:txBody>
          <a:bodyPr/>
          <a:lstStyle/>
          <a:p>
            <a:endParaRPr lang="en-CN"/>
          </a:p>
        </p:txBody>
      </p:sp>
      <p:sp>
        <p:nvSpPr>
          <p:cNvPr id="11" name="Shape 9"/>
          <p:cNvSpPr/>
          <p:nvPr/>
        </p:nvSpPr>
        <p:spPr>
          <a:xfrm>
            <a:off x="3474720" y="1737360"/>
            <a:ext cx="914400" cy="1371600"/>
          </a:xfrm>
          <a:prstGeom prst="rect">
            <a:avLst/>
          </a:prstGeom>
          <a:solidFill>
            <a:srgbClr val="FF6B35">
              <a:alpha val="60000"/>
            </a:srgbClr>
          </a:solidFill>
          <a:ln w="6350">
            <a:solidFill>
              <a:srgbClr val="8B2E15"/>
            </a:solidFill>
            <a:prstDash val="solid"/>
          </a:ln>
        </p:spPr>
        <p:txBody>
          <a:bodyPr/>
          <a:lstStyle/>
          <a:p>
            <a:endParaRPr lang="en-CN"/>
          </a:p>
        </p:txBody>
      </p:sp>
      <p:sp>
        <p:nvSpPr>
          <p:cNvPr id="12" name="Shape 10"/>
          <p:cNvSpPr/>
          <p:nvPr/>
        </p:nvSpPr>
        <p:spPr>
          <a:xfrm>
            <a:off x="3566160" y="1828800"/>
            <a:ext cx="914400" cy="1371600"/>
          </a:xfrm>
          <a:prstGeom prst="rect">
            <a:avLst/>
          </a:prstGeom>
          <a:solidFill>
            <a:srgbClr val="FF6B35">
              <a:alpha val="45000"/>
            </a:srgbClr>
          </a:solidFill>
          <a:ln w="6350">
            <a:solidFill>
              <a:srgbClr val="8B2E15"/>
            </a:solidFill>
            <a:prstDash val="solid"/>
          </a:ln>
        </p:spPr>
        <p:txBody>
          <a:bodyPr/>
          <a:lstStyle/>
          <a:p>
            <a:endParaRPr lang="en-CN"/>
          </a:p>
        </p:txBody>
      </p:sp>
      <p:sp>
        <p:nvSpPr>
          <p:cNvPr id="13" name="Text 11"/>
          <p:cNvSpPr/>
          <p:nvPr/>
        </p:nvSpPr>
        <p:spPr>
          <a:xfrm>
            <a:off x="3200400" y="3246120"/>
            <a:ext cx="1554480" cy="365760"/>
          </a:xfrm>
          <a:prstGeom prst="rect">
            <a:avLst/>
          </a:prstGeom>
          <a:noFill/>
          <a:ln/>
        </p:spPr>
        <p:txBody>
          <a:bodyPr wrap="square" lIns="0" tIns="0" rIns="0" bIns="0" rtlCol="0" anchor="ctr"/>
          <a:lstStyle/>
          <a:p>
            <a:pPr marL="0" indent="0" algn="ctr">
              <a:buNone/>
            </a:pPr>
            <a:r>
              <a:rPr lang="en-US" sz="1000" i="1" dirty="0">
                <a:solidFill>
                  <a:srgbClr val="475569"/>
                </a:solidFill>
                <a:latin typeface="Calibri" pitchFamily="34" charset="0"/>
                <a:ea typeface="Calibri" pitchFamily="34" charset="-122"/>
                <a:cs typeface="Calibri" pitchFamily="34" charset="-120"/>
              </a:rPr>
              <a:t>解码器特征</a:t>
            </a:r>
            <a:endParaRPr lang="en-US" sz="1000" dirty="0"/>
          </a:p>
          <a:p>
            <a:pPr marL="0" indent="0" algn="ctr">
              <a:buNone/>
            </a:pPr>
            <a:r>
              <a:rPr lang="en-US" sz="1000" i="1" dirty="0">
                <a:solidFill>
                  <a:srgbClr val="475569"/>
                </a:solidFill>
                <a:latin typeface="Calibri" pitchFamily="34" charset="0"/>
                <a:ea typeface="Calibri" pitchFamily="34" charset="-122"/>
                <a:cs typeface="Calibri" pitchFamily="34" charset="-120"/>
              </a:rPr>
              <a:t>（低分辨率，语义特征）</a:t>
            </a:r>
            <a:endParaRPr lang="en-US" sz="1000" dirty="0"/>
          </a:p>
        </p:txBody>
      </p:sp>
      <p:sp>
        <p:nvSpPr>
          <p:cNvPr id="14" name="Text 12"/>
          <p:cNvSpPr/>
          <p:nvPr/>
        </p:nvSpPr>
        <p:spPr>
          <a:xfrm>
            <a:off x="2331720" y="2011680"/>
            <a:ext cx="411480" cy="411480"/>
          </a:xfrm>
          <a:prstGeom prst="rect">
            <a:avLst/>
          </a:prstGeom>
          <a:noFill/>
          <a:ln/>
        </p:spPr>
        <p:txBody>
          <a:bodyPr wrap="square" lIns="0" tIns="0" rIns="0" bIns="0" rtlCol="0" anchor="ctr"/>
          <a:lstStyle/>
          <a:p>
            <a:pPr marL="0" indent="0" algn="ctr">
              <a:buNone/>
            </a:pPr>
            <a:r>
              <a:rPr lang="en-US" sz="3400" b="1" dirty="0">
                <a:solidFill>
                  <a:srgbClr val="0B1E3F"/>
                </a:solidFill>
                <a:latin typeface="Georgia" pitchFamily="34" charset="0"/>
                <a:ea typeface="Georgia" pitchFamily="34" charset="-122"/>
                <a:cs typeface="Georgia" pitchFamily="34" charset="-120"/>
              </a:rPr>
              <a:t>+</a:t>
            </a:r>
            <a:endParaRPr lang="en-US" sz="3400" dirty="0"/>
          </a:p>
        </p:txBody>
      </p:sp>
      <p:sp>
        <p:nvSpPr>
          <p:cNvPr id="15" name="Text 13"/>
          <p:cNvSpPr/>
          <p:nvPr/>
        </p:nvSpPr>
        <p:spPr>
          <a:xfrm>
            <a:off x="5303520" y="1417320"/>
            <a:ext cx="3474720" cy="3200400"/>
          </a:xfrm>
          <a:prstGeom prst="rect">
            <a:avLst/>
          </a:prstGeom>
          <a:noFill/>
          <a:ln/>
        </p:spPr>
        <p:txBody>
          <a:bodyPr wrap="square" rtlCol="0" anchor="ctr"/>
          <a:lstStyle/>
          <a:p>
            <a:pPr marL="0" indent="0">
              <a:buNone/>
            </a:pPr>
            <a:r>
              <a:rPr lang="en-US" sz="1600" b="1" dirty="0">
                <a:solidFill>
                  <a:srgbClr val="0B1E3F"/>
                </a:solidFill>
                <a:latin typeface="Georgia" pitchFamily="34" charset="0"/>
                <a:ea typeface="Georgia" pitchFamily="34" charset="-122"/>
                <a:cs typeface="Georgia" pitchFamily="34" charset="-120"/>
              </a:rPr>
              <a:t>跳跃连接传递了什么</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裁剪后的编码器特征图与解码器激活拼接（而非相加），在下一个3x3卷积之前将通道数翻倍。
为什么这如此强大</a:t>
            </a:r>
            <a:r>
              <a:rPr lang="en-US" sz="1600" b="1" dirty="0">
                <a:solidFill>
                  <a:srgbClr val="0B1E3F"/>
                </a:solidFill>
                <a:latin typeface="Georgia" pitchFamily="34" charset="0"/>
                <a:ea typeface="Georgia" pitchFamily="34" charset="-122"/>
                <a:cs typeface="Georgia" pitchFamily="34" charset="-120"/>
              </a:rPr>
              <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高分辨率空间细节绕过有损的瓶颈层。</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解码器可以混合"在哪里"（编码器）与"是什么"（自身的粗粒度语义）。</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梯度通过短路径到达编码器 -&gt; 优化更容易。</a:t>
            </a:r>
            <a:endParaRPr lang="en-US" sz="1200" dirty="0"/>
          </a:p>
        </p:txBody>
      </p:sp>
      <p:sp>
        <p:nvSpPr>
          <p:cNvPr id="16" name="Shape 14"/>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17" name="Text 15"/>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18" name="Text 16"/>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8 / 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原理分析</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为什么带跳跃连接的U形结构如此有效？</a:t>
            </a:r>
            <a:endParaRPr lang="en-US" sz="2400" dirty="0"/>
          </a:p>
        </p:txBody>
      </p:sp>
      <p:sp>
        <p:nvSpPr>
          <p:cNvPr id="4" name="Shape 2"/>
          <p:cNvSpPr/>
          <p:nvPr/>
        </p:nvSpPr>
        <p:spPr>
          <a:xfrm>
            <a:off x="457200" y="1417320"/>
            <a:ext cx="4023360" cy="141732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5" name="Shape 3"/>
          <p:cNvSpPr/>
          <p:nvPr/>
        </p:nvSpPr>
        <p:spPr>
          <a:xfrm>
            <a:off x="457200" y="1417320"/>
            <a:ext cx="73152" cy="1417320"/>
          </a:xfrm>
          <a:prstGeom prst="rect">
            <a:avLst/>
          </a:prstGeom>
          <a:solidFill>
            <a:srgbClr val="1565C0"/>
          </a:solidFill>
          <a:ln w="12700">
            <a:solidFill>
              <a:srgbClr val="1565C0"/>
            </a:solidFill>
            <a:prstDash val="solid"/>
          </a:ln>
        </p:spPr>
        <p:txBody>
          <a:bodyPr/>
          <a:lstStyle/>
          <a:p>
            <a:endParaRPr lang="en-CN"/>
          </a:p>
        </p:txBody>
      </p:sp>
      <p:sp>
        <p:nvSpPr>
          <p:cNvPr id="6" name="Text 4"/>
          <p:cNvSpPr/>
          <p:nvPr/>
        </p:nvSpPr>
        <p:spPr>
          <a:xfrm>
            <a:off x="640080" y="1508760"/>
            <a:ext cx="3657600" cy="292608"/>
          </a:xfrm>
          <a:prstGeom prst="rect">
            <a:avLst/>
          </a:prstGeom>
          <a:noFill/>
          <a:ln/>
        </p:spPr>
        <p:txBody>
          <a:bodyPr wrap="square" lIns="0" tIns="0" rIns="0" bIns="0" rtlCol="0" anchor="ctr"/>
          <a:lstStyle/>
          <a:p>
            <a:pPr marL="0" indent="0">
              <a:buNone/>
            </a:pPr>
            <a:r>
              <a:rPr lang="en-US" sz="1300" b="1" dirty="0">
                <a:solidFill>
                  <a:srgbClr val="0B1E3F"/>
                </a:solidFill>
                <a:latin typeface="Georgia" pitchFamily="34" charset="0"/>
                <a:ea typeface="Georgia" pitchFamily="34" charset="-122"/>
                <a:cs typeface="Georgia" pitchFamily="34" charset="-120"/>
              </a:rPr>
              <a:t>信息流视角</a:t>
            </a:r>
            <a:endParaRPr lang="en-US" sz="1300" dirty="0"/>
          </a:p>
        </p:txBody>
      </p:sp>
      <p:sp>
        <p:nvSpPr>
          <p:cNvPr id="7" name="Text 5"/>
          <p:cNvSpPr/>
          <p:nvPr/>
        </p:nvSpPr>
        <p:spPr>
          <a:xfrm>
            <a:off x="658368" y="1828800"/>
            <a:ext cx="3703320" cy="9601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没有跳跃连接的沙漏结构是有损的像素压缩器。跳跃连接重新注入池化过程中丢失的信息，因此解码器无需从零开始重建边缘。</a:t>
            </a:r>
            <a:endParaRPr lang="en-US" sz="1150" dirty="0"/>
          </a:p>
        </p:txBody>
      </p:sp>
      <p:sp>
        <p:nvSpPr>
          <p:cNvPr id="8" name="Shape 6"/>
          <p:cNvSpPr/>
          <p:nvPr/>
        </p:nvSpPr>
        <p:spPr>
          <a:xfrm>
            <a:off x="4663440" y="1417320"/>
            <a:ext cx="4023360" cy="141732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9" name="Shape 7"/>
          <p:cNvSpPr/>
          <p:nvPr/>
        </p:nvSpPr>
        <p:spPr>
          <a:xfrm>
            <a:off x="4663440" y="1417320"/>
            <a:ext cx="73152" cy="1417320"/>
          </a:xfrm>
          <a:prstGeom prst="rect">
            <a:avLst/>
          </a:prstGeom>
          <a:solidFill>
            <a:srgbClr val="FF6B35"/>
          </a:solidFill>
          <a:ln w="12700">
            <a:solidFill>
              <a:srgbClr val="FF6B35"/>
            </a:solidFill>
            <a:prstDash val="solid"/>
          </a:ln>
        </p:spPr>
        <p:txBody>
          <a:bodyPr/>
          <a:lstStyle/>
          <a:p>
            <a:endParaRPr lang="en-CN"/>
          </a:p>
        </p:txBody>
      </p:sp>
      <p:sp>
        <p:nvSpPr>
          <p:cNvPr id="10" name="Text 8"/>
          <p:cNvSpPr/>
          <p:nvPr/>
        </p:nvSpPr>
        <p:spPr>
          <a:xfrm>
            <a:off x="4846320" y="1508760"/>
            <a:ext cx="3657600" cy="292608"/>
          </a:xfrm>
          <a:prstGeom prst="rect">
            <a:avLst/>
          </a:prstGeom>
          <a:noFill/>
          <a:ln/>
        </p:spPr>
        <p:txBody>
          <a:bodyPr wrap="square" lIns="0" tIns="0" rIns="0" bIns="0" rtlCol="0" anchor="ctr"/>
          <a:lstStyle/>
          <a:p>
            <a:pPr marL="0" indent="0">
              <a:buNone/>
            </a:pPr>
            <a:r>
              <a:rPr lang="en-US" sz="1300" b="1" dirty="0">
                <a:solidFill>
                  <a:srgbClr val="0B1E3F"/>
                </a:solidFill>
                <a:latin typeface="Georgia" pitchFamily="34" charset="0"/>
                <a:ea typeface="Georgia" pitchFamily="34" charset="-122"/>
                <a:cs typeface="Georgia" pitchFamily="34" charset="-120"/>
              </a:rPr>
              <a:t>多尺度融合</a:t>
            </a:r>
            <a:endParaRPr lang="en-US" sz="1300" dirty="0"/>
          </a:p>
        </p:txBody>
      </p:sp>
      <p:sp>
        <p:nvSpPr>
          <p:cNvPr id="11" name="Text 9"/>
          <p:cNvSpPr/>
          <p:nvPr/>
        </p:nvSpPr>
        <p:spPr>
          <a:xfrm>
            <a:off x="4864608" y="1828800"/>
            <a:ext cx="3703320" cy="9601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拼接使最终的卷积层能够在一个可微图中同时访问四个不同尺度的特征——既有丰富的语义，又有精细的空间细节。</a:t>
            </a:r>
            <a:endParaRPr lang="en-US" sz="1150" dirty="0"/>
          </a:p>
        </p:txBody>
      </p:sp>
      <p:sp>
        <p:nvSpPr>
          <p:cNvPr id="12" name="Shape 10"/>
          <p:cNvSpPr/>
          <p:nvPr/>
        </p:nvSpPr>
        <p:spPr>
          <a:xfrm>
            <a:off x="457200" y="2971800"/>
            <a:ext cx="4023360" cy="141732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13" name="Shape 11"/>
          <p:cNvSpPr/>
          <p:nvPr/>
        </p:nvSpPr>
        <p:spPr>
          <a:xfrm>
            <a:off x="457200" y="2971800"/>
            <a:ext cx="73152" cy="1417320"/>
          </a:xfrm>
          <a:prstGeom prst="rect">
            <a:avLst/>
          </a:prstGeom>
          <a:solidFill>
            <a:srgbClr val="10B981"/>
          </a:solidFill>
          <a:ln w="12700">
            <a:solidFill>
              <a:srgbClr val="10B981"/>
            </a:solidFill>
            <a:prstDash val="solid"/>
          </a:ln>
        </p:spPr>
        <p:txBody>
          <a:bodyPr/>
          <a:lstStyle/>
          <a:p>
            <a:endParaRPr lang="en-CN"/>
          </a:p>
        </p:txBody>
      </p:sp>
      <p:sp>
        <p:nvSpPr>
          <p:cNvPr id="14" name="Text 12"/>
          <p:cNvSpPr/>
          <p:nvPr/>
        </p:nvSpPr>
        <p:spPr>
          <a:xfrm>
            <a:off x="640080" y="3063240"/>
            <a:ext cx="3657600" cy="292608"/>
          </a:xfrm>
          <a:prstGeom prst="rect">
            <a:avLst/>
          </a:prstGeom>
          <a:noFill/>
          <a:ln/>
        </p:spPr>
        <p:txBody>
          <a:bodyPr wrap="square" lIns="0" tIns="0" rIns="0" bIns="0" rtlCol="0" anchor="ctr"/>
          <a:lstStyle/>
          <a:p>
            <a:pPr marL="0" indent="0">
              <a:buNone/>
            </a:pPr>
            <a:r>
              <a:rPr lang="en-US" sz="1300" b="1" dirty="0">
                <a:solidFill>
                  <a:srgbClr val="0B1E3F"/>
                </a:solidFill>
                <a:latin typeface="Georgia" pitchFamily="34" charset="0"/>
                <a:ea typeface="Georgia" pitchFamily="34" charset="-122"/>
                <a:cs typeface="Georgia" pitchFamily="34" charset="-120"/>
              </a:rPr>
              <a:t>优化视角</a:t>
            </a:r>
            <a:endParaRPr lang="en-US" sz="1300" dirty="0"/>
          </a:p>
        </p:txBody>
      </p:sp>
      <p:sp>
        <p:nvSpPr>
          <p:cNvPr id="15" name="Text 13"/>
          <p:cNvSpPr/>
          <p:nvPr/>
        </p:nvSpPr>
        <p:spPr>
          <a:xfrm>
            <a:off x="658368" y="3383280"/>
            <a:ext cx="3703320" cy="9601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跳跃连接创建了类似ResNet恒等映射的快捷路径。到达编码器的梯度路径缩短了4倍；使得在约30张图像上训练23层网络成为可能。</a:t>
            </a:r>
            <a:endParaRPr lang="en-US" sz="1150" dirty="0"/>
          </a:p>
        </p:txBody>
      </p:sp>
      <p:sp>
        <p:nvSpPr>
          <p:cNvPr id="16" name="Shape 14"/>
          <p:cNvSpPr/>
          <p:nvPr/>
        </p:nvSpPr>
        <p:spPr>
          <a:xfrm>
            <a:off x="4663440" y="2971800"/>
            <a:ext cx="4023360" cy="141732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17" name="Shape 15"/>
          <p:cNvSpPr/>
          <p:nvPr/>
        </p:nvSpPr>
        <p:spPr>
          <a:xfrm>
            <a:off x="4663440" y="2971800"/>
            <a:ext cx="73152" cy="1417320"/>
          </a:xfrm>
          <a:prstGeom prst="rect">
            <a:avLst/>
          </a:prstGeom>
          <a:solidFill>
            <a:srgbClr val="F59E0B"/>
          </a:solidFill>
          <a:ln w="12700">
            <a:solidFill>
              <a:srgbClr val="F59E0B"/>
            </a:solidFill>
            <a:prstDash val="solid"/>
          </a:ln>
        </p:spPr>
        <p:txBody>
          <a:bodyPr/>
          <a:lstStyle/>
          <a:p>
            <a:endParaRPr lang="en-CN"/>
          </a:p>
        </p:txBody>
      </p:sp>
      <p:sp>
        <p:nvSpPr>
          <p:cNvPr id="18" name="Text 16"/>
          <p:cNvSpPr/>
          <p:nvPr/>
        </p:nvSpPr>
        <p:spPr>
          <a:xfrm>
            <a:off x="4846320" y="3063240"/>
            <a:ext cx="3657600" cy="292608"/>
          </a:xfrm>
          <a:prstGeom prst="rect">
            <a:avLst/>
          </a:prstGeom>
          <a:noFill/>
          <a:ln/>
        </p:spPr>
        <p:txBody>
          <a:bodyPr wrap="square" lIns="0" tIns="0" rIns="0" bIns="0" rtlCol="0" anchor="ctr"/>
          <a:lstStyle/>
          <a:p>
            <a:pPr marL="0" indent="0">
              <a:buNone/>
            </a:pPr>
            <a:r>
              <a:rPr lang="en-US" sz="1300" b="1" dirty="0">
                <a:solidFill>
                  <a:srgbClr val="0B1E3F"/>
                </a:solidFill>
                <a:latin typeface="Georgia" pitchFamily="34" charset="0"/>
                <a:ea typeface="Georgia" pitchFamily="34" charset="-122"/>
                <a:cs typeface="Georgia" pitchFamily="34" charset="-120"/>
              </a:rPr>
              <a:t>稠密预测的归纳偏置</a:t>
            </a:r>
            <a:endParaRPr lang="en-US" sz="1300" dirty="0"/>
          </a:p>
        </p:txBody>
      </p:sp>
      <p:sp>
        <p:nvSpPr>
          <p:cNvPr id="19" name="Text 17"/>
          <p:cNvSpPr/>
          <p:nvPr/>
        </p:nvSpPr>
        <p:spPr>
          <a:xfrm>
            <a:off x="4864608" y="3383280"/>
            <a:ext cx="3703320" cy="96012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对称的U形结构镜像了输入和输出的像素对齐结构。Output[i,j]既直接（通过跳跃连接）又上下文地（通过瓶颈层）依赖于input[i,j]。</a:t>
            </a:r>
            <a:endParaRPr lang="en-US" sz="1150" dirty="0"/>
          </a:p>
        </p:txBody>
      </p:sp>
      <p:sp>
        <p:nvSpPr>
          <p:cNvPr id="20" name="Shape 18"/>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21" name="Text 19"/>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22" name="Text 20"/>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9 / 22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设计选择</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无填充卷积与"valid"哲学</a:t>
            </a:r>
            <a:endParaRPr lang="en-US" sz="2400" dirty="0"/>
          </a:p>
        </p:txBody>
      </p:sp>
      <p:sp>
        <p:nvSpPr>
          <p:cNvPr id="4" name="Text 2"/>
          <p:cNvSpPr/>
          <p:nvPr/>
        </p:nvSpPr>
        <p:spPr>
          <a:xfrm>
            <a:off x="457200" y="1417320"/>
            <a:ext cx="4480560" cy="3200400"/>
          </a:xfrm>
          <a:prstGeom prst="rect">
            <a:avLst/>
          </a:prstGeom>
          <a:noFill/>
          <a:ln/>
        </p:spPr>
        <p:txBody>
          <a:bodyPr wrap="square" rtlCol="0" anchor="ctr"/>
          <a:lstStyle/>
          <a:p>
            <a:pPr marL="0" indent="0">
              <a:buNone/>
            </a:pPr>
            <a:r>
              <a:rPr lang="en-US" sz="1500" b="1" dirty="0">
                <a:solidFill>
                  <a:srgbClr val="0B1E3F"/>
                </a:solidFill>
                <a:latin typeface="Georgia" pitchFamily="34" charset="0"/>
                <a:ea typeface="Georgia" pitchFamily="34" charset="-122"/>
                <a:cs typeface="Georgia" pitchFamily="34" charset="-120"/>
              </a:rPr>
              <a:t>无填充("valid")3x3卷积</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每个卷积层将空间尺寸缩小2像素（每边1像素）。边界处不会制造任何人工值。
后果</a:t>
            </a:r>
            <a:r>
              <a:rPr lang="en-US" sz="1500" b="1" dirty="0">
                <a:solidFill>
                  <a:srgbClr val="0B1E3F"/>
                </a:solidFill>
                <a:latin typeface="Georgia" pitchFamily="34" charset="0"/>
                <a:ea typeface="Georgia" pitchFamily="34" charset="-122"/>
                <a:cs typeface="Georgia" pitchFamily="34" charset="-120"/>
              </a:rPr>
              <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分割图只覆盖网络在输入中拥有完整上下文的像素。
权衡</a:t>
            </a:r>
            <a:r>
              <a:rPr lang="en-US" sz="1200" b="1" dirty="0">
                <a:solidFill>
                  <a:srgbClr val="FF6B35"/>
                </a:solidFill>
                <a:latin typeface="Calibri" pitchFamily="34" charset="0"/>
                <a:ea typeface="Calibri" pitchFamily="34" charset="-122"/>
                <a:cs typeface="Calibri" pitchFamily="34" charset="-120"/>
              </a:rPr>
              <a:t/>
            </a:r>
            <a:r>
              <a:rPr lang="en-US" sz="1200" dirty="0">
                <a:solidFill>
                  <a:srgbClr val="475569"/>
                </a:solidFill>
                <a:latin typeface="Calibri" pitchFamily="34" charset="0"/>
                <a:ea typeface="Calibri" pitchFamily="34" charset="-122"/>
                <a:cs typeface="Calibri" pitchFamily="34" charset="-120"/>
              </a:rPr>
              <a:t/>
            </a:r>
            <a:r>
              <a:rPr lang="en-US" sz="1500" b="1" dirty="0">
                <a:solidFill>
                  <a:srgbClr val="0B1E3F"/>
                </a:solidFill>
                <a:latin typeface="Georgia" pitchFamily="34" charset="0"/>
                <a:ea typeface="Georgia" pitchFamily="34" charset="-122"/>
                <a:cs typeface="Georgia" pitchFamily="34" charset="-120"/>
              </a:rPr>
              <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输出小于输入（例如，从572x572得到388x388的输出）。要预测大图像的每个像素，需要有重叠地"分块"——见下一张幻灯片。</a:t>
            </a:r>
            <a:endParaRPr lang="en-US" sz="1200" dirty="0"/>
          </a:p>
        </p:txBody>
      </p:sp>
      <p:sp>
        <p:nvSpPr>
          <p:cNvPr id="5" name="Shape 3"/>
          <p:cNvSpPr/>
          <p:nvPr/>
        </p:nvSpPr>
        <p:spPr>
          <a:xfrm>
            <a:off x="5303520" y="1554480"/>
            <a:ext cx="2926080" cy="320040"/>
          </a:xfrm>
          <a:prstGeom prst="rect">
            <a:avLst/>
          </a:prstGeom>
          <a:solidFill>
            <a:srgbClr val="63A4FF"/>
          </a:solidFill>
          <a:ln w="6350">
            <a:solidFill>
              <a:srgbClr val="1565C0"/>
            </a:solidFill>
            <a:prstDash val="solid"/>
          </a:ln>
        </p:spPr>
        <p:txBody>
          <a:bodyPr/>
          <a:lstStyle/>
          <a:p>
            <a:endParaRPr lang="en-CN"/>
          </a:p>
        </p:txBody>
      </p:sp>
      <p:sp>
        <p:nvSpPr>
          <p:cNvPr id="6" name="Text 4"/>
          <p:cNvSpPr/>
          <p:nvPr/>
        </p:nvSpPr>
        <p:spPr>
          <a:xfrm>
            <a:off x="5303520" y="1554480"/>
            <a:ext cx="2926080" cy="320040"/>
          </a:xfrm>
          <a:prstGeom prst="rect">
            <a:avLst/>
          </a:prstGeom>
          <a:noFill/>
          <a:ln/>
        </p:spPr>
        <p:txBody>
          <a:bodyPr wrap="square" lIns="0" tIns="0" rIns="0" bIns="0" rtlCol="0" anchor="ctr"/>
          <a:lstStyle/>
          <a:p>
            <a:pPr marL="0" indent="0" algn="ctr">
              <a:buNone/>
            </a:pPr>
            <a:r>
              <a:rPr lang="en-US" sz="1050" dirty="0">
                <a:solidFill>
                  <a:srgbClr val="0B1E3F"/>
                </a:solidFill>
                <a:latin typeface="Calibri" pitchFamily="34" charset="0"/>
                <a:ea typeface="Calibri" pitchFamily="34" charset="-122"/>
                <a:cs typeface="Calibri" pitchFamily="34" charset="-120"/>
              </a:rPr>
              <a:t>572</a:t>
            </a:r>
            <a:endParaRPr lang="en-US" sz="1050" dirty="0"/>
          </a:p>
        </p:txBody>
      </p:sp>
      <p:sp>
        <p:nvSpPr>
          <p:cNvPr id="7" name="Shape 5"/>
          <p:cNvSpPr/>
          <p:nvPr/>
        </p:nvSpPr>
        <p:spPr>
          <a:xfrm>
            <a:off x="5394960" y="2057400"/>
            <a:ext cx="2743200" cy="320040"/>
          </a:xfrm>
          <a:prstGeom prst="rect">
            <a:avLst/>
          </a:prstGeom>
          <a:solidFill>
            <a:srgbClr val="63A4FF"/>
          </a:solidFill>
          <a:ln w="6350">
            <a:solidFill>
              <a:srgbClr val="1565C0"/>
            </a:solidFill>
            <a:prstDash val="solid"/>
          </a:ln>
        </p:spPr>
        <p:txBody>
          <a:bodyPr/>
          <a:lstStyle/>
          <a:p>
            <a:endParaRPr lang="en-CN"/>
          </a:p>
        </p:txBody>
      </p:sp>
      <p:sp>
        <p:nvSpPr>
          <p:cNvPr id="8" name="Text 6"/>
          <p:cNvSpPr/>
          <p:nvPr/>
        </p:nvSpPr>
        <p:spPr>
          <a:xfrm>
            <a:off x="5303520" y="2057400"/>
            <a:ext cx="2926080" cy="320040"/>
          </a:xfrm>
          <a:prstGeom prst="rect">
            <a:avLst/>
          </a:prstGeom>
          <a:noFill/>
          <a:ln/>
        </p:spPr>
        <p:txBody>
          <a:bodyPr wrap="square" lIns="0" tIns="0" rIns="0" bIns="0" rtlCol="0" anchor="ctr"/>
          <a:lstStyle/>
          <a:p>
            <a:pPr marL="0" indent="0" algn="ctr">
              <a:buNone/>
            </a:pPr>
            <a:r>
              <a:rPr lang="en-US" sz="1050" dirty="0">
                <a:solidFill>
                  <a:srgbClr val="0B1E3F"/>
                </a:solidFill>
                <a:latin typeface="Calibri" pitchFamily="34" charset="0"/>
                <a:ea typeface="Calibri" pitchFamily="34" charset="-122"/>
                <a:cs typeface="Calibri" pitchFamily="34" charset="-120"/>
              </a:rPr>
              <a:t>570</a:t>
            </a:r>
            <a:endParaRPr lang="en-US" sz="1050" dirty="0"/>
          </a:p>
        </p:txBody>
      </p:sp>
      <p:sp>
        <p:nvSpPr>
          <p:cNvPr id="9" name="Shape 7"/>
          <p:cNvSpPr/>
          <p:nvPr/>
        </p:nvSpPr>
        <p:spPr>
          <a:xfrm>
            <a:off x="5486400" y="2560320"/>
            <a:ext cx="2560320" cy="320040"/>
          </a:xfrm>
          <a:prstGeom prst="rect">
            <a:avLst/>
          </a:prstGeom>
          <a:solidFill>
            <a:srgbClr val="63A4FF"/>
          </a:solidFill>
          <a:ln w="6350">
            <a:solidFill>
              <a:srgbClr val="1565C0"/>
            </a:solidFill>
            <a:prstDash val="solid"/>
          </a:ln>
        </p:spPr>
        <p:txBody>
          <a:bodyPr/>
          <a:lstStyle/>
          <a:p>
            <a:endParaRPr lang="en-CN"/>
          </a:p>
        </p:txBody>
      </p:sp>
      <p:sp>
        <p:nvSpPr>
          <p:cNvPr id="10" name="Text 8"/>
          <p:cNvSpPr/>
          <p:nvPr/>
        </p:nvSpPr>
        <p:spPr>
          <a:xfrm>
            <a:off x="5303520" y="2560320"/>
            <a:ext cx="2926080" cy="320040"/>
          </a:xfrm>
          <a:prstGeom prst="rect">
            <a:avLst/>
          </a:prstGeom>
          <a:noFill/>
          <a:ln/>
        </p:spPr>
        <p:txBody>
          <a:bodyPr wrap="square" lIns="0" tIns="0" rIns="0" bIns="0" rtlCol="0" anchor="ctr"/>
          <a:lstStyle/>
          <a:p>
            <a:pPr marL="0" indent="0" algn="ctr">
              <a:buNone/>
            </a:pPr>
            <a:r>
              <a:rPr lang="en-US" sz="1050" dirty="0">
                <a:solidFill>
                  <a:srgbClr val="0B1E3F"/>
                </a:solidFill>
                <a:latin typeface="Calibri" pitchFamily="34" charset="0"/>
                <a:ea typeface="Calibri" pitchFamily="34" charset="-122"/>
                <a:cs typeface="Calibri" pitchFamily="34" charset="-120"/>
              </a:rPr>
              <a:t>568</a:t>
            </a:r>
            <a:endParaRPr lang="en-US" sz="1050" dirty="0"/>
          </a:p>
        </p:txBody>
      </p:sp>
      <p:sp>
        <p:nvSpPr>
          <p:cNvPr id="11" name="Shape 9"/>
          <p:cNvSpPr/>
          <p:nvPr/>
        </p:nvSpPr>
        <p:spPr>
          <a:xfrm>
            <a:off x="6126480" y="3063240"/>
            <a:ext cx="1280160" cy="320040"/>
          </a:xfrm>
          <a:prstGeom prst="rect">
            <a:avLst/>
          </a:prstGeom>
          <a:solidFill>
            <a:srgbClr val="FFD3C0"/>
          </a:solidFill>
          <a:ln w="6350">
            <a:solidFill>
              <a:srgbClr val="FF6B35"/>
            </a:solidFill>
            <a:prstDash val="solid"/>
          </a:ln>
        </p:spPr>
        <p:txBody>
          <a:bodyPr/>
          <a:lstStyle/>
          <a:p>
            <a:endParaRPr lang="en-CN"/>
          </a:p>
        </p:txBody>
      </p:sp>
      <p:sp>
        <p:nvSpPr>
          <p:cNvPr id="12" name="Text 10"/>
          <p:cNvSpPr/>
          <p:nvPr/>
        </p:nvSpPr>
        <p:spPr>
          <a:xfrm>
            <a:off x="5303520" y="3063240"/>
            <a:ext cx="2926080" cy="320040"/>
          </a:xfrm>
          <a:prstGeom prst="rect">
            <a:avLst/>
          </a:prstGeom>
          <a:noFill/>
          <a:ln/>
        </p:spPr>
        <p:txBody>
          <a:bodyPr wrap="square" lIns="0" tIns="0" rIns="0" bIns="0" rtlCol="0" anchor="ctr"/>
          <a:lstStyle/>
          <a:p>
            <a:pPr marL="0" indent="0" algn="ctr">
              <a:buNone/>
            </a:pPr>
            <a:r>
              <a:rPr lang="en-US" sz="1050" dirty="0">
                <a:solidFill>
                  <a:srgbClr val="0B1E3F"/>
                </a:solidFill>
                <a:latin typeface="Calibri" pitchFamily="34" charset="0"/>
                <a:ea typeface="Calibri" pitchFamily="34" charset="-122"/>
                <a:cs typeface="Calibri" pitchFamily="34" charset="-120"/>
              </a:rPr>
              <a:t>284（池化后）</a:t>
            </a:r>
            <a:endParaRPr lang="en-US" sz="1050" dirty="0"/>
          </a:p>
        </p:txBody>
      </p:sp>
      <p:sp>
        <p:nvSpPr>
          <p:cNvPr id="13" name="Text 11"/>
          <p:cNvSpPr/>
          <p:nvPr/>
        </p:nvSpPr>
        <p:spPr>
          <a:xfrm>
            <a:off x="5257800" y="3611880"/>
            <a:ext cx="3017520" cy="502920"/>
          </a:xfrm>
          <a:prstGeom prst="rect">
            <a:avLst/>
          </a:prstGeom>
          <a:noFill/>
          <a:ln/>
        </p:spPr>
        <p:txBody>
          <a:bodyPr wrap="square" lIns="0" tIns="0" rIns="0" bIns="0" rtlCol="0" anchor="ctr"/>
          <a:lstStyle/>
          <a:p>
            <a:pPr marL="0" indent="0" algn="ctr">
              <a:buNone/>
            </a:pPr>
            <a:r>
              <a:rPr lang="en-US" sz="1000" i="1" dirty="0">
                <a:solidFill>
                  <a:srgbClr val="475569"/>
                </a:solidFill>
                <a:latin typeface="Calibri" pitchFamily="34" charset="0"/>
                <a:ea typeface="Calibri" pitchFamily="34" charset="-122"/>
                <a:cs typeface="Calibri" pitchFamily="34" charset="-120"/>
              </a:rPr>
              <a:t>每个无填充3x3卷积</a:t>
            </a:r>
            <a:endParaRPr lang="en-US" sz="1000" dirty="0"/>
          </a:p>
          <a:p>
            <a:pPr marL="0" indent="0" algn="ctr">
              <a:buNone/>
            </a:pPr>
            <a:r>
              <a:rPr lang="en-US" sz="1000" i="1" dirty="0">
                <a:solidFill>
                  <a:srgbClr val="475569"/>
                </a:solidFill>
                <a:latin typeface="Calibri" pitchFamily="34" charset="0"/>
                <a:ea typeface="Calibri" pitchFamily="34" charset="-122"/>
                <a:cs typeface="Calibri" pitchFamily="34" charset="-120"/>
              </a:rPr>
              <a:t>去除1像素边界</a:t>
            </a:r>
            <a:endParaRPr lang="en-US" sz="1000" dirty="0"/>
          </a:p>
        </p:txBody>
      </p:sp>
      <p:sp>
        <p:nvSpPr>
          <p:cNvPr id="14" name="Shape 12"/>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15" name="Text 13"/>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16" name="Text 14"/>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10 / 22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推理技巧</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用于任意大图像的重叠分块策略</a:t>
            </a:r>
            <a:endParaRPr lang="en-US" sz="2400" dirty="0"/>
          </a:p>
        </p:txBody>
      </p:sp>
      <p:sp>
        <p:nvSpPr>
          <p:cNvPr id="4" name="Shape 2"/>
          <p:cNvSpPr/>
          <p:nvPr/>
        </p:nvSpPr>
        <p:spPr>
          <a:xfrm>
            <a:off x="640080" y="1554480"/>
            <a:ext cx="3017520" cy="3017520"/>
          </a:xfrm>
          <a:prstGeom prst="rect">
            <a:avLst/>
          </a:prstGeom>
          <a:solidFill>
            <a:srgbClr val="EAF2FB"/>
          </a:solidFill>
          <a:ln w="25400">
            <a:solidFill>
              <a:srgbClr val="1565C0"/>
            </a:solidFill>
            <a:prstDash val="solid"/>
          </a:ln>
        </p:spPr>
        <p:txBody>
          <a:bodyPr/>
          <a:lstStyle/>
          <a:p>
            <a:endParaRPr lang="en-CN"/>
          </a:p>
        </p:txBody>
      </p:sp>
      <p:sp>
        <p:nvSpPr>
          <p:cNvPr id="5" name="Shape 3"/>
          <p:cNvSpPr/>
          <p:nvPr/>
        </p:nvSpPr>
        <p:spPr>
          <a:xfrm>
            <a:off x="1143000" y="2057400"/>
            <a:ext cx="2011680" cy="2011680"/>
          </a:xfrm>
          <a:prstGeom prst="rect">
            <a:avLst/>
          </a:prstGeom>
          <a:solidFill>
            <a:srgbClr val="FEF3C7"/>
          </a:solidFill>
          <a:ln w="25400">
            <a:solidFill>
              <a:srgbClr val="F59E0B"/>
            </a:solidFill>
            <a:prstDash val="dash"/>
          </a:ln>
        </p:spPr>
        <p:txBody>
          <a:bodyPr/>
          <a:lstStyle/>
          <a:p>
            <a:endParaRPr lang="en-CN"/>
          </a:p>
        </p:txBody>
      </p:sp>
      <p:sp>
        <p:nvSpPr>
          <p:cNvPr id="6" name="Text 4"/>
          <p:cNvSpPr/>
          <p:nvPr/>
        </p:nvSpPr>
        <p:spPr>
          <a:xfrm>
            <a:off x="685800" y="1600200"/>
            <a:ext cx="1463040" cy="457200"/>
          </a:xfrm>
          <a:prstGeom prst="rect">
            <a:avLst/>
          </a:prstGeom>
          <a:noFill/>
          <a:ln/>
        </p:spPr>
        <p:txBody>
          <a:bodyPr wrap="square" lIns="0" tIns="0" rIns="0" bIns="0" rtlCol="0" anchor="ctr"/>
          <a:lstStyle/>
          <a:p>
            <a:pPr marL="0" indent="0">
              <a:buNone/>
            </a:pPr>
            <a:r>
              <a:rPr lang="en-US" sz="1000" i="1" dirty="0">
                <a:solidFill>
                  <a:srgbClr val="0B1E3F"/>
                </a:solidFill>
                <a:latin typeface="Calibri" pitchFamily="34" charset="0"/>
                <a:ea typeface="Calibri" pitchFamily="34" charset="-122"/>
                <a:cs typeface="Calibri" pitchFamily="34" charset="-120"/>
              </a:rPr>
              <a:t>输入上下文</a:t>
            </a:r>
            <a:endParaRPr lang="en-US" sz="1000" dirty="0"/>
          </a:p>
          <a:p>
            <a:pPr marL="0" indent="0">
              <a:buNone/>
            </a:pPr>
            <a:r>
              <a:rPr lang="en-US" sz="1000" i="1" dirty="0">
                <a:solidFill>
                  <a:srgbClr val="0B1E3F"/>
                </a:solidFill>
                <a:latin typeface="Calibri" pitchFamily="34" charset="0"/>
                <a:ea typeface="Calibri" pitchFamily="34" charset="-122"/>
                <a:cs typeface="Calibri" pitchFamily="34" charset="-120"/>
              </a:rPr>
              <a:t>（蓝色）</a:t>
            </a:r>
            <a:endParaRPr lang="en-US" sz="1000" dirty="0"/>
          </a:p>
        </p:txBody>
      </p:sp>
      <p:sp>
        <p:nvSpPr>
          <p:cNvPr id="7" name="Text 5"/>
          <p:cNvSpPr/>
          <p:nvPr/>
        </p:nvSpPr>
        <p:spPr>
          <a:xfrm>
            <a:off x="1417320" y="2880360"/>
            <a:ext cx="1463040" cy="457200"/>
          </a:xfrm>
          <a:prstGeom prst="rect">
            <a:avLst/>
          </a:prstGeom>
          <a:noFill/>
          <a:ln/>
        </p:spPr>
        <p:txBody>
          <a:bodyPr wrap="square" lIns="0" tIns="0" rIns="0" bIns="0" rtlCol="0" anchor="ctr"/>
          <a:lstStyle/>
          <a:p>
            <a:pPr marL="0" indent="0">
              <a:buNone/>
            </a:pPr>
            <a:r>
              <a:rPr lang="en-US" sz="1100" b="1" i="1" dirty="0">
                <a:solidFill>
                  <a:srgbClr val="92400E"/>
                </a:solidFill>
                <a:latin typeface="Calibri" pitchFamily="34" charset="0"/>
                <a:ea typeface="Calibri" pitchFamily="34" charset="-122"/>
                <a:cs typeface="Calibri" pitchFamily="34" charset="-120"/>
              </a:rPr>
              <a:t>预测</a:t>
            </a:r>
            <a:endParaRPr lang="en-US" sz="1100" dirty="0"/>
          </a:p>
          <a:p>
            <a:pPr marL="0" indent="0">
              <a:buNone/>
            </a:pPr>
            <a:r>
              <a:rPr lang="en-US" sz="1100" b="1" i="1" dirty="0">
                <a:solidFill>
                  <a:srgbClr val="92400E"/>
                </a:solidFill>
                <a:latin typeface="Calibri" pitchFamily="34" charset="0"/>
                <a:ea typeface="Calibri" pitchFamily="34" charset="-122"/>
                <a:cs typeface="Calibri" pitchFamily="34" charset="-120"/>
              </a:rPr>
              <a:t>黄色区域</a:t>
            </a:r>
            <a:endParaRPr lang="en-US" sz="1100" dirty="0"/>
          </a:p>
        </p:txBody>
      </p:sp>
      <p:sp>
        <p:nvSpPr>
          <p:cNvPr id="8" name="Shape 6"/>
          <p:cNvSpPr/>
          <p:nvPr/>
        </p:nvSpPr>
        <p:spPr>
          <a:xfrm>
            <a:off x="3749040" y="3017520"/>
            <a:ext cx="548640" cy="0"/>
          </a:xfrm>
          <a:prstGeom prst="line">
            <a:avLst/>
          </a:prstGeom>
          <a:noFill/>
          <a:ln w="25400">
            <a:solidFill>
              <a:srgbClr val="FF6B35"/>
            </a:solidFill>
            <a:prstDash val="solid"/>
            <a:tailEnd type="triangle"/>
          </a:ln>
        </p:spPr>
        <p:txBody>
          <a:bodyPr/>
          <a:lstStyle/>
          <a:p>
            <a:endParaRPr lang="en-CN"/>
          </a:p>
        </p:txBody>
      </p:sp>
      <p:sp>
        <p:nvSpPr>
          <p:cNvPr id="9" name="Shape 7"/>
          <p:cNvSpPr/>
          <p:nvPr/>
        </p:nvSpPr>
        <p:spPr>
          <a:xfrm>
            <a:off x="4480560" y="1554480"/>
            <a:ext cx="4206240" cy="301752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10" name="Shape 8"/>
          <p:cNvSpPr/>
          <p:nvPr/>
        </p:nvSpPr>
        <p:spPr>
          <a:xfrm>
            <a:off x="4480560" y="1554480"/>
            <a:ext cx="73152" cy="3017520"/>
          </a:xfrm>
          <a:prstGeom prst="rect">
            <a:avLst/>
          </a:prstGeom>
          <a:solidFill>
            <a:srgbClr val="FF6B35"/>
          </a:solidFill>
          <a:ln w="12700">
            <a:solidFill>
              <a:srgbClr val="FF6B35"/>
            </a:solidFill>
            <a:prstDash val="solid"/>
          </a:ln>
        </p:spPr>
        <p:txBody>
          <a:bodyPr/>
          <a:lstStyle/>
          <a:p>
            <a:endParaRPr lang="en-CN"/>
          </a:p>
        </p:txBody>
      </p:sp>
      <p:sp>
        <p:nvSpPr>
          <p:cNvPr id="11" name="Text 9"/>
          <p:cNvSpPr/>
          <p:nvPr/>
        </p:nvSpPr>
        <p:spPr>
          <a:xfrm>
            <a:off x="4709160" y="1691640"/>
            <a:ext cx="3657600" cy="320040"/>
          </a:xfrm>
          <a:prstGeom prst="rect">
            <a:avLst/>
          </a:prstGeom>
          <a:noFill/>
          <a:ln/>
        </p:spPr>
        <p:txBody>
          <a:bodyPr wrap="square" lIns="0" tIns="0" rIns="0" bIns="0" rtlCol="0" anchor="ctr"/>
          <a:lstStyle/>
          <a:p>
            <a:pPr marL="0" indent="0">
              <a:buNone/>
            </a:pPr>
            <a:r>
              <a:rPr lang="en-US" sz="1400" b="1" dirty="0">
                <a:solidFill>
                  <a:srgbClr val="0B1E3F"/>
                </a:solidFill>
                <a:latin typeface="Georgia" pitchFamily="34" charset="0"/>
                <a:ea typeface="Georgia" pitchFamily="34" charset="-122"/>
                <a:cs typeface="Georgia" pitchFamily="34" charset="-120"/>
              </a:rPr>
              <a:t>工作原理</a:t>
            </a:r>
            <a:endParaRPr lang="en-US" sz="1400" dirty="0"/>
          </a:p>
        </p:txBody>
      </p:sp>
      <p:sp>
        <p:nvSpPr>
          <p:cNvPr id="12" name="Text 10"/>
          <p:cNvSpPr/>
          <p:nvPr/>
        </p:nvSpPr>
        <p:spPr>
          <a:xfrm>
            <a:off x="4709160" y="2057400"/>
            <a:ext cx="3886200" cy="2468880"/>
          </a:xfrm>
          <a:prstGeom prst="rect">
            <a:avLst/>
          </a:prstGeom>
          <a:noFill/>
          <a:ln/>
        </p:spPr>
        <p:txBody>
          <a:bodyPr wrap="square" rtlCol="0" anchor="ctr"/>
          <a:lstStyle/>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将大图像切割成有重叠的块，使每个黄色区域无缝拼接覆盖整个图像。</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在图像边界处，缺失的输入上下文通过镜像填充——不使用人工黑色填充。</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内存消耗有界；分辨率无限制。</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分块大小经过选择，使得每个2x2池化操作看到偶数尺寸的特征图。</a:t>
            </a:r>
            <a:endParaRPr lang="en-US" sz="1200" dirty="0"/>
          </a:p>
        </p:txBody>
      </p:sp>
      <p:sp>
        <p:nvSpPr>
          <p:cNvPr id="13" name="Shape 11"/>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14" name="Text 12"/>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15" name="Text 13"/>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11 / 22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训练技巧 #1</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弹性形变：从30张图像中学习的秘诀</a:t>
            </a:r>
            <a:endParaRPr lang="en-US" sz="2400" dirty="0"/>
          </a:p>
        </p:txBody>
      </p:sp>
      <p:sp>
        <p:nvSpPr>
          <p:cNvPr id="4" name="Text 2"/>
          <p:cNvSpPr/>
          <p:nvPr/>
        </p:nvSpPr>
        <p:spPr>
          <a:xfrm>
            <a:off x="457200" y="1417320"/>
            <a:ext cx="4572000" cy="3108960"/>
          </a:xfrm>
          <a:prstGeom prst="rect">
            <a:avLst/>
          </a:prstGeom>
          <a:noFill/>
          <a:ln/>
        </p:spPr>
        <p:txBody>
          <a:bodyPr wrap="square" rtlCol="0" anchor="ctr"/>
          <a:lstStyle/>
          <a:p>
            <a:pPr marL="0" indent="0">
              <a:buNone/>
            </a:pPr>
            <a:r>
              <a:rPr lang="en-US" sz="1500" b="1" dirty="0">
                <a:solidFill>
                  <a:srgbClr val="0B1E3F"/>
                </a:solidFill>
                <a:latin typeface="Georgia" pitchFamily="34" charset="0"/>
                <a:ea typeface="Georgia" pitchFamily="34" charset="-122"/>
                <a:cs typeface="Georgia" pitchFamily="34" charset="-120"/>
              </a:rPr>
              <a:t>为什么需要形变？</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组织、细胞和器官是连续变化的。最常见的干扰性变化是非刚性形变——这正是弹性扭曲所模拟的。
方法</a:t>
            </a:r>
            <a:r>
              <a:rPr lang="en-US" sz="1500" b="1" dirty="0">
                <a:solidFill>
                  <a:srgbClr val="0B1E3F"/>
                </a:solidFill>
                <a:latin typeface="Georgia" pitchFamily="34" charset="0"/>
                <a:ea typeface="Georgia" pitchFamily="34" charset="-122"/>
                <a:cs typeface="Georgia" pitchFamily="34" charset="-120"/>
              </a:rPr>
              <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在粗糙的3x3网格上生成随机位移向量。</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从高斯分布采样，sigma ~ 10像素。</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双三次插值 -&gt; 逐像素位移场。</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编码器末端的Dropout充当进一步的隐式数据增强。</a:t>
            </a:r>
            <a:endParaRPr lang="en-US" sz="1200" dirty="0"/>
          </a:p>
        </p:txBody>
      </p:sp>
      <p:sp>
        <p:nvSpPr>
          <p:cNvPr id="5" name="Shape 3"/>
          <p:cNvSpPr/>
          <p:nvPr/>
        </p:nvSpPr>
        <p:spPr>
          <a:xfrm>
            <a:off x="5349240" y="1417320"/>
            <a:ext cx="3200400" cy="3200400"/>
          </a:xfrm>
          <a:prstGeom prst="rect">
            <a:avLst/>
          </a:prstGeom>
          <a:solidFill>
            <a:srgbClr val="FFFFFF"/>
          </a:solidFill>
          <a:ln w="12700">
            <a:solidFill>
              <a:srgbClr val="E2E8F0"/>
            </a:solidFill>
            <a:prstDash val="solid"/>
          </a:ln>
        </p:spPr>
        <p:txBody>
          <a:bodyPr/>
          <a:lstStyle/>
          <a:p>
            <a:endParaRPr lang="en-CN"/>
          </a:p>
        </p:txBody>
      </p:sp>
      <p:sp>
        <p:nvSpPr>
          <p:cNvPr id="6" name="Shape 4"/>
          <p:cNvSpPr/>
          <p:nvPr/>
        </p:nvSpPr>
        <p:spPr>
          <a:xfrm>
            <a:off x="5486400" y="1554480"/>
            <a:ext cx="365760" cy="42976"/>
          </a:xfrm>
          <a:prstGeom prst="line">
            <a:avLst/>
          </a:prstGeom>
          <a:noFill/>
          <a:ln w="7620">
            <a:solidFill>
              <a:srgbClr val="1565C0"/>
            </a:solidFill>
            <a:prstDash val="solid"/>
          </a:ln>
        </p:spPr>
        <p:txBody>
          <a:bodyPr/>
          <a:lstStyle/>
          <a:p>
            <a:endParaRPr lang="en-CN"/>
          </a:p>
        </p:txBody>
      </p:sp>
      <p:sp>
        <p:nvSpPr>
          <p:cNvPr id="7" name="Shape 5"/>
          <p:cNvSpPr/>
          <p:nvPr/>
        </p:nvSpPr>
        <p:spPr>
          <a:xfrm>
            <a:off x="5852160" y="1597456"/>
            <a:ext cx="365760" cy="10453"/>
          </a:xfrm>
          <a:prstGeom prst="line">
            <a:avLst/>
          </a:prstGeom>
          <a:noFill/>
          <a:ln w="7620">
            <a:solidFill>
              <a:srgbClr val="1565C0"/>
            </a:solidFill>
            <a:prstDash val="solid"/>
          </a:ln>
        </p:spPr>
        <p:txBody>
          <a:bodyPr/>
          <a:lstStyle/>
          <a:p>
            <a:endParaRPr lang="en-CN"/>
          </a:p>
        </p:txBody>
      </p:sp>
      <p:sp>
        <p:nvSpPr>
          <p:cNvPr id="8" name="Shape 6"/>
          <p:cNvSpPr/>
          <p:nvPr/>
        </p:nvSpPr>
        <p:spPr>
          <a:xfrm>
            <a:off x="6217920" y="1607909"/>
            <a:ext cx="365760" cy="0"/>
          </a:xfrm>
          <a:prstGeom prst="line">
            <a:avLst/>
          </a:prstGeom>
          <a:noFill/>
          <a:ln w="7620">
            <a:solidFill>
              <a:srgbClr val="1565C0"/>
            </a:solidFill>
            <a:prstDash val="solid"/>
          </a:ln>
        </p:spPr>
        <p:txBody>
          <a:bodyPr/>
          <a:lstStyle/>
          <a:p>
            <a:endParaRPr lang="en-CN"/>
          </a:p>
        </p:txBody>
      </p:sp>
      <p:sp>
        <p:nvSpPr>
          <p:cNvPr id="9" name="Shape 7"/>
          <p:cNvSpPr/>
          <p:nvPr/>
        </p:nvSpPr>
        <p:spPr>
          <a:xfrm>
            <a:off x="6583680" y="1577928"/>
            <a:ext cx="365760" cy="0"/>
          </a:xfrm>
          <a:prstGeom prst="line">
            <a:avLst/>
          </a:prstGeom>
          <a:noFill/>
          <a:ln w="7620">
            <a:solidFill>
              <a:srgbClr val="1565C0"/>
            </a:solidFill>
            <a:prstDash val="solid"/>
          </a:ln>
        </p:spPr>
        <p:txBody>
          <a:bodyPr/>
          <a:lstStyle/>
          <a:p>
            <a:endParaRPr lang="en-CN"/>
          </a:p>
        </p:txBody>
      </p:sp>
      <p:sp>
        <p:nvSpPr>
          <p:cNvPr id="10" name="Shape 8"/>
          <p:cNvSpPr/>
          <p:nvPr/>
        </p:nvSpPr>
        <p:spPr>
          <a:xfrm>
            <a:off x="6949440" y="1530202"/>
            <a:ext cx="365760" cy="0"/>
          </a:xfrm>
          <a:prstGeom prst="line">
            <a:avLst/>
          </a:prstGeom>
          <a:noFill/>
          <a:ln w="7620">
            <a:solidFill>
              <a:srgbClr val="1565C0"/>
            </a:solidFill>
            <a:prstDash val="solid"/>
          </a:ln>
        </p:spPr>
        <p:txBody>
          <a:bodyPr/>
          <a:lstStyle/>
          <a:p>
            <a:endParaRPr lang="en-CN"/>
          </a:p>
        </p:txBody>
      </p:sp>
      <p:sp>
        <p:nvSpPr>
          <p:cNvPr id="11" name="Shape 9"/>
          <p:cNvSpPr/>
          <p:nvPr/>
        </p:nvSpPr>
        <p:spPr>
          <a:xfrm>
            <a:off x="7315200" y="1500849"/>
            <a:ext cx="365760" cy="11234"/>
          </a:xfrm>
          <a:prstGeom prst="line">
            <a:avLst/>
          </a:prstGeom>
          <a:noFill/>
          <a:ln w="7620">
            <a:solidFill>
              <a:srgbClr val="1565C0"/>
            </a:solidFill>
            <a:prstDash val="solid"/>
          </a:ln>
        </p:spPr>
        <p:txBody>
          <a:bodyPr/>
          <a:lstStyle/>
          <a:p>
            <a:endParaRPr lang="en-CN"/>
          </a:p>
        </p:txBody>
      </p:sp>
      <p:sp>
        <p:nvSpPr>
          <p:cNvPr id="12" name="Shape 10"/>
          <p:cNvSpPr/>
          <p:nvPr/>
        </p:nvSpPr>
        <p:spPr>
          <a:xfrm>
            <a:off x="7680960" y="1512083"/>
            <a:ext cx="365760" cy="43319"/>
          </a:xfrm>
          <a:prstGeom prst="line">
            <a:avLst/>
          </a:prstGeom>
          <a:noFill/>
          <a:ln w="7620">
            <a:solidFill>
              <a:srgbClr val="1565C0"/>
            </a:solidFill>
            <a:prstDash val="solid"/>
          </a:ln>
        </p:spPr>
        <p:txBody>
          <a:bodyPr/>
          <a:lstStyle/>
          <a:p>
            <a:endParaRPr lang="en-CN"/>
          </a:p>
        </p:txBody>
      </p:sp>
      <p:sp>
        <p:nvSpPr>
          <p:cNvPr id="13" name="Shape 11"/>
          <p:cNvSpPr/>
          <p:nvPr/>
        </p:nvSpPr>
        <p:spPr>
          <a:xfrm>
            <a:off x="8046720" y="1555402"/>
            <a:ext cx="365760" cy="42621"/>
          </a:xfrm>
          <a:prstGeom prst="line">
            <a:avLst/>
          </a:prstGeom>
          <a:noFill/>
          <a:ln w="7620">
            <a:solidFill>
              <a:srgbClr val="1565C0"/>
            </a:solidFill>
            <a:prstDash val="solid"/>
          </a:ln>
        </p:spPr>
        <p:txBody>
          <a:bodyPr/>
          <a:lstStyle/>
          <a:p>
            <a:endParaRPr lang="en-CN"/>
          </a:p>
        </p:txBody>
      </p:sp>
      <p:sp>
        <p:nvSpPr>
          <p:cNvPr id="14" name="Shape 12"/>
          <p:cNvSpPr/>
          <p:nvPr/>
        </p:nvSpPr>
        <p:spPr>
          <a:xfrm>
            <a:off x="5486400" y="1554480"/>
            <a:ext cx="35344" cy="365760"/>
          </a:xfrm>
          <a:prstGeom prst="line">
            <a:avLst/>
          </a:prstGeom>
          <a:noFill/>
          <a:ln w="7620">
            <a:solidFill>
              <a:srgbClr val="FF6B35"/>
            </a:solidFill>
            <a:prstDash val="solid"/>
          </a:ln>
        </p:spPr>
        <p:txBody>
          <a:bodyPr/>
          <a:lstStyle/>
          <a:p>
            <a:endParaRPr lang="en-CN"/>
          </a:p>
        </p:txBody>
      </p:sp>
      <p:sp>
        <p:nvSpPr>
          <p:cNvPr id="15" name="Shape 13"/>
          <p:cNvSpPr/>
          <p:nvPr/>
        </p:nvSpPr>
        <p:spPr>
          <a:xfrm>
            <a:off x="5521744" y="1920240"/>
            <a:ext cx="18721" cy="365760"/>
          </a:xfrm>
          <a:prstGeom prst="line">
            <a:avLst/>
          </a:prstGeom>
          <a:noFill/>
          <a:ln w="7620">
            <a:solidFill>
              <a:srgbClr val="FF6B35"/>
            </a:solidFill>
            <a:prstDash val="solid"/>
          </a:ln>
        </p:spPr>
        <p:txBody>
          <a:bodyPr/>
          <a:lstStyle/>
          <a:p>
            <a:endParaRPr lang="en-CN"/>
          </a:p>
        </p:txBody>
      </p:sp>
      <p:sp>
        <p:nvSpPr>
          <p:cNvPr id="16" name="Shape 14"/>
          <p:cNvSpPr/>
          <p:nvPr/>
        </p:nvSpPr>
        <p:spPr>
          <a:xfrm>
            <a:off x="5540466" y="2286000"/>
            <a:ext cx="0" cy="365760"/>
          </a:xfrm>
          <a:prstGeom prst="line">
            <a:avLst/>
          </a:prstGeom>
          <a:noFill/>
          <a:ln w="7620">
            <a:solidFill>
              <a:srgbClr val="FF6B35"/>
            </a:solidFill>
            <a:prstDash val="solid"/>
          </a:ln>
        </p:spPr>
        <p:txBody>
          <a:bodyPr/>
          <a:lstStyle/>
          <a:p>
            <a:endParaRPr lang="en-CN"/>
          </a:p>
        </p:txBody>
      </p:sp>
      <p:sp>
        <p:nvSpPr>
          <p:cNvPr id="17" name="Shape 15"/>
          <p:cNvSpPr/>
          <p:nvPr/>
        </p:nvSpPr>
        <p:spPr>
          <a:xfrm>
            <a:off x="5533759" y="2651760"/>
            <a:ext cx="0" cy="365760"/>
          </a:xfrm>
          <a:prstGeom prst="line">
            <a:avLst/>
          </a:prstGeom>
          <a:noFill/>
          <a:ln w="7620">
            <a:solidFill>
              <a:srgbClr val="FF6B35"/>
            </a:solidFill>
            <a:prstDash val="solid"/>
          </a:ln>
        </p:spPr>
        <p:txBody>
          <a:bodyPr/>
          <a:lstStyle/>
          <a:p>
            <a:endParaRPr lang="en-CN"/>
          </a:p>
        </p:txBody>
      </p:sp>
      <p:sp>
        <p:nvSpPr>
          <p:cNvPr id="18" name="Shape 16"/>
          <p:cNvSpPr/>
          <p:nvPr/>
        </p:nvSpPr>
        <p:spPr>
          <a:xfrm>
            <a:off x="5504779" y="3017520"/>
            <a:ext cx="0" cy="365760"/>
          </a:xfrm>
          <a:prstGeom prst="line">
            <a:avLst/>
          </a:prstGeom>
          <a:noFill/>
          <a:ln w="7620">
            <a:solidFill>
              <a:srgbClr val="FF6B35"/>
            </a:solidFill>
            <a:prstDash val="solid"/>
          </a:ln>
        </p:spPr>
        <p:txBody>
          <a:bodyPr/>
          <a:lstStyle/>
          <a:p>
            <a:endParaRPr lang="en-CN"/>
          </a:p>
        </p:txBody>
      </p:sp>
      <p:sp>
        <p:nvSpPr>
          <p:cNvPr id="19" name="Shape 17"/>
          <p:cNvSpPr/>
          <p:nvPr/>
        </p:nvSpPr>
        <p:spPr>
          <a:xfrm>
            <a:off x="5467155" y="3383280"/>
            <a:ext cx="0" cy="365760"/>
          </a:xfrm>
          <a:prstGeom prst="line">
            <a:avLst/>
          </a:prstGeom>
          <a:noFill/>
          <a:ln w="7620">
            <a:solidFill>
              <a:srgbClr val="FF6B35"/>
            </a:solidFill>
            <a:prstDash val="solid"/>
          </a:ln>
        </p:spPr>
        <p:txBody>
          <a:bodyPr/>
          <a:lstStyle/>
          <a:p>
            <a:endParaRPr lang="en-CN"/>
          </a:p>
        </p:txBody>
      </p:sp>
      <p:sp>
        <p:nvSpPr>
          <p:cNvPr id="20" name="Shape 18"/>
          <p:cNvSpPr/>
          <p:nvPr/>
        </p:nvSpPr>
        <p:spPr>
          <a:xfrm>
            <a:off x="5438582" y="3749040"/>
            <a:ext cx="0" cy="365760"/>
          </a:xfrm>
          <a:prstGeom prst="line">
            <a:avLst/>
          </a:prstGeom>
          <a:noFill/>
          <a:ln w="7620">
            <a:solidFill>
              <a:srgbClr val="FF6B35"/>
            </a:solidFill>
            <a:prstDash val="solid"/>
          </a:ln>
        </p:spPr>
        <p:txBody>
          <a:bodyPr/>
          <a:lstStyle/>
          <a:p>
            <a:endParaRPr lang="en-CN"/>
          </a:p>
        </p:txBody>
      </p:sp>
      <p:sp>
        <p:nvSpPr>
          <p:cNvPr id="21" name="Shape 19"/>
          <p:cNvSpPr/>
          <p:nvPr/>
        </p:nvSpPr>
        <p:spPr>
          <a:xfrm>
            <a:off x="5432499" y="4114800"/>
            <a:ext cx="19267" cy="365760"/>
          </a:xfrm>
          <a:prstGeom prst="line">
            <a:avLst/>
          </a:prstGeom>
          <a:noFill/>
          <a:ln w="7620">
            <a:solidFill>
              <a:srgbClr val="FF6B35"/>
            </a:solidFill>
            <a:prstDash val="solid"/>
          </a:ln>
        </p:spPr>
        <p:txBody>
          <a:bodyPr/>
          <a:lstStyle/>
          <a:p>
            <a:endParaRPr lang="en-CN"/>
          </a:p>
        </p:txBody>
      </p:sp>
      <p:sp>
        <p:nvSpPr>
          <p:cNvPr id="22" name="Shape 20"/>
          <p:cNvSpPr/>
          <p:nvPr/>
        </p:nvSpPr>
        <p:spPr>
          <a:xfrm>
            <a:off x="5486400" y="1936453"/>
            <a:ext cx="365760" cy="34922"/>
          </a:xfrm>
          <a:prstGeom prst="line">
            <a:avLst/>
          </a:prstGeom>
          <a:noFill/>
          <a:ln w="7620">
            <a:solidFill>
              <a:srgbClr val="1565C0"/>
            </a:solidFill>
            <a:prstDash val="solid"/>
          </a:ln>
        </p:spPr>
        <p:txBody>
          <a:bodyPr/>
          <a:lstStyle/>
          <a:p>
            <a:endParaRPr lang="en-CN"/>
          </a:p>
        </p:txBody>
      </p:sp>
      <p:sp>
        <p:nvSpPr>
          <p:cNvPr id="23" name="Shape 21"/>
          <p:cNvSpPr/>
          <p:nvPr/>
        </p:nvSpPr>
        <p:spPr>
          <a:xfrm>
            <a:off x="5852160" y="1971375"/>
            <a:ext cx="365760" cy="0"/>
          </a:xfrm>
          <a:prstGeom prst="line">
            <a:avLst/>
          </a:prstGeom>
          <a:noFill/>
          <a:ln w="7620">
            <a:solidFill>
              <a:srgbClr val="1565C0"/>
            </a:solidFill>
            <a:prstDash val="solid"/>
          </a:ln>
        </p:spPr>
        <p:txBody>
          <a:bodyPr/>
          <a:lstStyle/>
          <a:p>
            <a:endParaRPr lang="en-CN"/>
          </a:p>
        </p:txBody>
      </p:sp>
      <p:sp>
        <p:nvSpPr>
          <p:cNvPr id="24" name="Shape 22"/>
          <p:cNvSpPr/>
          <p:nvPr/>
        </p:nvSpPr>
        <p:spPr>
          <a:xfrm>
            <a:off x="6217920" y="1967599"/>
            <a:ext cx="365760" cy="0"/>
          </a:xfrm>
          <a:prstGeom prst="line">
            <a:avLst/>
          </a:prstGeom>
          <a:noFill/>
          <a:ln w="7620">
            <a:solidFill>
              <a:srgbClr val="1565C0"/>
            </a:solidFill>
            <a:prstDash val="solid"/>
          </a:ln>
        </p:spPr>
        <p:txBody>
          <a:bodyPr/>
          <a:lstStyle/>
          <a:p>
            <a:endParaRPr lang="en-CN"/>
          </a:p>
        </p:txBody>
      </p:sp>
      <p:sp>
        <p:nvSpPr>
          <p:cNvPr id="25" name="Shape 23"/>
          <p:cNvSpPr/>
          <p:nvPr/>
        </p:nvSpPr>
        <p:spPr>
          <a:xfrm>
            <a:off x="6583680" y="1927982"/>
            <a:ext cx="365760" cy="0"/>
          </a:xfrm>
          <a:prstGeom prst="line">
            <a:avLst/>
          </a:prstGeom>
          <a:noFill/>
          <a:ln w="7620">
            <a:solidFill>
              <a:srgbClr val="1565C0"/>
            </a:solidFill>
            <a:prstDash val="solid"/>
          </a:ln>
        </p:spPr>
        <p:txBody>
          <a:bodyPr/>
          <a:lstStyle/>
          <a:p>
            <a:endParaRPr lang="en-CN"/>
          </a:p>
        </p:txBody>
      </p:sp>
      <p:sp>
        <p:nvSpPr>
          <p:cNvPr id="26" name="Shape 24"/>
          <p:cNvSpPr/>
          <p:nvPr/>
        </p:nvSpPr>
        <p:spPr>
          <a:xfrm>
            <a:off x="6949440" y="1882506"/>
            <a:ext cx="365760" cy="0"/>
          </a:xfrm>
          <a:prstGeom prst="line">
            <a:avLst/>
          </a:prstGeom>
          <a:noFill/>
          <a:ln w="7620">
            <a:solidFill>
              <a:srgbClr val="1565C0"/>
            </a:solidFill>
            <a:prstDash val="solid"/>
          </a:ln>
        </p:spPr>
        <p:txBody>
          <a:bodyPr/>
          <a:lstStyle/>
          <a:p>
            <a:endParaRPr lang="en-CN"/>
          </a:p>
        </p:txBody>
      </p:sp>
      <p:sp>
        <p:nvSpPr>
          <p:cNvPr id="27" name="Shape 25"/>
          <p:cNvSpPr/>
          <p:nvPr/>
        </p:nvSpPr>
        <p:spPr>
          <a:xfrm>
            <a:off x="7315200" y="1865586"/>
            <a:ext cx="365760" cy="24441"/>
          </a:xfrm>
          <a:prstGeom prst="line">
            <a:avLst/>
          </a:prstGeom>
          <a:noFill/>
          <a:ln w="7620">
            <a:solidFill>
              <a:srgbClr val="1565C0"/>
            </a:solidFill>
            <a:prstDash val="solid"/>
          </a:ln>
        </p:spPr>
        <p:txBody>
          <a:bodyPr/>
          <a:lstStyle/>
          <a:p>
            <a:endParaRPr lang="en-CN"/>
          </a:p>
        </p:txBody>
      </p:sp>
      <p:sp>
        <p:nvSpPr>
          <p:cNvPr id="28" name="Shape 26"/>
          <p:cNvSpPr/>
          <p:nvPr/>
        </p:nvSpPr>
        <p:spPr>
          <a:xfrm>
            <a:off x="7680960" y="1890027"/>
            <a:ext cx="365760" cy="47305"/>
          </a:xfrm>
          <a:prstGeom prst="line">
            <a:avLst/>
          </a:prstGeom>
          <a:noFill/>
          <a:ln w="7620">
            <a:solidFill>
              <a:srgbClr val="1565C0"/>
            </a:solidFill>
            <a:prstDash val="solid"/>
          </a:ln>
        </p:spPr>
        <p:txBody>
          <a:bodyPr/>
          <a:lstStyle/>
          <a:p>
            <a:endParaRPr lang="en-CN"/>
          </a:p>
        </p:txBody>
      </p:sp>
      <p:sp>
        <p:nvSpPr>
          <p:cNvPr id="29" name="Shape 27"/>
          <p:cNvSpPr/>
          <p:nvPr/>
        </p:nvSpPr>
        <p:spPr>
          <a:xfrm>
            <a:off x="8046720" y="1937332"/>
            <a:ext cx="365760" cy="34370"/>
          </a:xfrm>
          <a:prstGeom prst="line">
            <a:avLst/>
          </a:prstGeom>
          <a:noFill/>
          <a:ln w="7620">
            <a:solidFill>
              <a:srgbClr val="1565C0"/>
            </a:solidFill>
            <a:prstDash val="solid"/>
          </a:ln>
        </p:spPr>
        <p:txBody>
          <a:bodyPr/>
          <a:lstStyle/>
          <a:p>
            <a:endParaRPr lang="en-CN"/>
          </a:p>
        </p:txBody>
      </p:sp>
      <p:sp>
        <p:nvSpPr>
          <p:cNvPr id="30" name="Shape 28"/>
          <p:cNvSpPr/>
          <p:nvPr/>
        </p:nvSpPr>
        <p:spPr>
          <a:xfrm>
            <a:off x="5878463" y="1554480"/>
            <a:ext cx="24832" cy="365760"/>
          </a:xfrm>
          <a:prstGeom prst="line">
            <a:avLst/>
          </a:prstGeom>
          <a:noFill/>
          <a:ln w="7620">
            <a:solidFill>
              <a:srgbClr val="FF6B35"/>
            </a:solidFill>
            <a:prstDash val="solid"/>
          </a:ln>
        </p:spPr>
        <p:txBody>
          <a:bodyPr/>
          <a:lstStyle/>
          <a:p>
            <a:endParaRPr lang="en-CN"/>
          </a:p>
        </p:txBody>
      </p:sp>
      <p:sp>
        <p:nvSpPr>
          <p:cNvPr id="31" name="Shape 29"/>
          <p:cNvSpPr/>
          <p:nvPr/>
        </p:nvSpPr>
        <p:spPr>
          <a:xfrm>
            <a:off x="5903295" y="1920240"/>
            <a:ext cx="782" cy="365760"/>
          </a:xfrm>
          <a:prstGeom prst="line">
            <a:avLst/>
          </a:prstGeom>
          <a:noFill/>
          <a:ln w="7620">
            <a:solidFill>
              <a:srgbClr val="FF6B35"/>
            </a:solidFill>
            <a:prstDash val="solid"/>
          </a:ln>
        </p:spPr>
        <p:txBody>
          <a:bodyPr/>
          <a:lstStyle/>
          <a:p>
            <a:endParaRPr lang="en-CN"/>
          </a:p>
        </p:txBody>
      </p:sp>
      <p:sp>
        <p:nvSpPr>
          <p:cNvPr id="32" name="Shape 30"/>
          <p:cNvSpPr/>
          <p:nvPr/>
        </p:nvSpPr>
        <p:spPr>
          <a:xfrm>
            <a:off x="5904078" y="2286000"/>
            <a:ext cx="0" cy="365760"/>
          </a:xfrm>
          <a:prstGeom prst="line">
            <a:avLst/>
          </a:prstGeom>
          <a:noFill/>
          <a:ln w="7620">
            <a:solidFill>
              <a:srgbClr val="FF6B35"/>
            </a:solidFill>
            <a:prstDash val="solid"/>
          </a:ln>
        </p:spPr>
        <p:txBody>
          <a:bodyPr/>
          <a:lstStyle/>
          <a:p>
            <a:endParaRPr lang="en-CN"/>
          </a:p>
        </p:txBody>
      </p:sp>
      <p:sp>
        <p:nvSpPr>
          <p:cNvPr id="33" name="Shape 31"/>
          <p:cNvSpPr/>
          <p:nvPr/>
        </p:nvSpPr>
        <p:spPr>
          <a:xfrm>
            <a:off x="5880442" y="2651760"/>
            <a:ext cx="0" cy="365760"/>
          </a:xfrm>
          <a:prstGeom prst="line">
            <a:avLst/>
          </a:prstGeom>
          <a:noFill/>
          <a:ln w="7620">
            <a:solidFill>
              <a:srgbClr val="FF6B35"/>
            </a:solidFill>
            <a:prstDash val="solid"/>
          </a:ln>
        </p:spPr>
        <p:txBody>
          <a:bodyPr/>
          <a:lstStyle/>
          <a:p>
            <a:endParaRPr lang="en-CN"/>
          </a:p>
        </p:txBody>
      </p:sp>
      <p:sp>
        <p:nvSpPr>
          <p:cNvPr id="34" name="Shape 32"/>
          <p:cNvSpPr/>
          <p:nvPr/>
        </p:nvSpPr>
        <p:spPr>
          <a:xfrm>
            <a:off x="5843505" y="3017520"/>
            <a:ext cx="0" cy="365760"/>
          </a:xfrm>
          <a:prstGeom prst="line">
            <a:avLst/>
          </a:prstGeom>
          <a:noFill/>
          <a:ln w="7620">
            <a:solidFill>
              <a:srgbClr val="FF6B35"/>
            </a:solidFill>
            <a:prstDash val="solid"/>
          </a:ln>
        </p:spPr>
        <p:txBody>
          <a:bodyPr/>
          <a:lstStyle/>
          <a:p>
            <a:endParaRPr lang="en-CN"/>
          </a:p>
        </p:txBody>
      </p:sp>
      <p:sp>
        <p:nvSpPr>
          <p:cNvPr id="35" name="Shape 33"/>
          <p:cNvSpPr/>
          <p:nvPr/>
        </p:nvSpPr>
        <p:spPr>
          <a:xfrm>
            <a:off x="5810639" y="3383280"/>
            <a:ext cx="0" cy="365760"/>
          </a:xfrm>
          <a:prstGeom prst="line">
            <a:avLst/>
          </a:prstGeom>
          <a:noFill/>
          <a:ln w="7620">
            <a:solidFill>
              <a:srgbClr val="FF6B35"/>
            </a:solidFill>
            <a:prstDash val="solid"/>
          </a:ln>
        </p:spPr>
        <p:txBody>
          <a:bodyPr/>
          <a:lstStyle/>
          <a:p>
            <a:endParaRPr lang="en-CN"/>
          </a:p>
        </p:txBody>
      </p:sp>
      <p:sp>
        <p:nvSpPr>
          <p:cNvPr id="36" name="Shape 34"/>
          <p:cNvSpPr/>
          <p:nvPr/>
        </p:nvSpPr>
        <p:spPr>
          <a:xfrm>
            <a:off x="5797300" y="3749040"/>
            <a:ext cx="12463" cy="365760"/>
          </a:xfrm>
          <a:prstGeom prst="line">
            <a:avLst/>
          </a:prstGeom>
          <a:noFill/>
          <a:ln w="7620">
            <a:solidFill>
              <a:srgbClr val="FF6B35"/>
            </a:solidFill>
            <a:prstDash val="solid"/>
          </a:ln>
        </p:spPr>
        <p:txBody>
          <a:bodyPr/>
          <a:lstStyle/>
          <a:p>
            <a:endParaRPr lang="en-CN"/>
          </a:p>
        </p:txBody>
      </p:sp>
      <p:sp>
        <p:nvSpPr>
          <p:cNvPr id="37" name="Shape 35"/>
          <p:cNvSpPr/>
          <p:nvPr/>
        </p:nvSpPr>
        <p:spPr>
          <a:xfrm>
            <a:off x="5809763" y="4114800"/>
            <a:ext cx="32403" cy="365760"/>
          </a:xfrm>
          <a:prstGeom prst="line">
            <a:avLst/>
          </a:prstGeom>
          <a:noFill/>
          <a:ln w="7620">
            <a:solidFill>
              <a:srgbClr val="FF6B35"/>
            </a:solidFill>
            <a:prstDash val="solid"/>
          </a:ln>
        </p:spPr>
        <p:txBody>
          <a:bodyPr/>
          <a:lstStyle/>
          <a:p>
            <a:endParaRPr lang="en-CN"/>
          </a:p>
        </p:txBody>
      </p:sp>
      <p:sp>
        <p:nvSpPr>
          <p:cNvPr id="38" name="Shape 36"/>
          <p:cNvSpPr/>
          <p:nvPr/>
        </p:nvSpPr>
        <p:spPr>
          <a:xfrm>
            <a:off x="5486400" y="2316979"/>
            <a:ext cx="365760" cy="23748"/>
          </a:xfrm>
          <a:prstGeom prst="line">
            <a:avLst/>
          </a:prstGeom>
          <a:noFill/>
          <a:ln w="7620">
            <a:solidFill>
              <a:srgbClr val="1565C0"/>
            </a:solidFill>
            <a:prstDash val="solid"/>
          </a:ln>
        </p:spPr>
        <p:txBody>
          <a:bodyPr/>
          <a:lstStyle/>
          <a:p>
            <a:endParaRPr lang="en-CN"/>
          </a:p>
        </p:txBody>
      </p:sp>
      <p:sp>
        <p:nvSpPr>
          <p:cNvPr id="39" name="Shape 37"/>
          <p:cNvSpPr/>
          <p:nvPr/>
        </p:nvSpPr>
        <p:spPr>
          <a:xfrm>
            <a:off x="5852160" y="2340727"/>
            <a:ext cx="365760" cy="0"/>
          </a:xfrm>
          <a:prstGeom prst="line">
            <a:avLst/>
          </a:prstGeom>
          <a:noFill/>
          <a:ln w="7620">
            <a:solidFill>
              <a:srgbClr val="1565C0"/>
            </a:solidFill>
            <a:prstDash val="solid"/>
          </a:ln>
        </p:spPr>
        <p:txBody>
          <a:bodyPr/>
          <a:lstStyle/>
          <a:p>
            <a:endParaRPr lang="en-CN"/>
          </a:p>
        </p:txBody>
      </p:sp>
      <p:sp>
        <p:nvSpPr>
          <p:cNvPr id="40" name="Shape 38"/>
          <p:cNvSpPr/>
          <p:nvPr/>
        </p:nvSpPr>
        <p:spPr>
          <a:xfrm>
            <a:off x="6217920" y="2323059"/>
            <a:ext cx="365760" cy="0"/>
          </a:xfrm>
          <a:prstGeom prst="line">
            <a:avLst/>
          </a:prstGeom>
          <a:noFill/>
          <a:ln w="7620">
            <a:solidFill>
              <a:srgbClr val="1565C0"/>
            </a:solidFill>
            <a:prstDash val="solid"/>
          </a:ln>
        </p:spPr>
        <p:txBody>
          <a:bodyPr/>
          <a:lstStyle/>
          <a:p>
            <a:endParaRPr lang="en-CN"/>
          </a:p>
        </p:txBody>
      </p:sp>
      <p:sp>
        <p:nvSpPr>
          <p:cNvPr id="41" name="Shape 39"/>
          <p:cNvSpPr/>
          <p:nvPr/>
        </p:nvSpPr>
        <p:spPr>
          <a:xfrm>
            <a:off x="6583680" y="2277345"/>
            <a:ext cx="365760" cy="0"/>
          </a:xfrm>
          <a:prstGeom prst="line">
            <a:avLst/>
          </a:prstGeom>
          <a:noFill/>
          <a:ln w="7620">
            <a:solidFill>
              <a:srgbClr val="1565C0"/>
            </a:solidFill>
            <a:prstDash val="solid"/>
          </a:ln>
        </p:spPr>
        <p:txBody>
          <a:bodyPr/>
          <a:lstStyle/>
          <a:p>
            <a:endParaRPr lang="en-CN"/>
          </a:p>
        </p:txBody>
      </p:sp>
      <p:sp>
        <p:nvSpPr>
          <p:cNvPr id="42" name="Shape 40"/>
          <p:cNvSpPr/>
          <p:nvPr/>
        </p:nvSpPr>
        <p:spPr>
          <a:xfrm>
            <a:off x="6949440" y="2238182"/>
            <a:ext cx="365760" cy="0"/>
          </a:xfrm>
          <a:prstGeom prst="line">
            <a:avLst/>
          </a:prstGeom>
          <a:noFill/>
          <a:ln w="7620">
            <a:solidFill>
              <a:srgbClr val="1565C0"/>
            </a:solidFill>
            <a:prstDash val="solid"/>
          </a:ln>
        </p:spPr>
        <p:txBody>
          <a:bodyPr/>
          <a:lstStyle/>
          <a:p>
            <a:endParaRPr lang="en-CN"/>
          </a:p>
        </p:txBody>
      </p:sp>
      <p:sp>
        <p:nvSpPr>
          <p:cNvPr id="43" name="Shape 41"/>
          <p:cNvSpPr/>
          <p:nvPr/>
        </p:nvSpPr>
        <p:spPr>
          <a:xfrm>
            <a:off x="7315200" y="2235206"/>
            <a:ext cx="365760" cy="35464"/>
          </a:xfrm>
          <a:prstGeom prst="line">
            <a:avLst/>
          </a:prstGeom>
          <a:noFill/>
          <a:ln w="7620">
            <a:solidFill>
              <a:srgbClr val="1565C0"/>
            </a:solidFill>
            <a:prstDash val="solid"/>
          </a:ln>
        </p:spPr>
        <p:txBody>
          <a:bodyPr/>
          <a:lstStyle/>
          <a:p>
            <a:endParaRPr lang="en-CN"/>
          </a:p>
        </p:txBody>
      </p:sp>
      <p:sp>
        <p:nvSpPr>
          <p:cNvPr id="44" name="Shape 42"/>
          <p:cNvSpPr/>
          <p:nvPr/>
        </p:nvSpPr>
        <p:spPr>
          <a:xfrm>
            <a:off x="7680960" y="2270670"/>
            <a:ext cx="365760" cy="47065"/>
          </a:xfrm>
          <a:prstGeom prst="line">
            <a:avLst/>
          </a:prstGeom>
          <a:noFill/>
          <a:ln w="7620">
            <a:solidFill>
              <a:srgbClr val="1565C0"/>
            </a:solidFill>
            <a:prstDash val="solid"/>
          </a:ln>
        </p:spPr>
        <p:txBody>
          <a:bodyPr/>
          <a:lstStyle/>
          <a:p>
            <a:endParaRPr lang="en-CN"/>
          </a:p>
        </p:txBody>
      </p:sp>
      <p:sp>
        <p:nvSpPr>
          <p:cNvPr id="45" name="Shape 43"/>
          <p:cNvSpPr/>
          <p:nvPr/>
        </p:nvSpPr>
        <p:spPr>
          <a:xfrm>
            <a:off x="8046720" y="2317736"/>
            <a:ext cx="365760" cy="23049"/>
          </a:xfrm>
          <a:prstGeom prst="line">
            <a:avLst/>
          </a:prstGeom>
          <a:noFill/>
          <a:ln w="7620">
            <a:solidFill>
              <a:srgbClr val="1565C0"/>
            </a:solidFill>
            <a:prstDash val="solid"/>
          </a:ln>
        </p:spPr>
        <p:txBody>
          <a:bodyPr/>
          <a:lstStyle/>
          <a:p>
            <a:endParaRPr lang="en-CN"/>
          </a:p>
        </p:txBody>
      </p:sp>
      <p:sp>
        <p:nvSpPr>
          <p:cNvPr id="46" name="Shape 44"/>
          <p:cNvSpPr/>
          <p:nvPr/>
        </p:nvSpPr>
        <p:spPr>
          <a:xfrm>
            <a:off x="6264086" y="1554480"/>
            <a:ext cx="8240" cy="365760"/>
          </a:xfrm>
          <a:prstGeom prst="line">
            <a:avLst/>
          </a:prstGeom>
          <a:noFill/>
          <a:ln w="7620">
            <a:solidFill>
              <a:srgbClr val="FF6B35"/>
            </a:solidFill>
            <a:prstDash val="solid"/>
          </a:ln>
        </p:spPr>
        <p:txBody>
          <a:bodyPr/>
          <a:lstStyle/>
          <a:p>
            <a:endParaRPr lang="en-CN"/>
          </a:p>
        </p:txBody>
      </p:sp>
      <p:sp>
        <p:nvSpPr>
          <p:cNvPr id="47" name="Shape 45"/>
          <p:cNvSpPr/>
          <p:nvPr/>
        </p:nvSpPr>
        <p:spPr>
          <a:xfrm>
            <a:off x="6272327" y="1920240"/>
            <a:ext cx="0" cy="365760"/>
          </a:xfrm>
          <a:prstGeom prst="line">
            <a:avLst/>
          </a:prstGeom>
          <a:noFill/>
          <a:ln w="7620">
            <a:solidFill>
              <a:srgbClr val="FF6B35"/>
            </a:solidFill>
            <a:prstDash val="solid"/>
          </a:ln>
        </p:spPr>
        <p:txBody>
          <a:bodyPr/>
          <a:lstStyle/>
          <a:p>
            <a:endParaRPr lang="en-CN"/>
          </a:p>
        </p:txBody>
      </p:sp>
      <p:sp>
        <p:nvSpPr>
          <p:cNvPr id="48" name="Shape 46"/>
          <p:cNvSpPr/>
          <p:nvPr/>
        </p:nvSpPr>
        <p:spPr>
          <a:xfrm>
            <a:off x="6254979" y="2286000"/>
            <a:ext cx="0" cy="365760"/>
          </a:xfrm>
          <a:prstGeom prst="line">
            <a:avLst/>
          </a:prstGeom>
          <a:noFill/>
          <a:ln w="7620">
            <a:solidFill>
              <a:srgbClr val="FF6B35"/>
            </a:solidFill>
            <a:prstDash val="solid"/>
          </a:ln>
        </p:spPr>
        <p:txBody>
          <a:bodyPr/>
          <a:lstStyle/>
          <a:p>
            <a:endParaRPr lang="en-CN"/>
          </a:p>
        </p:txBody>
      </p:sp>
      <p:sp>
        <p:nvSpPr>
          <p:cNvPr id="49" name="Shape 47"/>
          <p:cNvSpPr/>
          <p:nvPr/>
        </p:nvSpPr>
        <p:spPr>
          <a:xfrm>
            <a:off x="6220201" y="2651760"/>
            <a:ext cx="0" cy="365760"/>
          </a:xfrm>
          <a:prstGeom prst="line">
            <a:avLst/>
          </a:prstGeom>
          <a:noFill/>
          <a:ln w="7620">
            <a:solidFill>
              <a:srgbClr val="FF6B35"/>
            </a:solidFill>
            <a:prstDash val="solid"/>
          </a:ln>
        </p:spPr>
        <p:txBody>
          <a:bodyPr/>
          <a:lstStyle/>
          <a:p>
            <a:endParaRPr lang="en-CN"/>
          </a:p>
        </p:txBody>
      </p:sp>
      <p:sp>
        <p:nvSpPr>
          <p:cNvPr id="50" name="Shape 48"/>
          <p:cNvSpPr/>
          <p:nvPr/>
        </p:nvSpPr>
        <p:spPr>
          <a:xfrm>
            <a:off x="6184351" y="3017520"/>
            <a:ext cx="0" cy="365760"/>
          </a:xfrm>
          <a:prstGeom prst="line">
            <a:avLst/>
          </a:prstGeom>
          <a:noFill/>
          <a:ln w="7620">
            <a:solidFill>
              <a:srgbClr val="FF6B35"/>
            </a:solidFill>
            <a:prstDash val="solid"/>
          </a:ln>
        </p:spPr>
        <p:txBody>
          <a:bodyPr/>
          <a:lstStyle/>
          <a:p>
            <a:endParaRPr lang="en-CN"/>
          </a:p>
        </p:txBody>
      </p:sp>
      <p:sp>
        <p:nvSpPr>
          <p:cNvPr id="51" name="Shape 49"/>
          <p:cNvSpPr/>
          <p:nvPr/>
        </p:nvSpPr>
        <p:spPr>
          <a:xfrm>
            <a:off x="6164289" y="3383280"/>
            <a:ext cx="5161" cy="365760"/>
          </a:xfrm>
          <a:prstGeom prst="line">
            <a:avLst/>
          </a:prstGeom>
          <a:noFill/>
          <a:ln w="7620">
            <a:solidFill>
              <a:srgbClr val="FF6B35"/>
            </a:solidFill>
            <a:prstDash val="solid"/>
          </a:ln>
        </p:spPr>
        <p:txBody>
          <a:bodyPr/>
          <a:lstStyle/>
          <a:p>
            <a:endParaRPr lang="en-CN"/>
          </a:p>
        </p:txBody>
      </p:sp>
      <p:sp>
        <p:nvSpPr>
          <p:cNvPr id="52" name="Shape 50"/>
          <p:cNvSpPr/>
          <p:nvPr/>
        </p:nvSpPr>
        <p:spPr>
          <a:xfrm>
            <a:off x="6169450" y="3749040"/>
            <a:ext cx="27957" cy="365760"/>
          </a:xfrm>
          <a:prstGeom prst="line">
            <a:avLst/>
          </a:prstGeom>
          <a:noFill/>
          <a:ln w="7620">
            <a:solidFill>
              <a:srgbClr val="FF6B35"/>
            </a:solidFill>
            <a:prstDash val="solid"/>
          </a:ln>
        </p:spPr>
        <p:txBody>
          <a:bodyPr/>
          <a:lstStyle/>
          <a:p>
            <a:endParaRPr lang="en-CN"/>
          </a:p>
        </p:txBody>
      </p:sp>
      <p:sp>
        <p:nvSpPr>
          <p:cNvPr id="53" name="Shape 51"/>
          <p:cNvSpPr/>
          <p:nvPr/>
        </p:nvSpPr>
        <p:spPr>
          <a:xfrm>
            <a:off x="6197408" y="4114800"/>
            <a:ext cx="37605" cy="365760"/>
          </a:xfrm>
          <a:prstGeom prst="line">
            <a:avLst/>
          </a:prstGeom>
          <a:noFill/>
          <a:ln w="7620">
            <a:solidFill>
              <a:srgbClr val="FF6B35"/>
            </a:solidFill>
            <a:prstDash val="solid"/>
          </a:ln>
        </p:spPr>
        <p:txBody>
          <a:bodyPr/>
          <a:lstStyle/>
          <a:p>
            <a:endParaRPr lang="en-CN"/>
          </a:p>
        </p:txBody>
      </p:sp>
      <p:sp>
        <p:nvSpPr>
          <p:cNvPr id="54" name="Shape 52"/>
          <p:cNvSpPr/>
          <p:nvPr/>
        </p:nvSpPr>
        <p:spPr>
          <a:xfrm>
            <a:off x="5486400" y="2694736"/>
            <a:ext cx="365760" cy="10453"/>
          </a:xfrm>
          <a:prstGeom prst="line">
            <a:avLst/>
          </a:prstGeom>
          <a:noFill/>
          <a:ln w="7620">
            <a:solidFill>
              <a:srgbClr val="1565C0"/>
            </a:solidFill>
            <a:prstDash val="solid"/>
          </a:ln>
        </p:spPr>
        <p:txBody>
          <a:bodyPr/>
          <a:lstStyle/>
          <a:p>
            <a:endParaRPr lang="en-CN"/>
          </a:p>
        </p:txBody>
      </p:sp>
      <p:sp>
        <p:nvSpPr>
          <p:cNvPr id="55" name="Shape 53"/>
          <p:cNvSpPr/>
          <p:nvPr/>
        </p:nvSpPr>
        <p:spPr>
          <a:xfrm>
            <a:off x="5852160" y="2705189"/>
            <a:ext cx="365760" cy="0"/>
          </a:xfrm>
          <a:prstGeom prst="line">
            <a:avLst/>
          </a:prstGeom>
          <a:noFill/>
          <a:ln w="7620">
            <a:solidFill>
              <a:srgbClr val="1565C0"/>
            </a:solidFill>
            <a:prstDash val="solid"/>
          </a:ln>
        </p:spPr>
        <p:txBody>
          <a:bodyPr/>
          <a:lstStyle/>
          <a:p>
            <a:endParaRPr lang="en-CN"/>
          </a:p>
        </p:txBody>
      </p:sp>
      <p:sp>
        <p:nvSpPr>
          <p:cNvPr id="56" name="Shape 54"/>
          <p:cNvSpPr/>
          <p:nvPr/>
        </p:nvSpPr>
        <p:spPr>
          <a:xfrm>
            <a:off x="6217920" y="2675208"/>
            <a:ext cx="365760" cy="0"/>
          </a:xfrm>
          <a:prstGeom prst="line">
            <a:avLst/>
          </a:prstGeom>
          <a:noFill/>
          <a:ln w="7620">
            <a:solidFill>
              <a:srgbClr val="1565C0"/>
            </a:solidFill>
            <a:prstDash val="solid"/>
          </a:ln>
        </p:spPr>
        <p:txBody>
          <a:bodyPr/>
          <a:lstStyle/>
          <a:p>
            <a:endParaRPr lang="en-CN"/>
          </a:p>
        </p:txBody>
      </p:sp>
      <p:sp>
        <p:nvSpPr>
          <p:cNvPr id="57" name="Shape 55"/>
          <p:cNvSpPr/>
          <p:nvPr/>
        </p:nvSpPr>
        <p:spPr>
          <a:xfrm>
            <a:off x="6583680" y="2627482"/>
            <a:ext cx="365760" cy="0"/>
          </a:xfrm>
          <a:prstGeom prst="line">
            <a:avLst/>
          </a:prstGeom>
          <a:noFill/>
          <a:ln w="7620">
            <a:solidFill>
              <a:srgbClr val="1565C0"/>
            </a:solidFill>
            <a:prstDash val="solid"/>
          </a:ln>
        </p:spPr>
        <p:txBody>
          <a:bodyPr/>
          <a:lstStyle/>
          <a:p>
            <a:endParaRPr lang="en-CN"/>
          </a:p>
        </p:txBody>
      </p:sp>
      <p:sp>
        <p:nvSpPr>
          <p:cNvPr id="58" name="Shape 56"/>
          <p:cNvSpPr/>
          <p:nvPr/>
        </p:nvSpPr>
        <p:spPr>
          <a:xfrm>
            <a:off x="6949440" y="2598129"/>
            <a:ext cx="365760" cy="11234"/>
          </a:xfrm>
          <a:prstGeom prst="line">
            <a:avLst/>
          </a:prstGeom>
          <a:noFill/>
          <a:ln w="7620">
            <a:solidFill>
              <a:srgbClr val="1565C0"/>
            </a:solidFill>
            <a:prstDash val="solid"/>
          </a:ln>
        </p:spPr>
        <p:txBody>
          <a:bodyPr/>
          <a:lstStyle/>
          <a:p>
            <a:endParaRPr lang="en-CN"/>
          </a:p>
        </p:txBody>
      </p:sp>
      <p:sp>
        <p:nvSpPr>
          <p:cNvPr id="59" name="Shape 57"/>
          <p:cNvSpPr/>
          <p:nvPr/>
        </p:nvSpPr>
        <p:spPr>
          <a:xfrm>
            <a:off x="7315200" y="2609363"/>
            <a:ext cx="365760" cy="43319"/>
          </a:xfrm>
          <a:prstGeom prst="line">
            <a:avLst/>
          </a:prstGeom>
          <a:noFill/>
          <a:ln w="7620">
            <a:solidFill>
              <a:srgbClr val="1565C0"/>
            </a:solidFill>
            <a:prstDash val="solid"/>
          </a:ln>
        </p:spPr>
        <p:txBody>
          <a:bodyPr/>
          <a:lstStyle/>
          <a:p>
            <a:endParaRPr lang="en-CN"/>
          </a:p>
        </p:txBody>
      </p:sp>
      <p:sp>
        <p:nvSpPr>
          <p:cNvPr id="60" name="Shape 58"/>
          <p:cNvSpPr/>
          <p:nvPr/>
        </p:nvSpPr>
        <p:spPr>
          <a:xfrm>
            <a:off x="7680960" y="2652682"/>
            <a:ext cx="365760" cy="42621"/>
          </a:xfrm>
          <a:prstGeom prst="line">
            <a:avLst/>
          </a:prstGeom>
          <a:noFill/>
          <a:ln w="7620">
            <a:solidFill>
              <a:srgbClr val="1565C0"/>
            </a:solidFill>
            <a:prstDash val="solid"/>
          </a:ln>
        </p:spPr>
        <p:txBody>
          <a:bodyPr/>
          <a:lstStyle/>
          <a:p>
            <a:endParaRPr lang="en-CN"/>
          </a:p>
        </p:txBody>
      </p:sp>
      <p:sp>
        <p:nvSpPr>
          <p:cNvPr id="61" name="Shape 59"/>
          <p:cNvSpPr/>
          <p:nvPr/>
        </p:nvSpPr>
        <p:spPr>
          <a:xfrm>
            <a:off x="8046720" y="2695304"/>
            <a:ext cx="365760" cy="9668"/>
          </a:xfrm>
          <a:prstGeom prst="line">
            <a:avLst/>
          </a:prstGeom>
          <a:noFill/>
          <a:ln w="7620">
            <a:solidFill>
              <a:srgbClr val="1565C0"/>
            </a:solidFill>
            <a:prstDash val="solid"/>
          </a:ln>
        </p:spPr>
        <p:txBody>
          <a:bodyPr/>
          <a:lstStyle/>
          <a:p>
            <a:endParaRPr lang="en-CN"/>
          </a:p>
        </p:txBody>
      </p:sp>
      <p:sp>
        <p:nvSpPr>
          <p:cNvPr id="62" name="Shape 60"/>
          <p:cNvSpPr/>
          <p:nvPr/>
        </p:nvSpPr>
        <p:spPr>
          <a:xfrm>
            <a:off x="6638407" y="1554480"/>
            <a:ext cx="0" cy="365760"/>
          </a:xfrm>
          <a:prstGeom prst="line">
            <a:avLst/>
          </a:prstGeom>
          <a:noFill/>
          <a:ln w="7620">
            <a:solidFill>
              <a:srgbClr val="FF6B35"/>
            </a:solidFill>
            <a:prstDash val="solid"/>
          </a:ln>
        </p:spPr>
        <p:txBody>
          <a:bodyPr/>
          <a:lstStyle/>
          <a:p>
            <a:endParaRPr lang="en-CN"/>
          </a:p>
        </p:txBody>
      </p:sp>
      <p:sp>
        <p:nvSpPr>
          <p:cNvPr id="63" name="Shape 61"/>
          <p:cNvSpPr/>
          <p:nvPr/>
        </p:nvSpPr>
        <p:spPr>
          <a:xfrm>
            <a:off x="6628037" y="1920240"/>
            <a:ext cx="0" cy="365760"/>
          </a:xfrm>
          <a:prstGeom prst="line">
            <a:avLst/>
          </a:prstGeom>
          <a:noFill/>
          <a:ln w="7620">
            <a:solidFill>
              <a:srgbClr val="FF6B35"/>
            </a:solidFill>
            <a:prstDash val="solid"/>
          </a:ln>
        </p:spPr>
        <p:txBody>
          <a:bodyPr/>
          <a:lstStyle/>
          <a:p>
            <a:endParaRPr lang="en-CN"/>
          </a:p>
        </p:txBody>
      </p:sp>
      <p:sp>
        <p:nvSpPr>
          <p:cNvPr id="64" name="Shape 62"/>
          <p:cNvSpPr/>
          <p:nvPr/>
        </p:nvSpPr>
        <p:spPr>
          <a:xfrm>
            <a:off x="6596806" y="2286000"/>
            <a:ext cx="0" cy="365760"/>
          </a:xfrm>
          <a:prstGeom prst="line">
            <a:avLst/>
          </a:prstGeom>
          <a:noFill/>
          <a:ln w="7620">
            <a:solidFill>
              <a:srgbClr val="FF6B35"/>
            </a:solidFill>
            <a:prstDash val="solid"/>
          </a:ln>
        </p:spPr>
        <p:txBody>
          <a:bodyPr/>
          <a:lstStyle/>
          <a:p>
            <a:endParaRPr lang="en-CN"/>
          </a:p>
        </p:txBody>
      </p:sp>
      <p:sp>
        <p:nvSpPr>
          <p:cNvPr id="65" name="Shape 63"/>
          <p:cNvSpPr/>
          <p:nvPr/>
        </p:nvSpPr>
        <p:spPr>
          <a:xfrm>
            <a:off x="6559402" y="2651760"/>
            <a:ext cx="0" cy="365760"/>
          </a:xfrm>
          <a:prstGeom prst="line">
            <a:avLst/>
          </a:prstGeom>
          <a:noFill/>
          <a:ln w="7620">
            <a:solidFill>
              <a:srgbClr val="FF6B35"/>
            </a:solidFill>
            <a:prstDash val="solid"/>
          </a:ln>
        </p:spPr>
        <p:txBody>
          <a:bodyPr/>
          <a:lstStyle/>
          <a:p>
            <a:endParaRPr lang="en-CN"/>
          </a:p>
        </p:txBody>
      </p:sp>
      <p:sp>
        <p:nvSpPr>
          <p:cNvPr id="66" name="Shape 64"/>
          <p:cNvSpPr/>
          <p:nvPr/>
        </p:nvSpPr>
        <p:spPr>
          <a:xfrm>
            <a:off x="6533415" y="3017520"/>
            <a:ext cx="0" cy="365760"/>
          </a:xfrm>
          <a:prstGeom prst="line">
            <a:avLst/>
          </a:prstGeom>
          <a:noFill/>
          <a:ln w="7620">
            <a:solidFill>
              <a:srgbClr val="FF6B35"/>
            </a:solidFill>
            <a:prstDash val="solid"/>
          </a:ln>
        </p:spPr>
        <p:txBody>
          <a:bodyPr/>
          <a:lstStyle/>
          <a:p>
            <a:endParaRPr lang="en-CN"/>
          </a:p>
        </p:txBody>
      </p:sp>
      <p:sp>
        <p:nvSpPr>
          <p:cNvPr id="67" name="Shape 65"/>
          <p:cNvSpPr/>
          <p:nvPr/>
        </p:nvSpPr>
        <p:spPr>
          <a:xfrm>
            <a:off x="6531070" y="3383280"/>
            <a:ext cx="22398" cy="365760"/>
          </a:xfrm>
          <a:prstGeom prst="line">
            <a:avLst/>
          </a:prstGeom>
          <a:noFill/>
          <a:ln w="7620">
            <a:solidFill>
              <a:srgbClr val="FF6B35"/>
            </a:solidFill>
            <a:prstDash val="solid"/>
          </a:ln>
        </p:spPr>
        <p:txBody>
          <a:bodyPr/>
          <a:lstStyle/>
          <a:p>
            <a:endParaRPr lang="en-CN"/>
          </a:p>
        </p:txBody>
      </p:sp>
      <p:sp>
        <p:nvSpPr>
          <p:cNvPr id="68" name="Shape 66"/>
          <p:cNvSpPr/>
          <p:nvPr/>
        </p:nvSpPr>
        <p:spPr>
          <a:xfrm>
            <a:off x="6553467" y="3749040"/>
            <a:ext cx="36607" cy="365760"/>
          </a:xfrm>
          <a:prstGeom prst="line">
            <a:avLst/>
          </a:prstGeom>
          <a:noFill/>
          <a:ln w="7620">
            <a:solidFill>
              <a:srgbClr val="FF6B35"/>
            </a:solidFill>
            <a:prstDash val="solid"/>
          </a:ln>
        </p:spPr>
        <p:txBody>
          <a:bodyPr/>
          <a:lstStyle/>
          <a:p>
            <a:endParaRPr lang="en-CN"/>
          </a:p>
        </p:txBody>
      </p:sp>
      <p:sp>
        <p:nvSpPr>
          <p:cNvPr id="69" name="Shape 67"/>
          <p:cNvSpPr/>
          <p:nvPr/>
        </p:nvSpPr>
        <p:spPr>
          <a:xfrm>
            <a:off x="6590074" y="4114800"/>
            <a:ext cx="33600" cy="365760"/>
          </a:xfrm>
          <a:prstGeom prst="line">
            <a:avLst/>
          </a:prstGeom>
          <a:noFill/>
          <a:ln w="7620">
            <a:solidFill>
              <a:srgbClr val="FF6B35"/>
            </a:solidFill>
            <a:prstDash val="solid"/>
          </a:ln>
        </p:spPr>
        <p:txBody>
          <a:bodyPr/>
          <a:lstStyle/>
          <a:p>
            <a:endParaRPr lang="en-CN"/>
          </a:p>
        </p:txBody>
      </p:sp>
      <p:sp>
        <p:nvSpPr>
          <p:cNvPr id="70" name="Shape 68"/>
          <p:cNvSpPr/>
          <p:nvPr/>
        </p:nvSpPr>
        <p:spPr>
          <a:xfrm>
            <a:off x="5486400" y="3068655"/>
            <a:ext cx="365760" cy="0"/>
          </a:xfrm>
          <a:prstGeom prst="line">
            <a:avLst/>
          </a:prstGeom>
          <a:noFill/>
          <a:ln w="7620">
            <a:solidFill>
              <a:srgbClr val="1565C0"/>
            </a:solidFill>
            <a:prstDash val="solid"/>
          </a:ln>
        </p:spPr>
        <p:txBody>
          <a:bodyPr/>
          <a:lstStyle/>
          <a:p>
            <a:endParaRPr lang="en-CN"/>
          </a:p>
        </p:txBody>
      </p:sp>
      <p:sp>
        <p:nvSpPr>
          <p:cNvPr id="71" name="Shape 69"/>
          <p:cNvSpPr/>
          <p:nvPr/>
        </p:nvSpPr>
        <p:spPr>
          <a:xfrm>
            <a:off x="5852160" y="3064879"/>
            <a:ext cx="365760" cy="0"/>
          </a:xfrm>
          <a:prstGeom prst="line">
            <a:avLst/>
          </a:prstGeom>
          <a:noFill/>
          <a:ln w="7620">
            <a:solidFill>
              <a:srgbClr val="1565C0"/>
            </a:solidFill>
            <a:prstDash val="solid"/>
          </a:ln>
        </p:spPr>
        <p:txBody>
          <a:bodyPr/>
          <a:lstStyle/>
          <a:p>
            <a:endParaRPr lang="en-CN"/>
          </a:p>
        </p:txBody>
      </p:sp>
      <p:sp>
        <p:nvSpPr>
          <p:cNvPr id="72" name="Shape 70"/>
          <p:cNvSpPr/>
          <p:nvPr/>
        </p:nvSpPr>
        <p:spPr>
          <a:xfrm>
            <a:off x="6217920" y="3025262"/>
            <a:ext cx="365760" cy="0"/>
          </a:xfrm>
          <a:prstGeom prst="line">
            <a:avLst/>
          </a:prstGeom>
          <a:noFill/>
          <a:ln w="7620">
            <a:solidFill>
              <a:srgbClr val="1565C0"/>
            </a:solidFill>
            <a:prstDash val="solid"/>
          </a:ln>
        </p:spPr>
        <p:txBody>
          <a:bodyPr/>
          <a:lstStyle/>
          <a:p>
            <a:endParaRPr lang="en-CN"/>
          </a:p>
        </p:txBody>
      </p:sp>
      <p:sp>
        <p:nvSpPr>
          <p:cNvPr id="73" name="Shape 71"/>
          <p:cNvSpPr/>
          <p:nvPr/>
        </p:nvSpPr>
        <p:spPr>
          <a:xfrm>
            <a:off x="6583680" y="2979786"/>
            <a:ext cx="365760" cy="0"/>
          </a:xfrm>
          <a:prstGeom prst="line">
            <a:avLst/>
          </a:prstGeom>
          <a:noFill/>
          <a:ln w="7620">
            <a:solidFill>
              <a:srgbClr val="1565C0"/>
            </a:solidFill>
            <a:prstDash val="solid"/>
          </a:ln>
        </p:spPr>
        <p:txBody>
          <a:bodyPr/>
          <a:lstStyle/>
          <a:p>
            <a:endParaRPr lang="en-CN"/>
          </a:p>
        </p:txBody>
      </p:sp>
      <p:sp>
        <p:nvSpPr>
          <p:cNvPr id="74" name="Shape 72"/>
          <p:cNvSpPr/>
          <p:nvPr/>
        </p:nvSpPr>
        <p:spPr>
          <a:xfrm>
            <a:off x="6949440" y="2962866"/>
            <a:ext cx="365760" cy="24441"/>
          </a:xfrm>
          <a:prstGeom prst="line">
            <a:avLst/>
          </a:prstGeom>
          <a:noFill/>
          <a:ln w="7620">
            <a:solidFill>
              <a:srgbClr val="1565C0"/>
            </a:solidFill>
            <a:prstDash val="solid"/>
          </a:ln>
        </p:spPr>
        <p:txBody>
          <a:bodyPr/>
          <a:lstStyle/>
          <a:p>
            <a:endParaRPr lang="en-CN"/>
          </a:p>
        </p:txBody>
      </p:sp>
      <p:sp>
        <p:nvSpPr>
          <p:cNvPr id="75" name="Shape 73"/>
          <p:cNvSpPr/>
          <p:nvPr/>
        </p:nvSpPr>
        <p:spPr>
          <a:xfrm>
            <a:off x="7315200" y="2987307"/>
            <a:ext cx="365760" cy="47305"/>
          </a:xfrm>
          <a:prstGeom prst="line">
            <a:avLst/>
          </a:prstGeom>
          <a:noFill/>
          <a:ln w="7620">
            <a:solidFill>
              <a:srgbClr val="1565C0"/>
            </a:solidFill>
            <a:prstDash val="solid"/>
          </a:ln>
        </p:spPr>
        <p:txBody>
          <a:bodyPr/>
          <a:lstStyle/>
          <a:p>
            <a:endParaRPr lang="en-CN"/>
          </a:p>
        </p:txBody>
      </p:sp>
      <p:sp>
        <p:nvSpPr>
          <p:cNvPr id="76" name="Shape 74"/>
          <p:cNvSpPr/>
          <p:nvPr/>
        </p:nvSpPr>
        <p:spPr>
          <a:xfrm>
            <a:off x="7680960" y="3034612"/>
            <a:ext cx="365760" cy="34370"/>
          </a:xfrm>
          <a:prstGeom prst="line">
            <a:avLst/>
          </a:prstGeom>
          <a:noFill/>
          <a:ln w="7620">
            <a:solidFill>
              <a:srgbClr val="1565C0"/>
            </a:solidFill>
            <a:prstDash val="solid"/>
          </a:ln>
        </p:spPr>
        <p:txBody>
          <a:bodyPr/>
          <a:lstStyle/>
          <a:p>
            <a:endParaRPr lang="en-CN"/>
          </a:p>
        </p:txBody>
      </p:sp>
      <p:sp>
        <p:nvSpPr>
          <p:cNvPr id="77" name="Shape 75"/>
          <p:cNvSpPr/>
          <p:nvPr/>
        </p:nvSpPr>
        <p:spPr>
          <a:xfrm>
            <a:off x="8046720" y="3068982"/>
            <a:ext cx="365760" cy="0"/>
          </a:xfrm>
          <a:prstGeom prst="line">
            <a:avLst/>
          </a:prstGeom>
          <a:noFill/>
          <a:ln w="7620">
            <a:solidFill>
              <a:srgbClr val="1565C0"/>
            </a:solidFill>
            <a:prstDash val="solid"/>
          </a:ln>
        </p:spPr>
        <p:txBody>
          <a:bodyPr/>
          <a:lstStyle/>
          <a:p>
            <a:endParaRPr lang="en-CN"/>
          </a:p>
        </p:txBody>
      </p:sp>
      <p:sp>
        <p:nvSpPr>
          <p:cNvPr id="78" name="Shape 76"/>
          <p:cNvSpPr/>
          <p:nvPr/>
        </p:nvSpPr>
        <p:spPr>
          <a:xfrm>
            <a:off x="6999328" y="1554480"/>
            <a:ext cx="0" cy="365760"/>
          </a:xfrm>
          <a:prstGeom prst="line">
            <a:avLst/>
          </a:prstGeom>
          <a:noFill/>
          <a:ln w="7620">
            <a:solidFill>
              <a:srgbClr val="FF6B35"/>
            </a:solidFill>
            <a:prstDash val="solid"/>
          </a:ln>
        </p:spPr>
        <p:txBody>
          <a:bodyPr/>
          <a:lstStyle/>
          <a:p>
            <a:endParaRPr lang="en-CN"/>
          </a:p>
        </p:txBody>
      </p:sp>
      <p:sp>
        <p:nvSpPr>
          <p:cNvPr id="79" name="Shape 77"/>
          <p:cNvSpPr/>
          <p:nvPr/>
        </p:nvSpPr>
        <p:spPr>
          <a:xfrm>
            <a:off x="6972888" y="1920240"/>
            <a:ext cx="0" cy="365760"/>
          </a:xfrm>
          <a:prstGeom prst="line">
            <a:avLst/>
          </a:prstGeom>
          <a:noFill/>
          <a:ln w="7620">
            <a:solidFill>
              <a:srgbClr val="FF6B35"/>
            </a:solidFill>
            <a:prstDash val="solid"/>
          </a:ln>
        </p:spPr>
        <p:txBody>
          <a:bodyPr/>
          <a:lstStyle/>
          <a:p>
            <a:endParaRPr lang="en-CN"/>
          </a:p>
        </p:txBody>
      </p:sp>
      <p:sp>
        <p:nvSpPr>
          <p:cNvPr id="80" name="Shape 78"/>
          <p:cNvSpPr/>
          <p:nvPr/>
        </p:nvSpPr>
        <p:spPr>
          <a:xfrm>
            <a:off x="6935420" y="2286000"/>
            <a:ext cx="0" cy="365760"/>
          </a:xfrm>
          <a:prstGeom prst="line">
            <a:avLst/>
          </a:prstGeom>
          <a:noFill/>
          <a:ln w="7620">
            <a:solidFill>
              <a:srgbClr val="FF6B35"/>
            </a:solidFill>
            <a:prstDash val="solid"/>
          </a:ln>
        </p:spPr>
        <p:txBody>
          <a:bodyPr/>
          <a:lstStyle/>
          <a:p>
            <a:endParaRPr lang="en-CN"/>
          </a:p>
        </p:txBody>
      </p:sp>
      <p:sp>
        <p:nvSpPr>
          <p:cNvPr id="81" name="Shape 79"/>
          <p:cNvSpPr/>
          <p:nvPr/>
        </p:nvSpPr>
        <p:spPr>
          <a:xfrm>
            <a:off x="6904546" y="2651760"/>
            <a:ext cx="0" cy="365760"/>
          </a:xfrm>
          <a:prstGeom prst="line">
            <a:avLst/>
          </a:prstGeom>
          <a:noFill/>
          <a:ln w="7620">
            <a:solidFill>
              <a:srgbClr val="FF6B35"/>
            </a:solidFill>
            <a:prstDash val="solid"/>
          </a:ln>
        </p:spPr>
        <p:txBody>
          <a:bodyPr/>
          <a:lstStyle/>
          <a:p>
            <a:endParaRPr lang="en-CN"/>
          </a:p>
        </p:txBody>
      </p:sp>
      <p:sp>
        <p:nvSpPr>
          <p:cNvPr id="82" name="Shape 80"/>
          <p:cNvSpPr/>
          <p:nvPr/>
        </p:nvSpPr>
        <p:spPr>
          <a:xfrm>
            <a:off x="6894786" y="3017520"/>
            <a:ext cx="15945" cy="365760"/>
          </a:xfrm>
          <a:prstGeom prst="line">
            <a:avLst/>
          </a:prstGeom>
          <a:noFill/>
          <a:ln w="7620">
            <a:solidFill>
              <a:srgbClr val="FF6B35"/>
            </a:solidFill>
            <a:prstDash val="solid"/>
          </a:ln>
        </p:spPr>
        <p:txBody>
          <a:bodyPr/>
          <a:lstStyle/>
          <a:p>
            <a:endParaRPr lang="en-CN"/>
          </a:p>
        </p:txBody>
      </p:sp>
      <p:sp>
        <p:nvSpPr>
          <p:cNvPr id="83" name="Shape 81"/>
          <p:cNvSpPr/>
          <p:nvPr/>
        </p:nvSpPr>
        <p:spPr>
          <a:xfrm>
            <a:off x="6910731" y="3383280"/>
            <a:ext cx="34150" cy="365760"/>
          </a:xfrm>
          <a:prstGeom prst="line">
            <a:avLst/>
          </a:prstGeom>
          <a:noFill/>
          <a:ln w="7620">
            <a:solidFill>
              <a:srgbClr val="FF6B35"/>
            </a:solidFill>
            <a:prstDash val="solid"/>
          </a:ln>
        </p:spPr>
        <p:txBody>
          <a:bodyPr/>
          <a:lstStyle/>
          <a:p>
            <a:endParaRPr lang="en-CN"/>
          </a:p>
        </p:txBody>
      </p:sp>
      <p:sp>
        <p:nvSpPr>
          <p:cNvPr id="84" name="Shape 82"/>
          <p:cNvSpPr/>
          <p:nvPr/>
        </p:nvSpPr>
        <p:spPr>
          <a:xfrm>
            <a:off x="6944881" y="3749040"/>
            <a:ext cx="36294" cy="365760"/>
          </a:xfrm>
          <a:prstGeom prst="line">
            <a:avLst/>
          </a:prstGeom>
          <a:noFill/>
          <a:ln w="7620">
            <a:solidFill>
              <a:srgbClr val="FF6B35"/>
            </a:solidFill>
            <a:prstDash val="solid"/>
          </a:ln>
        </p:spPr>
        <p:txBody>
          <a:bodyPr/>
          <a:lstStyle/>
          <a:p>
            <a:endParaRPr lang="en-CN"/>
          </a:p>
        </p:txBody>
      </p:sp>
      <p:sp>
        <p:nvSpPr>
          <p:cNvPr id="85" name="Shape 83"/>
          <p:cNvSpPr/>
          <p:nvPr/>
        </p:nvSpPr>
        <p:spPr>
          <a:xfrm>
            <a:off x="6981176" y="4114800"/>
            <a:ext cx="21368" cy="365760"/>
          </a:xfrm>
          <a:prstGeom prst="line">
            <a:avLst/>
          </a:prstGeom>
          <a:noFill/>
          <a:ln w="7620">
            <a:solidFill>
              <a:srgbClr val="FF6B35"/>
            </a:solidFill>
            <a:prstDash val="solid"/>
          </a:ln>
        </p:spPr>
        <p:txBody>
          <a:bodyPr/>
          <a:lstStyle/>
          <a:p>
            <a:endParaRPr lang="en-CN"/>
          </a:p>
        </p:txBody>
      </p:sp>
      <p:sp>
        <p:nvSpPr>
          <p:cNvPr id="86" name="Shape 84"/>
          <p:cNvSpPr/>
          <p:nvPr/>
        </p:nvSpPr>
        <p:spPr>
          <a:xfrm>
            <a:off x="5486400" y="3438007"/>
            <a:ext cx="365760" cy="0"/>
          </a:xfrm>
          <a:prstGeom prst="line">
            <a:avLst/>
          </a:prstGeom>
          <a:noFill/>
          <a:ln w="7620">
            <a:solidFill>
              <a:srgbClr val="1565C0"/>
            </a:solidFill>
            <a:prstDash val="solid"/>
          </a:ln>
        </p:spPr>
        <p:txBody>
          <a:bodyPr/>
          <a:lstStyle/>
          <a:p>
            <a:endParaRPr lang="en-CN"/>
          </a:p>
        </p:txBody>
      </p:sp>
      <p:sp>
        <p:nvSpPr>
          <p:cNvPr id="87" name="Shape 85"/>
          <p:cNvSpPr/>
          <p:nvPr/>
        </p:nvSpPr>
        <p:spPr>
          <a:xfrm>
            <a:off x="5852160" y="3420339"/>
            <a:ext cx="365760" cy="0"/>
          </a:xfrm>
          <a:prstGeom prst="line">
            <a:avLst/>
          </a:prstGeom>
          <a:noFill/>
          <a:ln w="7620">
            <a:solidFill>
              <a:srgbClr val="1565C0"/>
            </a:solidFill>
            <a:prstDash val="solid"/>
          </a:ln>
        </p:spPr>
        <p:txBody>
          <a:bodyPr/>
          <a:lstStyle/>
          <a:p>
            <a:endParaRPr lang="en-CN"/>
          </a:p>
        </p:txBody>
      </p:sp>
      <p:sp>
        <p:nvSpPr>
          <p:cNvPr id="88" name="Shape 86"/>
          <p:cNvSpPr/>
          <p:nvPr/>
        </p:nvSpPr>
        <p:spPr>
          <a:xfrm>
            <a:off x="6217920" y="3374625"/>
            <a:ext cx="365760" cy="0"/>
          </a:xfrm>
          <a:prstGeom prst="line">
            <a:avLst/>
          </a:prstGeom>
          <a:noFill/>
          <a:ln w="7620">
            <a:solidFill>
              <a:srgbClr val="1565C0"/>
            </a:solidFill>
            <a:prstDash val="solid"/>
          </a:ln>
        </p:spPr>
        <p:txBody>
          <a:bodyPr/>
          <a:lstStyle/>
          <a:p>
            <a:endParaRPr lang="en-CN"/>
          </a:p>
        </p:txBody>
      </p:sp>
      <p:sp>
        <p:nvSpPr>
          <p:cNvPr id="89" name="Shape 87"/>
          <p:cNvSpPr/>
          <p:nvPr/>
        </p:nvSpPr>
        <p:spPr>
          <a:xfrm>
            <a:off x="6583680" y="3335462"/>
            <a:ext cx="365760" cy="0"/>
          </a:xfrm>
          <a:prstGeom prst="line">
            <a:avLst/>
          </a:prstGeom>
          <a:noFill/>
          <a:ln w="7620">
            <a:solidFill>
              <a:srgbClr val="1565C0"/>
            </a:solidFill>
            <a:prstDash val="solid"/>
          </a:ln>
        </p:spPr>
        <p:txBody>
          <a:bodyPr/>
          <a:lstStyle/>
          <a:p>
            <a:endParaRPr lang="en-CN"/>
          </a:p>
        </p:txBody>
      </p:sp>
      <p:sp>
        <p:nvSpPr>
          <p:cNvPr id="90" name="Shape 88"/>
          <p:cNvSpPr/>
          <p:nvPr/>
        </p:nvSpPr>
        <p:spPr>
          <a:xfrm>
            <a:off x="6949440" y="3332486"/>
            <a:ext cx="365760" cy="35464"/>
          </a:xfrm>
          <a:prstGeom prst="line">
            <a:avLst/>
          </a:prstGeom>
          <a:noFill/>
          <a:ln w="7620">
            <a:solidFill>
              <a:srgbClr val="1565C0"/>
            </a:solidFill>
            <a:prstDash val="solid"/>
          </a:ln>
        </p:spPr>
        <p:txBody>
          <a:bodyPr/>
          <a:lstStyle/>
          <a:p>
            <a:endParaRPr lang="en-CN"/>
          </a:p>
        </p:txBody>
      </p:sp>
      <p:sp>
        <p:nvSpPr>
          <p:cNvPr id="91" name="Shape 89"/>
          <p:cNvSpPr/>
          <p:nvPr/>
        </p:nvSpPr>
        <p:spPr>
          <a:xfrm>
            <a:off x="7315200" y="3367950"/>
            <a:ext cx="365760" cy="47065"/>
          </a:xfrm>
          <a:prstGeom prst="line">
            <a:avLst/>
          </a:prstGeom>
          <a:noFill/>
          <a:ln w="7620">
            <a:solidFill>
              <a:srgbClr val="1565C0"/>
            </a:solidFill>
            <a:prstDash val="solid"/>
          </a:ln>
        </p:spPr>
        <p:txBody>
          <a:bodyPr/>
          <a:lstStyle/>
          <a:p>
            <a:endParaRPr lang="en-CN"/>
          </a:p>
        </p:txBody>
      </p:sp>
      <p:sp>
        <p:nvSpPr>
          <p:cNvPr id="92" name="Shape 90"/>
          <p:cNvSpPr/>
          <p:nvPr/>
        </p:nvSpPr>
        <p:spPr>
          <a:xfrm>
            <a:off x="7680960" y="3415016"/>
            <a:ext cx="365760" cy="23049"/>
          </a:xfrm>
          <a:prstGeom prst="line">
            <a:avLst/>
          </a:prstGeom>
          <a:noFill/>
          <a:ln w="7620">
            <a:solidFill>
              <a:srgbClr val="1565C0"/>
            </a:solidFill>
            <a:prstDash val="solid"/>
          </a:ln>
        </p:spPr>
        <p:txBody>
          <a:bodyPr/>
          <a:lstStyle/>
          <a:p>
            <a:endParaRPr lang="en-CN"/>
          </a:p>
        </p:txBody>
      </p:sp>
      <p:sp>
        <p:nvSpPr>
          <p:cNvPr id="93" name="Shape 91"/>
          <p:cNvSpPr/>
          <p:nvPr/>
        </p:nvSpPr>
        <p:spPr>
          <a:xfrm>
            <a:off x="8046720" y="3438064"/>
            <a:ext cx="365760" cy="0"/>
          </a:xfrm>
          <a:prstGeom prst="line">
            <a:avLst/>
          </a:prstGeom>
          <a:noFill/>
          <a:ln w="7620">
            <a:solidFill>
              <a:srgbClr val="1565C0"/>
            </a:solidFill>
            <a:prstDash val="solid"/>
          </a:ln>
        </p:spPr>
        <p:txBody>
          <a:bodyPr/>
          <a:lstStyle/>
          <a:p>
            <a:endParaRPr lang="en-CN"/>
          </a:p>
        </p:txBody>
      </p:sp>
      <p:sp>
        <p:nvSpPr>
          <p:cNvPr id="94" name="Shape 92"/>
          <p:cNvSpPr/>
          <p:nvPr/>
        </p:nvSpPr>
        <p:spPr>
          <a:xfrm>
            <a:off x="7348035" y="1554480"/>
            <a:ext cx="0" cy="365760"/>
          </a:xfrm>
          <a:prstGeom prst="line">
            <a:avLst/>
          </a:prstGeom>
          <a:noFill/>
          <a:ln w="7620">
            <a:solidFill>
              <a:srgbClr val="FF6B35"/>
            </a:solidFill>
            <a:prstDash val="solid"/>
          </a:ln>
        </p:spPr>
        <p:txBody>
          <a:bodyPr/>
          <a:lstStyle/>
          <a:p>
            <a:endParaRPr lang="en-CN"/>
          </a:p>
        </p:txBody>
      </p:sp>
      <p:sp>
        <p:nvSpPr>
          <p:cNvPr id="95" name="Shape 93"/>
          <p:cNvSpPr/>
          <p:nvPr/>
        </p:nvSpPr>
        <p:spPr>
          <a:xfrm>
            <a:off x="7311997" y="1920240"/>
            <a:ext cx="0" cy="365760"/>
          </a:xfrm>
          <a:prstGeom prst="line">
            <a:avLst/>
          </a:prstGeom>
          <a:noFill/>
          <a:ln w="7620">
            <a:solidFill>
              <a:srgbClr val="FF6B35"/>
            </a:solidFill>
            <a:prstDash val="solid"/>
          </a:ln>
        </p:spPr>
        <p:txBody>
          <a:bodyPr/>
          <a:lstStyle/>
          <a:p>
            <a:endParaRPr lang="en-CN"/>
          </a:p>
        </p:txBody>
      </p:sp>
      <p:sp>
        <p:nvSpPr>
          <p:cNvPr id="96" name="Shape 94"/>
          <p:cNvSpPr/>
          <p:nvPr/>
        </p:nvSpPr>
        <p:spPr>
          <a:xfrm>
            <a:off x="7277466" y="2286000"/>
            <a:ext cx="0" cy="365760"/>
          </a:xfrm>
          <a:prstGeom prst="line">
            <a:avLst/>
          </a:prstGeom>
          <a:noFill/>
          <a:ln w="7620">
            <a:solidFill>
              <a:srgbClr val="FF6B35"/>
            </a:solidFill>
            <a:prstDash val="solid"/>
          </a:ln>
        </p:spPr>
        <p:txBody>
          <a:bodyPr/>
          <a:lstStyle/>
          <a:p>
            <a:endParaRPr lang="en-CN"/>
          </a:p>
        </p:txBody>
      </p:sp>
      <p:sp>
        <p:nvSpPr>
          <p:cNvPr id="97" name="Shape 95"/>
          <p:cNvSpPr/>
          <p:nvPr/>
        </p:nvSpPr>
        <p:spPr>
          <a:xfrm>
            <a:off x="7260682" y="2651760"/>
            <a:ext cx="8856" cy="365760"/>
          </a:xfrm>
          <a:prstGeom prst="line">
            <a:avLst/>
          </a:prstGeom>
          <a:noFill/>
          <a:ln w="7620">
            <a:solidFill>
              <a:srgbClr val="FF6B35"/>
            </a:solidFill>
            <a:prstDash val="solid"/>
          </a:ln>
        </p:spPr>
        <p:txBody>
          <a:bodyPr/>
          <a:lstStyle/>
          <a:p>
            <a:endParaRPr lang="en-CN"/>
          </a:p>
        </p:txBody>
      </p:sp>
      <p:sp>
        <p:nvSpPr>
          <p:cNvPr id="98" name="Shape 96"/>
          <p:cNvSpPr/>
          <p:nvPr/>
        </p:nvSpPr>
        <p:spPr>
          <a:xfrm>
            <a:off x="7269538" y="3017520"/>
            <a:ext cx="30332" cy="365760"/>
          </a:xfrm>
          <a:prstGeom prst="line">
            <a:avLst/>
          </a:prstGeom>
          <a:noFill/>
          <a:ln w="7620">
            <a:solidFill>
              <a:srgbClr val="FF6B35"/>
            </a:solidFill>
            <a:prstDash val="solid"/>
          </a:ln>
        </p:spPr>
        <p:txBody>
          <a:bodyPr/>
          <a:lstStyle/>
          <a:p>
            <a:endParaRPr lang="en-CN"/>
          </a:p>
        </p:txBody>
      </p:sp>
      <p:sp>
        <p:nvSpPr>
          <p:cNvPr id="99" name="Shape 97"/>
          <p:cNvSpPr/>
          <p:nvPr/>
        </p:nvSpPr>
        <p:spPr>
          <a:xfrm>
            <a:off x="7299870" y="3383280"/>
            <a:ext cx="37542" cy="365760"/>
          </a:xfrm>
          <a:prstGeom prst="line">
            <a:avLst/>
          </a:prstGeom>
          <a:noFill/>
          <a:ln w="7620">
            <a:solidFill>
              <a:srgbClr val="FF6B35"/>
            </a:solidFill>
            <a:prstDash val="solid"/>
          </a:ln>
        </p:spPr>
        <p:txBody>
          <a:bodyPr/>
          <a:lstStyle/>
          <a:p>
            <a:endParaRPr lang="en-CN"/>
          </a:p>
        </p:txBody>
      </p:sp>
      <p:sp>
        <p:nvSpPr>
          <p:cNvPr id="100" name="Shape 98"/>
          <p:cNvSpPr/>
          <p:nvPr/>
        </p:nvSpPr>
        <p:spPr>
          <a:xfrm>
            <a:off x="7337412" y="3749040"/>
            <a:ext cx="27095" cy="365760"/>
          </a:xfrm>
          <a:prstGeom prst="line">
            <a:avLst/>
          </a:prstGeom>
          <a:noFill/>
          <a:ln w="7620">
            <a:solidFill>
              <a:srgbClr val="FF6B35"/>
            </a:solidFill>
            <a:prstDash val="solid"/>
          </a:ln>
        </p:spPr>
        <p:txBody>
          <a:bodyPr/>
          <a:lstStyle/>
          <a:p>
            <a:endParaRPr lang="en-CN"/>
          </a:p>
        </p:txBody>
      </p:sp>
      <p:sp>
        <p:nvSpPr>
          <p:cNvPr id="101" name="Shape 99"/>
          <p:cNvSpPr/>
          <p:nvPr/>
        </p:nvSpPr>
        <p:spPr>
          <a:xfrm>
            <a:off x="7364507" y="4114800"/>
            <a:ext cx="3905" cy="365760"/>
          </a:xfrm>
          <a:prstGeom prst="line">
            <a:avLst/>
          </a:prstGeom>
          <a:noFill/>
          <a:ln w="7620">
            <a:solidFill>
              <a:srgbClr val="FF6B35"/>
            </a:solidFill>
            <a:prstDash val="solid"/>
          </a:ln>
        </p:spPr>
        <p:txBody>
          <a:bodyPr/>
          <a:lstStyle/>
          <a:p>
            <a:endParaRPr lang="en-CN"/>
          </a:p>
        </p:txBody>
      </p:sp>
      <p:sp>
        <p:nvSpPr>
          <p:cNvPr id="102" name="Shape 100"/>
          <p:cNvSpPr/>
          <p:nvPr/>
        </p:nvSpPr>
        <p:spPr>
          <a:xfrm>
            <a:off x="5486400" y="3802469"/>
            <a:ext cx="365760" cy="0"/>
          </a:xfrm>
          <a:prstGeom prst="line">
            <a:avLst/>
          </a:prstGeom>
          <a:noFill/>
          <a:ln w="7620">
            <a:solidFill>
              <a:srgbClr val="1565C0"/>
            </a:solidFill>
            <a:prstDash val="solid"/>
          </a:ln>
        </p:spPr>
        <p:txBody>
          <a:bodyPr/>
          <a:lstStyle/>
          <a:p>
            <a:endParaRPr lang="en-CN"/>
          </a:p>
        </p:txBody>
      </p:sp>
      <p:sp>
        <p:nvSpPr>
          <p:cNvPr id="103" name="Shape 101"/>
          <p:cNvSpPr/>
          <p:nvPr/>
        </p:nvSpPr>
        <p:spPr>
          <a:xfrm>
            <a:off x="5852160" y="3772488"/>
            <a:ext cx="365760" cy="0"/>
          </a:xfrm>
          <a:prstGeom prst="line">
            <a:avLst/>
          </a:prstGeom>
          <a:noFill/>
          <a:ln w="7620">
            <a:solidFill>
              <a:srgbClr val="1565C0"/>
            </a:solidFill>
            <a:prstDash val="solid"/>
          </a:ln>
        </p:spPr>
        <p:txBody>
          <a:bodyPr/>
          <a:lstStyle/>
          <a:p>
            <a:endParaRPr lang="en-CN"/>
          </a:p>
        </p:txBody>
      </p:sp>
      <p:sp>
        <p:nvSpPr>
          <p:cNvPr id="104" name="Shape 102"/>
          <p:cNvSpPr/>
          <p:nvPr/>
        </p:nvSpPr>
        <p:spPr>
          <a:xfrm>
            <a:off x="6217920" y="3724762"/>
            <a:ext cx="365760" cy="0"/>
          </a:xfrm>
          <a:prstGeom prst="line">
            <a:avLst/>
          </a:prstGeom>
          <a:noFill/>
          <a:ln w="7620">
            <a:solidFill>
              <a:srgbClr val="1565C0"/>
            </a:solidFill>
            <a:prstDash val="solid"/>
          </a:ln>
        </p:spPr>
        <p:txBody>
          <a:bodyPr/>
          <a:lstStyle/>
          <a:p>
            <a:endParaRPr lang="en-CN"/>
          </a:p>
        </p:txBody>
      </p:sp>
      <p:sp>
        <p:nvSpPr>
          <p:cNvPr id="105" name="Shape 103"/>
          <p:cNvSpPr/>
          <p:nvPr/>
        </p:nvSpPr>
        <p:spPr>
          <a:xfrm>
            <a:off x="6583680" y="3695409"/>
            <a:ext cx="365760" cy="11234"/>
          </a:xfrm>
          <a:prstGeom prst="line">
            <a:avLst/>
          </a:prstGeom>
          <a:noFill/>
          <a:ln w="7620">
            <a:solidFill>
              <a:srgbClr val="1565C0"/>
            </a:solidFill>
            <a:prstDash val="solid"/>
          </a:ln>
        </p:spPr>
        <p:txBody>
          <a:bodyPr/>
          <a:lstStyle/>
          <a:p>
            <a:endParaRPr lang="en-CN"/>
          </a:p>
        </p:txBody>
      </p:sp>
      <p:sp>
        <p:nvSpPr>
          <p:cNvPr id="106" name="Shape 104"/>
          <p:cNvSpPr/>
          <p:nvPr/>
        </p:nvSpPr>
        <p:spPr>
          <a:xfrm>
            <a:off x="6949440" y="3706643"/>
            <a:ext cx="365760" cy="43319"/>
          </a:xfrm>
          <a:prstGeom prst="line">
            <a:avLst/>
          </a:prstGeom>
          <a:noFill/>
          <a:ln w="7620">
            <a:solidFill>
              <a:srgbClr val="1565C0"/>
            </a:solidFill>
            <a:prstDash val="solid"/>
          </a:ln>
        </p:spPr>
        <p:txBody>
          <a:bodyPr/>
          <a:lstStyle/>
          <a:p>
            <a:endParaRPr lang="en-CN"/>
          </a:p>
        </p:txBody>
      </p:sp>
      <p:sp>
        <p:nvSpPr>
          <p:cNvPr id="107" name="Shape 105"/>
          <p:cNvSpPr/>
          <p:nvPr/>
        </p:nvSpPr>
        <p:spPr>
          <a:xfrm>
            <a:off x="7315200" y="3749962"/>
            <a:ext cx="365760" cy="42621"/>
          </a:xfrm>
          <a:prstGeom prst="line">
            <a:avLst/>
          </a:prstGeom>
          <a:noFill/>
          <a:ln w="7620">
            <a:solidFill>
              <a:srgbClr val="1565C0"/>
            </a:solidFill>
            <a:prstDash val="solid"/>
          </a:ln>
        </p:spPr>
        <p:txBody>
          <a:bodyPr/>
          <a:lstStyle/>
          <a:p>
            <a:endParaRPr lang="en-CN"/>
          </a:p>
        </p:txBody>
      </p:sp>
      <p:sp>
        <p:nvSpPr>
          <p:cNvPr id="108" name="Shape 106"/>
          <p:cNvSpPr/>
          <p:nvPr/>
        </p:nvSpPr>
        <p:spPr>
          <a:xfrm>
            <a:off x="7680960" y="3792584"/>
            <a:ext cx="365760" cy="9668"/>
          </a:xfrm>
          <a:prstGeom prst="line">
            <a:avLst/>
          </a:prstGeom>
          <a:noFill/>
          <a:ln w="7620">
            <a:solidFill>
              <a:srgbClr val="1565C0"/>
            </a:solidFill>
            <a:prstDash val="solid"/>
          </a:ln>
        </p:spPr>
        <p:txBody>
          <a:bodyPr/>
          <a:lstStyle/>
          <a:p>
            <a:endParaRPr lang="en-CN"/>
          </a:p>
        </p:txBody>
      </p:sp>
      <p:sp>
        <p:nvSpPr>
          <p:cNvPr id="109" name="Shape 107"/>
          <p:cNvSpPr/>
          <p:nvPr/>
        </p:nvSpPr>
        <p:spPr>
          <a:xfrm>
            <a:off x="8046720" y="3802252"/>
            <a:ext cx="365760" cy="0"/>
          </a:xfrm>
          <a:prstGeom prst="line">
            <a:avLst/>
          </a:prstGeom>
          <a:noFill/>
          <a:ln w="7620">
            <a:solidFill>
              <a:srgbClr val="1565C0"/>
            </a:solidFill>
            <a:prstDash val="solid"/>
          </a:ln>
        </p:spPr>
        <p:txBody>
          <a:bodyPr/>
          <a:lstStyle/>
          <a:p>
            <a:endParaRPr lang="en-CN"/>
          </a:p>
        </p:txBody>
      </p:sp>
      <p:sp>
        <p:nvSpPr>
          <p:cNvPr id="110" name="Shape 108"/>
          <p:cNvSpPr/>
          <p:nvPr/>
        </p:nvSpPr>
        <p:spPr>
          <a:xfrm>
            <a:off x="7688702" y="1554480"/>
            <a:ext cx="0" cy="365760"/>
          </a:xfrm>
          <a:prstGeom prst="line">
            <a:avLst/>
          </a:prstGeom>
          <a:noFill/>
          <a:ln w="7620">
            <a:solidFill>
              <a:srgbClr val="FF6B35"/>
            </a:solidFill>
            <a:prstDash val="solid"/>
          </a:ln>
        </p:spPr>
        <p:txBody>
          <a:bodyPr/>
          <a:lstStyle/>
          <a:p>
            <a:endParaRPr lang="en-CN"/>
          </a:p>
        </p:txBody>
      </p:sp>
      <p:sp>
        <p:nvSpPr>
          <p:cNvPr id="111" name="Shape 109"/>
          <p:cNvSpPr/>
          <p:nvPr/>
        </p:nvSpPr>
        <p:spPr>
          <a:xfrm>
            <a:off x="7651891" y="1920240"/>
            <a:ext cx="0" cy="365760"/>
          </a:xfrm>
          <a:prstGeom prst="line">
            <a:avLst/>
          </a:prstGeom>
          <a:noFill/>
          <a:ln w="7620">
            <a:solidFill>
              <a:srgbClr val="FF6B35"/>
            </a:solidFill>
            <a:prstDash val="solid"/>
          </a:ln>
        </p:spPr>
        <p:txBody>
          <a:bodyPr/>
          <a:lstStyle/>
          <a:p>
            <a:endParaRPr lang="en-CN"/>
          </a:p>
        </p:txBody>
      </p:sp>
      <p:sp>
        <p:nvSpPr>
          <p:cNvPr id="112" name="Shape 110"/>
          <p:cNvSpPr/>
          <p:nvPr/>
        </p:nvSpPr>
        <p:spPr>
          <a:xfrm>
            <a:off x="7628751" y="2286000"/>
            <a:ext cx="1415" cy="365760"/>
          </a:xfrm>
          <a:prstGeom prst="line">
            <a:avLst/>
          </a:prstGeom>
          <a:noFill/>
          <a:ln w="7620">
            <a:solidFill>
              <a:srgbClr val="FF6B35"/>
            </a:solidFill>
            <a:prstDash val="solid"/>
          </a:ln>
        </p:spPr>
        <p:txBody>
          <a:bodyPr/>
          <a:lstStyle/>
          <a:p>
            <a:endParaRPr lang="en-CN"/>
          </a:p>
        </p:txBody>
      </p:sp>
      <p:sp>
        <p:nvSpPr>
          <p:cNvPr id="113" name="Shape 111"/>
          <p:cNvSpPr/>
          <p:nvPr/>
        </p:nvSpPr>
        <p:spPr>
          <a:xfrm>
            <a:off x="7630166" y="2651760"/>
            <a:ext cx="25304" cy="365760"/>
          </a:xfrm>
          <a:prstGeom prst="line">
            <a:avLst/>
          </a:prstGeom>
          <a:noFill/>
          <a:ln w="7620">
            <a:solidFill>
              <a:srgbClr val="FF6B35"/>
            </a:solidFill>
            <a:prstDash val="solid"/>
          </a:ln>
        </p:spPr>
        <p:txBody>
          <a:bodyPr/>
          <a:lstStyle/>
          <a:p>
            <a:endParaRPr lang="en-CN"/>
          </a:p>
        </p:txBody>
      </p:sp>
      <p:sp>
        <p:nvSpPr>
          <p:cNvPr id="114" name="Shape 112"/>
          <p:cNvSpPr/>
          <p:nvPr/>
        </p:nvSpPr>
        <p:spPr>
          <a:xfrm>
            <a:off x="7655470" y="3017520"/>
            <a:ext cx="37292" cy="365760"/>
          </a:xfrm>
          <a:prstGeom prst="line">
            <a:avLst/>
          </a:prstGeom>
          <a:noFill/>
          <a:ln w="7620">
            <a:solidFill>
              <a:srgbClr val="FF6B35"/>
            </a:solidFill>
            <a:prstDash val="solid"/>
          </a:ln>
        </p:spPr>
        <p:txBody>
          <a:bodyPr/>
          <a:lstStyle/>
          <a:p>
            <a:endParaRPr lang="en-CN"/>
          </a:p>
        </p:txBody>
      </p:sp>
      <p:sp>
        <p:nvSpPr>
          <p:cNvPr id="115" name="Shape 113"/>
          <p:cNvSpPr/>
          <p:nvPr/>
        </p:nvSpPr>
        <p:spPr>
          <a:xfrm>
            <a:off x="7692762" y="3383280"/>
            <a:ext cx="31741" cy="365760"/>
          </a:xfrm>
          <a:prstGeom prst="line">
            <a:avLst/>
          </a:prstGeom>
          <a:noFill/>
          <a:ln w="7620">
            <a:solidFill>
              <a:srgbClr val="FF6B35"/>
            </a:solidFill>
            <a:prstDash val="solid"/>
          </a:ln>
        </p:spPr>
        <p:txBody>
          <a:bodyPr/>
          <a:lstStyle/>
          <a:p>
            <a:endParaRPr lang="en-CN"/>
          </a:p>
        </p:txBody>
      </p:sp>
      <p:sp>
        <p:nvSpPr>
          <p:cNvPr id="116" name="Shape 114"/>
          <p:cNvSpPr/>
          <p:nvPr/>
        </p:nvSpPr>
        <p:spPr>
          <a:xfrm>
            <a:off x="7724504" y="3749040"/>
            <a:ext cx="11262" cy="365760"/>
          </a:xfrm>
          <a:prstGeom prst="line">
            <a:avLst/>
          </a:prstGeom>
          <a:noFill/>
          <a:ln w="7620">
            <a:solidFill>
              <a:srgbClr val="FF6B35"/>
            </a:solidFill>
            <a:prstDash val="solid"/>
          </a:ln>
        </p:spPr>
        <p:txBody>
          <a:bodyPr/>
          <a:lstStyle/>
          <a:p>
            <a:endParaRPr lang="en-CN"/>
          </a:p>
        </p:txBody>
      </p:sp>
      <p:sp>
        <p:nvSpPr>
          <p:cNvPr id="117" name="Shape 115"/>
          <p:cNvSpPr/>
          <p:nvPr/>
        </p:nvSpPr>
        <p:spPr>
          <a:xfrm>
            <a:off x="7735766" y="4114800"/>
            <a:ext cx="0" cy="365760"/>
          </a:xfrm>
          <a:prstGeom prst="line">
            <a:avLst/>
          </a:prstGeom>
          <a:noFill/>
          <a:ln w="7620">
            <a:solidFill>
              <a:srgbClr val="FF6B35"/>
            </a:solidFill>
            <a:prstDash val="solid"/>
          </a:ln>
        </p:spPr>
        <p:txBody>
          <a:bodyPr/>
          <a:lstStyle/>
          <a:p>
            <a:endParaRPr lang="en-CN"/>
          </a:p>
        </p:txBody>
      </p:sp>
      <p:sp>
        <p:nvSpPr>
          <p:cNvPr id="118" name="Shape 116"/>
          <p:cNvSpPr/>
          <p:nvPr/>
        </p:nvSpPr>
        <p:spPr>
          <a:xfrm>
            <a:off x="5486400" y="4162159"/>
            <a:ext cx="365760" cy="0"/>
          </a:xfrm>
          <a:prstGeom prst="line">
            <a:avLst/>
          </a:prstGeom>
          <a:noFill/>
          <a:ln w="7620">
            <a:solidFill>
              <a:srgbClr val="1565C0"/>
            </a:solidFill>
            <a:prstDash val="solid"/>
          </a:ln>
        </p:spPr>
        <p:txBody>
          <a:bodyPr/>
          <a:lstStyle/>
          <a:p>
            <a:endParaRPr lang="en-CN"/>
          </a:p>
        </p:txBody>
      </p:sp>
      <p:sp>
        <p:nvSpPr>
          <p:cNvPr id="119" name="Shape 117"/>
          <p:cNvSpPr/>
          <p:nvPr/>
        </p:nvSpPr>
        <p:spPr>
          <a:xfrm>
            <a:off x="5852160" y="4122542"/>
            <a:ext cx="365760" cy="0"/>
          </a:xfrm>
          <a:prstGeom prst="line">
            <a:avLst/>
          </a:prstGeom>
          <a:noFill/>
          <a:ln w="7620">
            <a:solidFill>
              <a:srgbClr val="1565C0"/>
            </a:solidFill>
            <a:prstDash val="solid"/>
          </a:ln>
        </p:spPr>
        <p:txBody>
          <a:bodyPr/>
          <a:lstStyle/>
          <a:p>
            <a:endParaRPr lang="en-CN"/>
          </a:p>
        </p:txBody>
      </p:sp>
      <p:sp>
        <p:nvSpPr>
          <p:cNvPr id="120" name="Shape 118"/>
          <p:cNvSpPr/>
          <p:nvPr/>
        </p:nvSpPr>
        <p:spPr>
          <a:xfrm>
            <a:off x="6217920" y="4077066"/>
            <a:ext cx="365760" cy="0"/>
          </a:xfrm>
          <a:prstGeom prst="line">
            <a:avLst/>
          </a:prstGeom>
          <a:noFill/>
          <a:ln w="7620">
            <a:solidFill>
              <a:srgbClr val="1565C0"/>
            </a:solidFill>
            <a:prstDash val="solid"/>
          </a:ln>
        </p:spPr>
        <p:txBody>
          <a:bodyPr/>
          <a:lstStyle/>
          <a:p>
            <a:endParaRPr lang="en-CN"/>
          </a:p>
        </p:txBody>
      </p:sp>
      <p:sp>
        <p:nvSpPr>
          <p:cNvPr id="121" name="Shape 119"/>
          <p:cNvSpPr/>
          <p:nvPr/>
        </p:nvSpPr>
        <p:spPr>
          <a:xfrm>
            <a:off x="6583680" y="4060146"/>
            <a:ext cx="365760" cy="24441"/>
          </a:xfrm>
          <a:prstGeom prst="line">
            <a:avLst/>
          </a:prstGeom>
          <a:noFill/>
          <a:ln w="7620">
            <a:solidFill>
              <a:srgbClr val="1565C0"/>
            </a:solidFill>
            <a:prstDash val="solid"/>
          </a:ln>
        </p:spPr>
        <p:txBody>
          <a:bodyPr/>
          <a:lstStyle/>
          <a:p>
            <a:endParaRPr lang="en-CN"/>
          </a:p>
        </p:txBody>
      </p:sp>
      <p:sp>
        <p:nvSpPr>
          <p:cNvPr id="122" name="Shape 120"/>
          <p:cNvSpPr/>
          <p:nvPr/>
        </p:nvSpPr>
        <p:spPr>
          <a:xfrm>
            <a:off x="6949440" y="4084587"/>
            <a:ext cx="365760" cy="47305"/>
          </a:xfrm>
          <a:prstGeom prst="line">
            <a:avLst/>
          </a:prstGeom>
          <a:noFill/>
          <a:ln w="7620">
            <a:solidFill>
              <a:srgbClr val="1565C0"/>
            </a:solidFill>
            <a:prstDash val="solid"/>
          </a:ln>
        </p:spPr>
        <p:txBody>
          <a:bodyPr/>
          <a:lstStyle/>
          <a:p>
            <a:endParaRPr lang="en-CN"/>
          </a:p>
        </p:txBody>
      </p:sp>
      <p:sp>
        <p:nvSpPr>
          <p:cNvPr id="123" name="Shape 121"/>
          <p:cNvSpPr/>
          <p:nvPr/>
        </p:nvSpPr>
        <p:spPr>
          <a:xfrm>
            <a:off x="7315200" y="4131892"/>
            <a:ext cx="365760" cy="34370"/>
          </a:xfrm>
          <a:prstGeom prst="line">
            <a:avLst/>
          </a:prstGeom>
          <a:noFill/>
          <a:ln w="7620">
            <a:solidFill>
              <a:srgbClr val="1565C0"/>
            </a:solidFill>
            <a:prstDash val="solid"/>
          </a:ln>
        </p:spPr>
        <p:txBody>
          <a:bodyPr/>
          <a:lstStyle/>
          <a:p>
            <a:endParaRPr lang="en-CN"/>
          </a:p>
        </p:txBody>
      </p:sp>
      <p:sp>
        <p:nvSpPr>
          <p:cNvPr id="124" name="Shape 122"/>
          <p:cNvSpPr/>
          <p:nvPr/>
        </p:nvSpPr>
        <p:spPr>
          <a:xfrm>
            <a:off x="7680960" y="4166262"/>
            <a:ext cx="365760" cy="0"/>
          </a:xfrm>
          <a:prstGeom prst="line">
            <a:avLst/>
          </a:prstGeom>
          <a:noFill/>
          <a:ln w="7620">
            <a:solidFill>
              <a:srgbClr val="1565C0"/>
            </a:solidFill>
            <a:prstDash val="solid"/>
          </a:ln>
        </p:spPr>
        <p:txBody>
          <a:bodyPr/>
          <a:lstStyle/>
          <a:p>
            <a:endParaRPr lang="en-CN"/>
          </a:p>
        </p:txBody>
      </p:sp>
      <p:sp>
        <p:nvSpPr>
          <p:cNvPr id="125" name="Shape 123"/>
          <p:cNvSpPr/>
          <p:nvPr/>
        </p:nvSpPr>
        <p:spPr>
          <a:xfrm>
            <a:off x="8046720" y="4161687"/>
            <a:ext cx="365760" cy="0"/>
          </a:xfrm>
          <a:prstGeom prst="line">
            <a:avLst/>
          </a:prstGeom>
          <a:noFill/>
          <a:ln w="7620">
            <a:solidFill>
              <a:srgbClr val="1565C0"/>
            </a:solidFill>
            <a:prstDash val="solid"/>
          </a:ln>
        </p:spPr>
        <p:txBody>
          <a:bodyPr/>
          <a:lstStyle/>
          <a:p>
            <a:endParaRPr lang="en-CN"/>
          </a:p>
        </p:txBody>
      </p:sp>
      <p:sp>
        <p:nvSpPr>
          <p:cNvPr id="126" name="Shape 124"/>
          <p:cNvSpPr/>
          <p:nvPr/>
        </p:nvSpPr>
        <p:spPr>
          <a:xfrm>
            <a:off x="8027475" y="1554480"/>
            <a:ext cx="0" cy="365760"/>
          </a:xfrm>
          <a:prstGeom prst="line">
            <a:avLst/>
          </a:prstGeom>
          <a:noFill/>
          <a:ln w="7620">
            <a:solidFill>
              <a:srgbClr val="FF6B35"/>
            </a:solidFill>
            <a:prstDash val="solid"/>
          </a:ln>
        </p:spPr>
        <p:txBody>
          <a:bodyPr/>
          <a:lstStyle/>
          <a:p>
            <a:endParaRPr lang="en-CN"/>
          </a:p>
        </p:txBody>
      </p:sp>
      <p:sp>
        <p:nvSpPr>
          <p:cNvPr id="127" name="Shape 125"/>
          <p:cNvSpPr/>
          <p:nvPr/>
        </p:nvSpPr>
        <p:spPr>
          <a:xfrm>
            <a:off x="7998902" y="1920240"/>
            <a:ext cx="0" cy="365760"/>
          </a:xfrm>
          <a:prstGeom prst="line">
            <a:avLst/>
          </a:prstGeom>
          <a:noFill/>
          <a:ln w="7620">
            <a:solidFill>
              <a:srgbClr val="FF6B35"/>
            </a:solidFill>
            <a:prstDash val="solid"/>
          </a:ln>
        </p:spPr>
        <p:txBody>
          <a:bodyPr/>
          <a:lstStyle/>
          <a:p>
            <a:endParaRPr lang="en-CN"/>
          </a:p>
        </p:txBody>
      </p:sp>
      <p:sp>
        <p:nvSpPr>
          <p:cNvPr id="128" name="Shape 126"/>
          <p:cNvSpPr/>
          <p:nvPr/>
        </p:nvSpPr>
        <p:spPr>
          <a:xfrm>
            <a:off x="7992819" y="2286000"/>
            <a:ext cx="19267" cy="365760"/>
          </a:xfrm>
          <a:prstGeom prst="line">
            <a:avLst/>
          </a:prstGeom>
          <a:noFill/>
          <a:ln w="7620">
            <a:solidFill>
              <a:srgbClr val="FF6B35"/>
            </a:solidFill>
            <a:prstDash val="solid"/>
          </a:ln>
        </p:spPr>
        <p:txBody>
          <a:bodyPr/>
          <a:lstStyle/>
          <a:p>
            <a:endParaRPr lang="en-CN"/>
          </a:p>
        </p:txBody>
      </p:sp>
      <p:sp>
        <p:nvSpPr>
          <p:cNvPr id="129" name="Shape 127"/>
          <p:cNvSpPr/>
          <p:nvPr/>
        </p:nvSpPr>
        <p:spPr>
          <a:xfrm>
            <a:off x="8012086" y="2651760"/>
            <a:ext cx="35556" cy="365760"/>
          </a:xfrm>
          <a:prstGeom prst="line">
            <a:avLst/>
          </a:prstGeom>
          <a:noFill/>
          <a:ln w="7620">
            <a:solidFill>
              <a:srgbClr val="FF6B35"/>
            </a:solidFill>
            <a:prstDash val="solid"/>
          </a:ln>
        </p:spPr>
        <p:txBody>
          <a:bodyPr/>
          <a:lstStyle/>
          <a:p>
            <a:endParaRPr lang="en-CN"/>
          </a:p>
        </p:txBody>
      </p:sp>
      <p:sp>
        <p:nvSpPr>
          <p:cNvPr id="130" name="Shape 128"/>
          <p:cNvSpPr/>
          <p:nvPr/>
        </p:nvSpPr>
        <p:spPr>
          <a:xfrm>
            <a:off x="8047642" y="3017520"/>
            <a:ext cx="35122" cy="365760"/>
          </a:xfrm>
          <a:prstGeom prst="line">
            <a:avLst/>
          </a:prstGeom>
          <a:noFill/>
          <a:ln w="7620">
            <a:solidFill>
              <a:srgbClr val="FF6B35"/>
            </a:solidFill>
            <a:prstDash val="solid"/>
          </a:ln>
        </p:spPr>
        <p:txBody>
          <a:bodyPr/>
          <a:lstStyle/>
          <a:p>
            <a:endParaRPr lang="en-CN"/>
          </a:p>
        </p:txBody>
      </p:sp>
      <p:sp>
        <p:nvSpPr>
          <p:cNvPr id="131" name="Shape 129"/>
          <p:cNvSpPr/>
          <p:nvPr/>
        </p:nvSpPr>
        <p:spPr>
          <a:xfrm>
            <a:off x="8082765" y="3383280"/>
            <a:ext cx="18170" cy="365760"/>
          </a:xfrm>
          <a:prstGeom prst="line">
            <a:avLst/>
          </a:prstGeom>
          <a:noFill/>
          <a:ln w="7620">
            <a:solidFill>
              <a:srgbClr val="FF6B35"/>
            </a:solidFill>
            <a:prstDash val="solid"/>
          </a:ln>
        </p:spPr>
        <p:txBody>
          <a:bodyPr/>
          <a:lstStyle/>
          <a:p>
            <a:endParaRPr lang="en-CN"/>
          </a:p>
        </p:txBody>
      </p:sp>
      <p:sp>
        <p:nvSpPr>
          <p:cNvPr id="132" name="Shape 130"/>
          <p:cNvSpPr/>
          <p:nvPr/>
        </p:nvSpPr>
        <p:spPr>
          <a:xfrm>
            <a:off x="8100935" y="3749040"/>
            <a:ext cx="0" cy="365760"/>
          </a:xfrm>
          <a:prstGeom prst="line">
            <a:avLst/>
          </a:prstGeom>
          <a:noFill/>
          <a:ln w="7620">
            <a:solidFill>
              <a:srgbClr val="FF6B35"/>
            </a:solidFill>
            <a:prstDash val="solid"/>
          </a:ln>
        </p:spPr>
        <p:txBody>
          <a:bodyPr/>
          <a:lstStyle/>
          <a:p>
            <a:endParaRPr lang="en-CN"/>
          </a:p>
        </p:txBody>
      </p:sp>
      <p:sp>
        <p:nvSpPr>
          <p:cNvPr id="133" name="Shape 131"/>
          <p:cNvSpPr/>
          <p:nvPr/>
        </p:nvSpPr>
        <p:spPr>
          <a:xfrm>
            <a:off x="8093607" y="4114800"/>
            <a:ext cx="0" cy="365760"/>
          </a:xfrm>
          <a:prstGeom prst="line">
            <a:avLst/>
          </a:prstGeom>
          <a:noFill/>
          <a:ln w="7620">
            <a:solidFill>
              <a:srgbClr val="FF6B35"/>
            </a:solidFill>
            <a:prstDash val="solid"/>
          </a:ln>
        </p:spPr>
        <p:txBody>
          <a:bodyPr/>
          <a:lstStyle/>
          <a:p>
            <a:endParaRPr lang="en-CN"/>
          </a:p>
        </p:txBody>
      </p:sp>
      <p:sp>
        <p:nvSpPr>
          <p:cNvPr id="134" name="Shape 132"/>
          <p:cNvSpPr/>
          <p:nvPr/>
        </p:nvSpPr>
        <p:spPr>
          <a:xfrm>
            <a:off x="5486400" y="4517619"/>
            <a:ext cx="365760" cy="0"/>
          </a:xfrm>
          <a:prstGeom prst="line">
            <a:avLst/>
          </a:prstGeom>
          <a:noFill/>
          <a:ln w="7620">
            <a:solidFill>
              <a:srgbClr val="1565C0"/>
            </a:solidFill>
            <a:prstDash val="solid"/>
          </a:ln>
        </p:spPr>
        <p:txBody>
          <a:bodyPr/>
          <a:lstStyle/>
          <a:p>
            <a:endParaRPr lang="en-CN"/>
          </a:p>
        </p:txBody>
      </p:sp>
      <p:sp>
        <p:nvSpPr>
          <p:cNvPr id="135" name="Shape 133"/>
          <p:cNvSpPr/>
          <p:nvPr/>
        </p:nvSpPr>
        <p:spPr>
          <a:xfrm>
            <a:off x="5852160" y="4471905"/>
            <a:ext cx="365760" cy="0"/>
          </a:xfrm>
          <a:prstGeom prst="line">
            <a:avLst/>
          </a:prstGeom>
          <a:noFill/>
          <a:ln w="7620">
            <a:solidFill>
              <a:srgbClr val="1565C0"/>
            </a:solidFill>
            <a:prstDash val="solid"/>
          </a:ln>
        </p:spPr>
        <p:txBody>
          <a:bodyPr/>
          <a:lstStyle/>
          <a:p>
            <a:endParaRPr lang="en-CN"/>
          </a:p>
        </p:txBody>
      </p:sp>
      <p:sp>
        <p:nvSpPr>
          <p:cNvPr id="136" name="Shape 134"/>
          <p:cNvSpPr/>
          <p:nvPr/>
        </p:nvSpPr>
        <p:spPr>
          <a:xfrm>
            <a:off x="6217920" y="4432742"/>
            <a:ext cx="365760" cy="0"/>
          </a:xfrm>
          <a:prstGeom prst="line">
            <a:avLst/>
          </a:prstGeom>
          <a:noFill/>
          <a:ln w="7620">
            <a:solidFill>
              <a:srgbClr val="1565C0"/>
            </a:solidFill>
            <a:prstDash val="solid"/>
          </a:ln>
        </p:spPr>
        <p:txBody>
          <a:bodyPr/>
          <a:lstStyle/>
          <a:p>
            <a:endParaRPr lang="en-CN"/>
          </a:p>
        </p:txBody>
      </p:sp>
      <p:sp>
        <p:nvSpPr>
          <p:cNvPr id="137" name="Shape 135"/>
          <p:cNvSpPr/>
          <p:nvPr/>
        </p:nvSpPr>
        <p:spPr>
          <a:xfrm>
            <a:off x="6583680" y="4429766"/>
            <a:ext cx="365760" cy="35464"/>
          </a:xfrm>
          <a:prstGeom prst="line">
            <a:avLst/>
          </a:prstGeom>
          <a:noFill/>
          <a:ln w="7620">
            <a:solidFill>
              <a:srgbClr val="1565C0"/>
            </a:solidFill>
            <a:prstDash val="solid"/>
          </a:ln>
        </p:spPr>
        <p:txBody>
          <a:bodyPr/>
          <a:lstStyle/>
          <a:p>
            <a:endParaRPr lang="en-CN"/>
          </a:p>
        </p:txBody>
      </p:sp>
      <p:sp>
        <p:nvSpPr>
          <p:cNvPr id="138" name="Shape 136"/>
          <p:cNvSpPr/>
          <p:nvPr/>
        </p:nvSpPr>
        <p:spPr>
          <a:xfrm>
            <a:off x="6949440" y="4465230"/>
            <a:ext cx="365760" cy="47065"/>
          </a:xfrm>
          <a:prstGeom prst="line">
            <a:avLst/>
          </a:prstGeom>
          <a:noFill/>
          <a:ln w="7620">
            <a:solidFill>
              <a:srgbClr val="1565C0"/>
            </a:solidFill>
            <a:prstDash val="solid"/>
          </a:ln>
        </p:spPr>
        <p:txBody>
          <a:bodyPr/>
          <a:lstStyle/>
          <a:p>
            <a:endParaRPr lang="en-CN"/>
          </a:p>
        </p:txBody>
      </p:sp>
      <p:sp>
        <p:nvSpPr>
          <p:cNvPr id="139" name="Shape 137"/>
          <p:cNvSpPr/>
          <p:nvPr/>
        </p:nvSpPr>
        <p:spPr>
          <a:xfrm>
            <a:off x="7315200" y="4512296"/>
            <a:ext cx="365760" cy="23049"/>
          </a:xfrm>
          <a:prstGeom prst="line">
            <a:avLst/>
          </a:prstGeom>
          <a:noFill/>
          <a:ln w="7620">
            <a:solidFill>
              <a:srgbClr val="1565C0"/>
            </a:solidFill>
            <a:prstDash val="solid"/>
          </a:ln>
        </p:spPr>
        <p:txBody>
          <a:bodyPr/>
          <a:lstStyle/>
          <a:p>
            <a:endParaRPr lang="en-CN"/>
          </a:p>
        </p:txBody>
      </p:sp>
      <p:sp>
        <p:nvSpPr>
          <p:cNvPr id="140" name="Shape 138"/>
          <p:cNvSpPr/>
          <p:nvPr/>
        </p:nvSpPr>
        <p:spPr>
          <a:xfrm>
            <a:off x="7680960" y="4535344"/>
            <a:ext cx="365760" cy="0"/>
          </a:xfrm>
          <a:prstGeom prst="line">
            <a:avLst/>
          </a:prstGeom>
          <a:noFill/>
          <a:ln w="7620">
            <a:solidFill>
              <a:srgbClr val="1565C0"/>
            </a:solidFill>
            <a:prstDash val="solid"/>
          </a:ln>
        </p:spPr>
        <p:txBody>
          <a:bodyPr/>
          <a:lstStyle/>
          <a:p>
            <a:endParaRPr lang="en-CN"/>
          </a:p>
        </p:txBody>
      </p:sp>
      <p:sp>
        <p:nvSpPr>
          <p:cNvPr id="141" name="Shape 139"/>
          <p:cNvSpPr/>
          <p:nvPr/>
        </p:nvSpPr>
        <p:spPr>
          <a:xfrm>
            <a:off x="8046720" y="4516933"/>
            <a:ext cx="365760" cy="0"/>
          </a:xfrm>
          <a:prstGeom prst="line">
            <a:avLst/>
          </a:prstGeom>
          <a:noFill/>
          <a:ln w="7620">
            <a:solidFill>
              <a:srgbClr val="1565C0"/>
            </a:solidFill>
            <a:prstDash val="solid"/>
          </a:ln>
        </p:spPr>
        <p:txBody>
          <a:bodyPr/>
          <a:lstStyle/>
          <a:p>
            <a:endParaRPr lang="en-CN"/>
          </a:p>
        </p:txBody>
      </p:sp>
      <p:sp>
        <p:nvSpPr>
          <p:cNvPr id="142" name="Shape 140"/>
          <p:cNvSpPr/>
          <p:nvPr/>
        </p:nvSpPr>
        <p:spPr>
          <a:xfrm>
            <a:off x="8370959" y="1554480"/>
            <a:ext cx="0" cy="365760"/>
          </a:xfrm>
          <a:prstGeom prst="line">
            <a:avLst/>
          </a:prstGeom>
          <a:noFill/>
          <a:ln w="7620">
            <a:solidFill>
              <a:srgbClr val="FF6B35"/>
            </a:solidFill>
            <a:prstDash val="solid"/>
          </a:ln>
        </p:spPr>
        <p:txBody>
          <a:bodyPr/>
          <a:lstStyle/>
          <a:p>
            <a:endParaRPr lang="en-CN"/>
          </a:p>
        </p:txBody>
      </p:sp>
      <p:sp>
        <p:nvSpPr>
          <p:cNvPr id="143" name="Shape 141"/>
          <p:cNvSpPr/>
          <p:nvPr/>
        </p:nvSpPr>
        <p:spPr>
          <a:xfrm>
            <a:off x="8357620" y="1920240"/>
            <a:ext cx="12463" cy="365760"/>
          </a:xfrm>
          <a:prstGeom prst="line">
            <a:avLst/>
          </a:prstGeom>
          <a:noFill/>
          <a:ln w="7620">
            <a:solidFill>
              <a:srgbClr val="FF6B35"/>
            </a:solidFill>
            <a:prstDash val="solid"/>
          </a:ln>
        </p:spPr>
        <p:txBody>
          <a:bodyPr/>
          <a:lstStyle/>
          <a:p>
            <a:endParaRPr lang="en-CN"/>
          </a:p>
        </p:txBody>
      </p:sp>
      <p:sp>
        <p:nvSpPr>
          <p:cNvPr id="144" name="Shape 142"/>
          <p:cNvSpPr/>
          <p:nvPr/>
        </p:nvSpPr>
        <p:spPr>
          <a:xfrm>
            <a:off x="8370083" y="2286000"/>
            <a:ext cx="32403" cy="365760"/>
          </a:xfrm>
          <a:prstGeom prst="line">
            <a:avLst/>
          </a:prstGeom>
          <a:noFill/>
          <a:ln w="7620">
            <a:solidFill>
              <a:srgbClr val="FF6B35"/>
            </a:solidFill>
            <a:prstDash val="solid"/>
          </a:ln>
        </p:spPr>
        <p:txBody>
          <a:bodyPr/>
          <a:lstStyle/>
          <a:p>
            <a:endParaRPr lang="en-CN"/>
          </a:p>
        </p:txBody>
      </p:sp>
      <p:sp>
        <p:nvSpPr>
          <p:cNvPr id="145" name="Shape 143"/>
          <p:cNvSpPr/>
          <p:nvPr/>
        </p:nvSpPr>
        <p:spPr>
          <a:xfrm>
            <a:off x="8402486" y="2651760"/>
            <a:ext cx="37103" cy="365760"/>
          </a:xfrm>
          <a:prstGeom prst="line">
            <a:avLst/>
          </a:prstGeom>
          <a:noFill/>
          <a:ln w="7620">
            <a:solidFill>
              <a:srgbClr val="FF6B35"/>
            </a:solidFill>
            <a:prstDash val="solid"/>
          </a:ln>
        </p:spPr>
        <p:txBody>
          <a:bodyPr/>
          <a:lstStyle/>
          <a:p>
            <a:endParaRPr lang="en-CN"/>
          </a:p>
        </p:txBody>
      </p:sp>
      <p:sp>
        <p:nvSpPr>
          <p:cNvPr id="146" name="Shape 144"/>
          <p:cNvSpPr/>
          <p:nvPr/>
        </p:nvSpPr>
        <p:spPr>
          <a:xfrm>
            <a:off x="8439589" y="3017520"/>
            <a:ext cx="24353" cy="365760"/>
          </a:xfrm>
          <a:prstGeom prst="line">
            <a:avLst/>
          </a:prstGeom>
          <a:noFill/>
          <a:ln w="7620">
            <a:solidFill>
              <a:srgbClr val="FF6B35"/>
            </a:solidFill>
            <a:prstDash val="solid"/>
          </a:ln>
        </p:spPr>
        <p:txBody>
          <a:bodyPr/>
          <a:lstStyle/>
          <a:p>
            <a:endParaRPr lang="en-CN"/>
          </a:p>
        </p:txBody>
      </p:sp>
      <p:sp>
        <p:nvSpPr>
          <p:cNvPr id="147" name="Shape 145"/>
          <p:cNvSpPr/>
          <p:nvPr/>
        </p:nvSpPr>
        <p:spPr>
          <a:xfrm>
            <a:off x="8463942" y="3383280"/>
            <a:ext cx="150" cy="365760"/>
          </a:xfrm>
          <a:prstGeom prst="line">
            <a:avLst/>
          </a:prstGeom>
          <a:noFill/>
          <a:ln w="7620">
            <a:solidFill>
              <a:srgbClr val="FF6B35"/>
            </a:solidFill>
            <a:prstDash val="solid"/>
          </a:ln>
        </p:spPr>
        <p:txBody>
          <a:bodyPr/>
          <a:lstStyle/>
          <a:p>
            <a:endParaRPr lang="en-CN"/>
          </a:p>
        </p:txBody>
      </p:sp>
      <p:sp>
        <p:nvSpPr>
          <p:cNvPr id="148" name="Shape 146"/>
          <p:cNvSpPr/>
          <p:nvPr/>
        </p:nvSpPr>
        <p:spPr>
          <a:xfrm>
            <a:off x="8464092" y="3749040"/>
            <a:ext cx="0" cy="365760"/>
          </a:xfrm>
          <a:prstGeom prst="line">
            <a:avLst/>
          </a:prstGeom>
          <a:noFill/>
          <a:ln w="7620">
            <a:solidFill>
              <a:srgbClr val="FF6B35"/>
            </a:solidFill>
            <a:prstDash val="solid"/>
          </a:ln>
        </p:spPr>
        <p:txBody>
          <a:bodyPr/>
          <a:lstStyle/>
          <a:p>
            <a:endParaRPr lang="en-CN"/>
          </a:p>
        </p:txBody>
      </p:sp>
      <p:sp>
        <p:nvSpPr>
          <p:cNvPr id="149" name="Shape 147"/>
          <p:cNvSpPr/>
          <p:nvPr/>
        </p:nvSpPr>
        <p:spPr>
          <a:xfrm>
            <a:off x="8439968" y="4114800"/>
            <a:ext cx="0" cy="365760"/>
          </a:xfrm>
          <a:prstGeom prst="line">
            <a:avLst/>
          </a:prstGeom>
          <a:noFill/>
          <a:ln w="7620">
            <a:solidFill>
              <a:srgbClr val="FF6B35"/>
            </a:solidFill>
            <a:prstDash val="solid"/>
          </a:ln>
        </p:spPr>
        <p:txBody>
          <a:bodyPr/>
          <a:lstStyle/>
          <a:p>
            <a:endParaRPr lang="en-CN"/>
          </a:p>
        </p:txBody>
      </p:sp>
      <p:sp>
        <p:nvSpPr>
          <p:cNvPr id="150" name="Text 148"/>
          <p:cNvSpPr/>
          <p:nvPr/>
        </p:nvSpPr>
        <p:spPr>
          <a:xfrm>
            <a:off x="5303520" y="4617720"/>
            <a:ext cx="3291840" cy="228600"/>
          </a:xfrm>
          <a:prstGeom prst="rect">
            <a:avLst/>
          </a:prstGeom>
          <a:noFill/>
          <a:ln/>
        </p:spPr>
        <p:txBody>
          <a:bodyPr wrap="square" lIns="0" tIns="0" rIns="0" bIns="0" rtlCol="0" anchor="ctr"/>
          <a:lstStyle/>
          <a:p>
            <a:pPr marL="0" indent="0" algn="ctr">
              <a:buNone/>
            </a:pPr>
            <a:r>
              <a:rPr lang="en-US" sz="1000" i="1" dirty="0">
                <a:solidFill>
                  <a:srgbClr val="475569"/>
                </a:solidFill>
                <a:latin typeface="Calibri" pitchFamily="34" charset="0"/>
                <a:ea typeface="Calibri" pitchFamily="34" charset="-122"/>
                <a:cs typeface="Calibri" pitchFamily="34" charset="-120"/>
              </a:rPr>
              <a:t>规则网格的弹性扭曲</a:t>
            </a:r>
            <a:endParaRPr lang="en-US" sz="1000" dirty="0"/>
          </a:p>
        </p:txBody>
      </p:sp>
      <p:sp>
        <p:nvSpPr>
          <p:cNvPr id="151" name="Shape 149"/>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152" name="Text 150"/>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153" name="Text 151"/>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12 / 22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训练技巧 #2</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加权交叉熵：分离相互接触的细胞</a:t>
            </a:r>
            <a:endParaRPr lang="en-US" sz="2400" dirty="0"/>
          </a:p>
        </p:txBody>
      </p:sp>
      <p:sp>
        <p:nvSpPr>
          <p:cNvPr id="4" name="Shape 2"/>
          <p:cNvSpPr/>
          <p:nvPr/>
        </p:nvSpPr>
        <p:spPr>
          <a:xfrm>
            <a:off x="457200" y="1417320"/>
            <a:ext cx="5943600" cy="960120"/>
          </a:xfrm>
          <a:prstGeom prst="rect">
            <a:avLst/>
          </a:prstGeom>
          <a:solidFill>
            <a:srgbClr val="0B1E3F"/>
          </a:solidFill>
          <a:ln w="12700">
            <a:solidFill>
              <a:srgbClr val="0B1E3F"/>
            </a:solidFill>
            <a:prstDash val="solid"/>
          </a:ln>
        </p:spPr>
        <p:txBody>
          <a:bodyPr/>
          <a:lstStyle/>
          <a:p>
            <a:endParaRPr lang="en-CN"/>
          </a:p>
        </p:txBody>
      </p:sp>
      <p:sp>
        <p:nvSpPr>
          <p:cNvPr id="5" name="Shape 3"/>
          <p:cNvSpPr/>
          <p:nvPr/>
        </p:nvSpPr>
        <p:spPr>
          <a:xfrm>
            <a:off x="457200" y="1417320"/>
            <a:ext cx="73152" cy="960120"/>
          </a:xfrm>
          <a:prstGeom prst="rect">
            <a:avLst/>
          </a:prstGeom>
          <a:solidFill>
            <a:srgbClr val="FF6B35"/>
          </a:solidFill>
          <a:ln w="12700">
            <a:solidFill>
              <a:srgbClr val="FF6B35"/>
            </a:solidFill>
            <a:prstDash val="solid"/>
          </a:ln>
        </p:spPr>
        <p:txBody>
          <a:bodyPr/>
          <a:lstStyle/>
          <a:p>
            <a:endParaRPr lang="en-CN"/>
          </a:p>
        </p:txBody>
      </p:sp>
      <p:sp>
        <p:nvSpPr>
          <p:cNvPr id="6" name="Text 4"/>
          <p:cNvSpPr/>
          <p:nvPr/>
        </p:nvSpPr>
        <p:spPr>
          <a:xfrm>
            <a:off x="640080" y="1481328"/>
            <a:ext cx="5760720" cy="320040"/>
          </a:xfrm>
          <a:prstGeom prst="rect">
            <a:avLst/>
          </a:prstGeom>
          <a:noFill/>
          <a:ln/>
        </p:spPr>
        <p:txBody>
          <a:bodyPr wrap="square" lIns="0" tIns="0" rIns="0" bIns="0" rtlCol="0" anchor="ctr"/>
          <a:lstStyle/>
          <a:p>
            <a:pPr marL="0" indent="0">
              <a:buNone/>
            </a:pPr>
            <a:r>
              <a:rPr lang="en-US" sz="1600" b="1" dirty="0">
                <a:solidFill>
                  <a:srgbClr val="FFFFFF"/>
                </a:solidFill>
                <a:latin typeface="Consolas" pitchFamily="34" charset="0"/>
                <a:ea typeface="Consolas" pitchFamily="34" charset="-122"/>
                <a:cs typeface="Consolas" pitchFamily="34" charset="-120"/>
              </a:rPr>
              <a:t>E  =  Σ  w(x) · log p_ℓ(x)(x)</a:t>
            </a:r>
            <a:endParaRPr lang="en-US" sz="1600" dirty="0"/>
          </a:p>
        </p:txBody>
      </p:sp>
      <p:sp>
        <p:nvSpPr>
          <p:cNvPr id="7" name="Text 5"/>
          <p:cNvSpPr/>
          <p:nvPr/>
        </p:nvSpPr>
        <p:spPr>
          <a:xfrm>
            <a:off x="640080" y="1874520"/>
            <a:ext cx="5760720" cy="411480"/>
          </a:xfrm>
          <a:prstGeom prst="rect">
            <a:avLst/>
          </a:prstGeom>
          <a:noFill/>
          <a:ln/>
        </p:spPr>
        <p:txBody>
          <a:bodyPr wrap="square" lIns="0" tIns="0" rIns="0" bIns="0" rtlCol="0" anchor="ctr"/>
          <a:lstStyle/>
          <a:p>
            <a:pPr marL="0" indent="0">
              <a:buNone/>
            </a:pPr>
            <a:r>
              <a:rPr lang="en-US" sz="1300" i="1" dirty="0">
                <a:solidFill>
                  <a:srgbClr val="E2E8F0"/>
                </a:solidFill>
                <a:latin typeface="Consolas" pitchFamily="34" charset="0"/>
                <a:ea typeface="Consolas" pitchFamily="34" charset="-122"/>
                <a:cs typeface="Consolas" pitchFamily="34" charset="-120"/>
              </a:rPr>
              <a:t>w(x) = w_c(x)  +  w_0 · exp( − (d₁(x) + d₂(x))² / 2σ² )    with w_0 = 10, σ ≈ 5 px</a:t>
            </a:r>
            <a:endParaRPr lang="en-US" sz="1300" dirty="0"/>
          </a:p>
        </p:txBody>
      </p:sp>
      <p:sp>
        <p:nvSpPr>
          <p:cNvPr id="8" name="Shape 6"/>
          <p:cNvSpPr/>
          <p:nvPr/>
        </p:nvSpPr>
        <p:spPr>
          <a:xfrm>
            <a:off x="457200" y="2697480"/>
            <a:ext cx="2926080" cy="1783080"/>
          </a:xfrm>
          <a:prstGeom prst="rect">
            <a:avLst/>
          </a:prstGeom>
          <a:solidFill>
            <a:srgbClr val="FFFFFF"/>
          </a:solidFill>
          <a:ln w="12700">
            <a:solidFill>
              <a:srgbClr val="E2E8F0"/>
            </a:solidFill>
            <a:prstDash val="solid"/>
          </a:ln>
        </p:spPr>
        <p:txBody>
          <a:bodyPr/>
          <a:lstStyle/>
          <a:p>
            <a:endParaRPr lang="en-CN"/>
          </a:p>
        </p:txBody>
      </p:sp>
      <p:sp>
        <p:nvSpPr>
          <p:cNvPr id="9" name="Shape 7"/>
          <p:cNvSpPr/>
          <p:nvPr/>
        </p:nvSpPr>
        <p:spPr>
          <a:xfrm>
            <a:off x="457200" y="2697480"/>
            <a:ext cx="73152" cy="1783080"/>
          </a:xfrm>
          <a:prstGeom prst="rect">
            <a:avLst/>
          </a:prstGeom>
          <a:solidFill>
            <a:srgbClr val="1565C0"/>
          </a:solidFill>
          <a:ln w="12700">
            <a:solidFill>
              <a:srgbClr val="1565C0"/>
            </a:solidFill>
            <a:prstDash val="solid"/>
          </a:ln>
        </p:spPr>
        <p:txBody>
          <a:bodyPr/>
          <a:lstStyle/>
          <a:p>
            <a:endParaRPr lang="en-CN"/>
          </a:p>
        </p:txBody>
      </p:sp>
      <p:sp>
        <p:nvSpPr>
          <p:cNvPr id="10" name="Text 8"/>
          <p:cNvSpPr/>
          <p:nvPr/>
        </p:nvSpPr>
        <p:spPr>
          <a:xfrm>
            <a:off x="640080" y="2788920"/>
            <a:ext cx="2743200" cy="274320"/>
          </a:xfrm>
          <a:prstGeom prst="rect">
            <a:avLst/>
          </a:prstGeom>
          <a:noFill/>
          <a:ln/>
        </p:spPr>
        <p:txBody>
          <a:bodyPr wrap="square" lIns="0" tIns="0" rIns="0" bIns="0" rtlCol="0" anchor="ctr"/>
          <a:lstStyle/>
          <a:p>
            <a:pPr marL="0" indent="0">
              <a:buNone/>
            </a:pPr>
            <a:r>
              <a:rPr lang="en-US" sz="1200" b="1" dirty="0">
                <a:solidFill>
                  <a:srgbClr val="0B1E3F"/>
                </a:solidFill>
                <a:latin typeface="Georgia" pitchFamily="34" charset="0"/>
                <a:ea typeface="Georgia" pitchFamily="34" charset="-122"/>
                <a:cs typeface="Georgia" pitchFamily="34" charset="-120"/>
              </a:rPr>
              <a:t>w_c(x) - 类别平衡</a:t>
            </a:r>
            <a:endParaRPr lang="en-US" sz="1200" dirty="0"/>
          </a:p>
        </p:txBody>
      </p:sp>
      <p:sp>
        <p:nvSpPr>
          <p:cNvPr id="11" name="Text 9"/>
          <p:cNvSpPr/>
          <p:nvPr/>
        </p:nvSpPr>
        <p:spPr>
          <a:xfrm>
            <a:off x="640080" y="3108960"/>
            <a:ext cx="2743200" cy="128016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对抗前景与背景像素的长尾分布。</a:t>
            </a:r>
            <a:endParaRPr lang="en-US" sz="1100" dirty="0"/>
          </a:p>
        </p:txBody>
      </p:sp>
      <p:sp>
        <p:nvSpPr>
          <p:cNvPr id="12" name="Shape 10"/>
          <p:cNvSpPr/>
          <p:nvPr/>
        </p:nvSpPr>
        <p:spPr>
          <a:xfrm>
            <a:off x="3474720" y="2697480"/>
            <a:ext cx="2926080" cy="1783080"/>
          </a:xfrm>
          <a:prstGeom prst="rect">
            <a:avLst/>
          </a:prstGeom>
          <a:solidFill>
            <a:srgbClr val="FFFFFF"/>
          </a:solidFill>
          <a:ln w="12700">
            <a:solidFill>
              <a:srgbClr val="E2E8F0"/>
            </a:solidFill>
            <a:prstDash val="solid"/>
          </a:ln>
        </p:spPr>
        <p:txBody>
          <a:bodyPr/>
          <a:lstStyle/>
          <a:p>
            <a:endParaRPr lang="en-CN"/>
          </a:p>
        </p:txBody>
      </p:sp>
      <p:sp>
        <p:nvSpPr>
          <p:cNvPr id="13" name="Shape 11"/>
          <p:cNvSpPr/>
          <p:nvPr/>
        </p:nvSpPr>
        <p:spPr>
          <a:xfrm>
            <a:off x="3474720" y="2697480"/>
            <a:ext cx="73152" cy="1783080"/>
          </a:xfrm>
          <a:prstGeom prst="rect">
            <a:avLst/>
          </a:prstGeom>
          <a:solidFill>
            <a:srgbClr val="FF6B35"/>
          </a:solidFill>
          <a:ln w="12700">
            <a:solidFill>
              <a:srgbClr val="FF6B35"/>
            </a:solidFill>
            <a:prstDash val="solid"/>
          </a:ln>
        </p:spPr>
        <p:txBody>
          <a:bodyPr/>
          <a:lstStyle/>
          <a:p>
            <a:endParaRPr lang="en-CN"/>
          </a:p>
        </p:txBody>
      </p:sp>
      <p:sp>
        <p:nvSpPr>
          <p:cNvPr id="14" name="Text 12"/>
          <p:cNvSpPr/>
          <p:nvPr/>
        </p:nvSpPr>
        <p:spPr>
          <a:xfrm>
            <a:off x="3657600" y="2788920"/>
            <a:ext cx="2743200" cy="274320"/>
          </a:xfrm>
          <a:prstGeom prst="rect">
            <a:avLst/>
          </a:prstGeom>
          <a:noFill/>
          <a:ln/>
        </p:spPr>
        <p:txBody>
          <a:bodyPr wrap="square" lIns="0" tIns="0" rIns="0" bIns="0" rtlCol="0" anchor="ctr"/>
          <a:lstStyle/>
          <a:p>
            <a:pPr marL="0" indent="0">
              <a:buNone/>
            </a:pPr>
            <a:r>
              <a:rPr lang="en-US" sz="1200" b="1" dirty="0">
                <a:solidFill>
                  <a:srgbClr val="0B1E3F"/>
                </a:solidFill>
                <a:latin typeface="Georgia" pitchFamily="34" charset="0"/>
                <a:ea typeface="Georgia" pitchFamily="34" charset="-122"/>
                <a:cs typeface="Georgia" pitchFamily="34" charset="-120"/>
              </a:rPr>
              <a:t>exp(-)项 - 细胞边界</a:t>
            </a:r>
            <a:endParaRPr lang="en-US" sz="1200" dirty="0"/>
          </a:p>
        </p:txBody>
      </p:sp>
      <p:sp>
        <p:nvSpPr>
          <p:cNvPr id="15" name="Text 13"/>
          <p:cNvSpPr/>
          <p:nvPr/>
        </p:nvSpPr>
        <p:spPr>
          <a:xfrm>
            <a:off x="3657600" y="3108960"/>
            <a:ext cx="2743200" cy="128016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提高相互接触细胞之间细窄背景条的权重——d1、d2分别是到最近两个细胞的距离。</a:t>
            </a:r>
            <a:endParaRPr lang="en-US" sz="1100" dirty="0"/>
          </a:p>
        </p:txBody>
      </p:sp>
      <p:sp>
        <p:nvSpPr>
          <p:cNvPr id="16" name="Shape 14"/>
          <p:cNvSpPr/>
          <p:nvPr/>
        </p:nvSpPr>
        <p:spPr>
          <a:xfrm>
            <a:off x="6766560" y="1417320"/>
            <a:ext cx="1920240" cy="3063240"/>
          </a:xfrm>
          <a:prstGeom prst="rect">
            <a:avLst/>
          </a:prstGeom>
          <a:solidFill>
            <a:srgbClr val="0B1E3F"/>
          </a:solidFill>
          <a:ln w="12700">
            <a:solidFill>
              <a:srgbClr val="0B1E3F"/>
            </a:solidFill>
            <a:prstDash val="solid"/>
          </a:ln>
        </p:spPr>
        <p:txBody>
          <a:bodyPr/>
          <a:lstStyle/>
          <a:p>
            <a:endParaRPr lang="en-CN"/>
          </a:p>
        </p:txBody>
      </p:sp>
      <p:sp>
        <p:nvSpPr>
          <p:cNvPr id="17" name="Shape 15"/>
          <p:cNvSpPr/>
          <p:nvPr/>
        </p:nvSpPr>
        <p:spPr>
          <a:xfrm>
            <a:off x="6949440" y="1965960"/>
            <a:ext cx="777240" cy="777240"/>
          </a:xfrm>
          <a:prstGeom prst="ellipse">
            <a:avLst/>
          </a:prstGeom>
          <a:solidFill>
            <a:srgbClr val="63A4FF"/>
          </a:solidFill>
          <a:ln w="19050">
            <a:solidFill>
              <a:srgbClr val="1565C0"/>
            </a:solidFill>
            <a:prstDash val="solid"/>
          </a:ln>
        </p:spPr>
        <p:txBody>
          <a:bodyPr/>
          <a:lstStyle/>
          <a:p>
            <a:endParaRPr lang="en-CN"/>
          </a:p>
        </p:txBody>
      </p:sp>
      <p:sp>
        <p:nvSpPr>
          <p:cNvPr id="18" name="Shape 16"/>
          <p:cNvSpPr/>
          <p:nvPr/>
        </p:nvSpPr>
        <p:spPr>
          <a:xfrm>
            <a:off x="7680960" y="2194560"/>
            <a:ext cx="777240" cy="777240"/>
          </a:xfrm>
          <a:prstGeom prst="ellipse">
            <a:avLst/>
          </a:prstGeom>
          <a:solidFill>
            <a:srgbClr val="63A4FF"/>
          </a:solidFill>
          <a:ln w="19050">
            <a:solidFill>
              <a:srgbClr val="1565C0"/>
            </a:solidFill>
            <a:prstDash val="solid"/>
          </a:ln>
        </p:spPr>
        <p:txBody>
          <a:bodyPr/>
          <a:lstStyle/>
          <a:p>
            <a:endParaRPr lang="en-CN"/>
          </a:p>
        </p:txBody>
      </p:sp>
      <p:sp>
        <p:nvSpPr>
          <p:cNvPr id="19" name="Shape 17"/>
          <p:cNvSpPr/>
          <p:nvPr/>
        </p:nvSpPr>
        <p:spPr>
          <a:xfrm>
            <a:off x="7699248" y="2103120"/>
            <a:ext cx="0" cy="960120"/>
          </a:xfrm>
          <a:prstGeom prst="line">
            <a:avLst/>
          </a:prstGeom>
          <a:noFill/>
          <a:ln w="38100">
            <a:solidFill>
              <a:srgbClr val="FF6B35"/>
            </a:solidFill>
            <a:prstDash val="solid"/>
          </a:ln>
        </p:spPr>
        <p:txBody>
          <a:bodyPr/>
          <a:lstStyle/>
          <a:p>
            <a:endParaRPr lang="en-CN"/>
          </a:p>
        </p:txBody>
      </p:sp>
      <p:sp>
        <p:nvSpPr>
          <p:cNvPr id="20" name="Text 18"/>
          <p:cNvSpPr/>
          <p:nvPr/>
        </p:nvSpPr>
        <p:spPr>
          <a:xfrm>
            <a:off x="6812280" y="3246120"/>
            <a:ext cx="1828800" cy="502920"/>
          </a:xfrm>
          <a:prstGeom prst="rect">
            <a:avLst/>
          </a:prstGeom>
          <a:noFill/>
          <a:ln/>
        </p:spPr>
        <p:txBody>
          <a:bodyPr wrap="square" lIns="0" tIns="0" rIns="0" bIns="0" rtlCol="0" anchor="ctr"/>
          <a:lstStyle/>
          <a:p>
            <a:pPr marL="0" indent="0" algn="ctr">
              <a:buNone/>
            </a:pPr>
            <a:r>
              <a:rPr lang="en-US" sz="1000" i="1" dirty="0">
                <a:solidFill>
                  <a:srgbClr val="FFD3C0"/>
                </a:solidFill>
                <a:latin typeface="Calibri" pitchFamily="34" charset="0"/>
                <a:ea typeface="Calibri" pitchFamily="34" charset="-122"/>
                <a:cs typeface="Calibri" pitchFamily="34" charset="-120"/>
              </a:rPr>
              <a:t>高权重</a:t>
            </a:r>
            <a:endParaRPr lang="en-US" sz="1000" dirty="0"/>
          </a:p>
          <a:p>
            <a:pPr marL="0" indent="0" algn="ctr">
              <a:buNone/>
            </a:pPr>
            <a:r>
              <a:rPr lang="en-US" sz="1000" i="1" dirty="0">
                <a:solidFill>
                  <a:srgbClr val="FFD3C0"/>
                </a:solidFill>
                <a:latin typeface="Calibri" pitchFamily="34" charset="0"/>
                <a:ea typeface="Calibri" pitchFamily="34" charset="-122"/>
                <a:cs typeface="Calibri" pitchFamily="34" charset="-120"/>
              </a:rPr>
              <a:t>分离边界</a:t>
            </a:r>
            <a:endParaRPr lang="en-US" sz="1000" dirty="0"/>
          </a:p>
        </p:txBody>
      </p:sp>
      <p:sp>
        <p:nvSpPr>
          <p:cNvPr id="21" name="Text 19"/>
          <p:cNvSpPr/>
          <p:nvPr/>
        </p:nvSpPr>
        <p:spPr>
          <a:xfrm>
            <a:off x="6858000" y="3794760"/>
            <a:ext cx="1783080" cy="640080"/>
          </a:xfrm>
          <a:prstGeom prst="rect">
            <a:avLst/>
          </a:prstGeom>
          <a:noFill/>
          <a:ln/>
        </p:spPr>
        <p:txBody>
          <a:bodyPr wrap="square" rtlCol="0" anchor="ctr"/>
          <a:lstStyle/>
          <a:p>
            <a:pPr marL="0" indent="0" algn="ctr">
              <a:buNone/>
            </a:pPr>
            <a:r>
              <a:rPr lang="en-US" sz="1000" i="1" dirty="0">
                <a:solidFill>
                  <a:srgbClr val="E2E8F0"/>
                </a:solidFill>
                <a:latin typeface="Calibri" pitchFamily="34" charset="0"/>
                <a:ea typeface="Calibri" pitchFamily="34" charset="-122"/>
                <a:cs typeface="Calibri" pitchFamily="34" charset="-120"/>
              </a:rPr>
              <a:t>迫使网络学习边界，而不仅仅是主体。</a:t>
            </a:r>
            <a:endParaRPr lang="en-US" sz="1000" dirty="0"/>
          </a:p>
        </p:txBody>
      </p:sp>
      <p:sp>
        <p:nvSpPr>
          <p:cNvPr id="22" name="Shape 20"/>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23" name="Text 21"/>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24" name="Text 22"/>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13 / 22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训练配方</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他们如何仅用30张图像训练一个23层网络</a:t>
            </a:r>
            <a:endParaRPr lang="en-US" sz="2400" dirty="0"/>
          </a:p>
        </p:txBody>
      </p:sp>
      <p:sp>
        <p:nvSpPr>
          <p:cNvPr id="4" name="Shape 2"/>
          <p:cNvSpPr/>
          <p:nvPr/>
        </p:nvSpPr>
        <p:spPr>
          <a:xfrm>
            <a:off x="457200" y="1417320"/>
            <a:ext cx="2743200" cy="137160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5" name="Shape 3"/>
          <p:cNvSpPr/>
          <p:nvPr/>
        </p:nvSpPr>
        <p:spPr>
          <a:xfrm>
            <a:off x="457200" y="1417320"/>
            <a:ext cx="2743200" cy="54864"/>
          </a:xfrm>
          <a:prstGeom prst="rect">
            <a:avLst/>
          </a:prstGeom>
          <a:solidFill>
            <a:srgbClr val="1565C0"/>
          </a:solidFill>
          <a:ln w="12700">
            <a:solidFill>
              <a:srgbClr val="1565C0"/>
            </a:solidFill>
            <a:prstDash val="solid"/>
          </a:ln>
        </p:spPr>
        <p:txBody>
          <a:bodyPr/>
          <a:lstStyle/>
          <a:p>
            <a:endParaRPr lang="en-CN"/>
          </a:p>
        </p:txBody>
      </p:sp>
      <p:sp>
        <p:nvSpPr>
          <p:cNvPr id="6" name="Text 4"/>
          <p:cNvSpPr/>
          <p:nvPr/>
        </p:nvSpPr>
        <p:spPr>
          <a:xfrm>
            <a:off x="621792" y="1554480"/>
            <a:ext cx="2468880" cy="228600"/>
          </a:xfrm>
          <a:prstGeom prst="rect">
            <a:avLst/>
          </a:prstGeom>
          <a:noFill/>
          <a:ln/>
        </p:spPr>
        <p:txBody>
          <a:bodyPr wrap="square" lIns="0" tIns="0" rIns="0" bIns="0" rtlCol="0" anchor="ctr"/>
          <a:lstStyle/>
          <a:p>
            <a:pPr marL="0" indent="0">
              <a:buNone/>
            </a:pPr>
            <a:r>
              <a:rPr lang="en-US" sz="950" b="1" kern="0" spc="200" dirty="0">
                <a:solidFill>
                  <a:srgbClr val="FF6B35"/>
                </a:solidFill>
                <a:latin typeface="Calibri" pitchFamily="34" charset="0"/>
                <a:ea typeface="Calibri" pitchFamily="34" charset="-122"/>
                <a:cs typeface="Calibri" pitchFamily="34" charset="-120"/>
              </a:rPr>
              <a:t>优化器</a:t>
            </a:r>
            <a:endParaRPr lang="en-US" sz="950" dirty="0"/>
          </a:p>
        </p:txBody>
      </p:sp>
      <p:sp>
        <p:nvSpPr>
          <p:cNvPr id="7" name="Text 5"/>
          <p:cNvSpPr/>
          <p:nvPr/>
        </p:nvSpPr>
        <p:spPr>
          <a:xfrm>
            <a:off x="621792" y="1783080"/>
            <a:ext cx="2468880" cy="365760"/>
          </a:xfrm>
          <a:prstGeom prst="rect">
            <a:avLst/>
          </a:prstGeom>
          <a:noFill/>
          <a:ln/>
        </p:spPr>
        <p:txBody>
          <a:bodyPr wrap="square" lIns="0" tIns="0" rIns="0" bIns="0" rtlCol="0" anchor="ctr"/>
          <a:lstStyle/>
          <a:p>
            <a:pPr marL="0" indent="0">
              <a:buNone/>
            </a:pPr>
            <a:r>
              <a:rPr lang="en-US" sz="1600" b="1" dirty="0">
                <a:solidFill>
                  <a:srgbClr val="0B1E3F"/>
                </a:solidFill>
                <a:latin typeface="Georgia" pitchFamily="34" charset="0"/>
                <a:ea typeface="Georgia" pitchFamily="34" charset="-122"/>
                <a:cs typeface="Georgia" pitchFamily="34" charset="-120"/>
              </a:rPr>
              <a:t>SGD</a:t>
            </a:r>
            <a:endParaRPr lang="en-US" sz="1600" dirty="0"/>
          </a:p>
        </p:txBody>
      </p:sp>
      <p:sp>
        <p:nvSpPr>
          <p:cNvPr id="8" name="Text 6"/>
          <p:cNvSpPr/>
          <p:nvPr/>
        </p:nvSpPr>
        <p:spPr>
          <a:xfrm>
            <a:off x="621792" y="2194560"/>
            <a:ext cx="2468880" cy="50292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Caffe实现，单图像批次</a:t>
            </a:r>
            <a:endParaRPr lang="en-US" sz="1050" dirty="0"/>
          </a:p>
        </p:txBody>
      </p:sp>
      <p:sp>
        <p:nvSpPr>
          <p:cNvPr id="9" name="Shape 7"/>
          <p:cNvSpPr/>
          <p:nvPr/>
        </p:nvSpPr>
        <p:spPr>
          <a:xfrm>
            <a:off x="3319272" y="1417320"/>
            <a:ext cx="2743200" cy="137160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10" name="Shape 8"/>
          <p:cNvSpPr/>
          <p:nvPr/>
        </p:nvSpPr>
        <p:spPr>
          <a:xfrm>
            <a:off x="3319272" y="1417320"/>
            <a:ext cx="2743200" cy="54864"/>
          </a:xfrm>
          <a:prstGeom prst="rect">
            <a:avLst/>
          </a:prstGeom>
          <a:solidFill>
            <a:srgbClr val="1565C0"/>
          </a:solidFill>
          <a:ln w="12700">
            <a:solidFill>
              <a:srgbClr val="1565C0"/>
            </a:solidFill>
            <a:prstDash val="solid"/>
          </a:ln>
        </p:spPr>
        <p:txBody>
          <a:bodyPr/>
          <a:lstStyle/>
          <a:p>
            <a:endParaRPr lang="en-CN"/>
          </a:p>
        </p:txBody>
      </p:sp>
      <p:sp>
        <p:nvSpPr>
          <p:cNvPr id="11" name="Text 9"/>
          <p:cNvSpPr/>
          <p:nvPr/>
        </p:nvSpPr>
        <p:spPr>
          <a:xfrm>
            <a:off x="3483864" y="1554480"/>
            <a:ext cx="2468880" cy="228600"/>
          </a:xfrm>
          <a:prstGeom prst="rect">
            <a:avLst/>
          </a:prstGeom>
          <a:noFill/>
          <a:ln/>
        </p:spPr>
        <p:txBody>
          <a:bodyPr wrap="square" lIns="0" tIns="0" rIns="0" bIns="0" rtlCol="0" anchor="ctr"/>
          <a:lstStyle/>
          <a:p>
            <a:pPr marL="0" indent="0">
              <a:buNone/>
            </a:pPr>
            <a:r>
              <a:rPr lang="en-US" sz="950" b="1" kern="0" spc="200" dirty="0">
                <a:solidFill>
                  <a:srgbClr val="FF6B35"/>
                </a:solidFill>
                <a:latin typeface="Calibri" pitchFamily="34" charset="0"/>
                <a:ea typeface="Calibri" pitchFamily="34" charset="-122"/>
                <a:cs typeface="Calibri" pitchFamily="34" charset="-120"/>
              </a:rPr>
              <a:t>动量</a:t>
            </a:r>
            <a:endParaRPr lang="en-US" sz="950" dirty="0"/>
          </a:p>
        </p:txBody>
      </p:sp>
      <p:sp>
        <p:nvSpPr>
          <p:cNvPr id="12" name="Text 10"/>
          <p:cNvSpPr/>
          <p:nvPr/>
        </p:nvSpPr>
        <p:spPr>
          <a:xfrm>
            <a:off x="3483864" y="1783080"/>
            <a:ext cx="2468880" cy="365760"/>
          </a:xfrm>
          <a:prstGeom prst="rect">
            <a:avLst/>
          </a:prstGeom>
          <a:noFill/>
          <a:ln/>
        </p:spPr>
        <p:txBody>
          <a:bodyPr wrap="square" lIns="0" tIns="0" rIns="0" bIns="0" rtlCol="0" anchor="ctr"/>
          <a:lstStyle/>
          <a:p>
            <a:pPr marL="0" indent="0">
              <a:buNone/>
            </a:pPr>
            <a:r>
              <a:rPr lang="en-US" sz="1600" b="1" dirty="0">
                <a:solidFill>
                  <a:srgbClr val="0B1E3F"/>
                </a:solidFill>
                <a:latin typeface="Georgia" pitchFamily="34" charset="0"/>
                <a:ea typeface="Georgia" pitchFamily="34" charset="-122"/>
                <a:cs typeface="Georgia" pitchFamily="34" charset="-120"/>
              </a:rPr>
              <a:t>0.99</a:t>
            </a:r>
            <a:endParaRPr lang="en-US" sz="1600" dirty="0"/>
          </a:p>
        </p:txBody>
      </p:sp>
      <p:sp>
        <p:nvSpPr>
          <p:cNvPr id="13" name="Text 11"/>
          <p:cNvSpPr/>
          <p:nvPr/>
        </p:nvSpPr>
        <p:spPr>
          <a:xfrm>
            <a:off x="3483864" y="2194560"/>
            <a:ext cx="2468880" cy="50292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补偿batch size=1（重度依赖历史梯度）</a:t>
            </a:r>
            <a:endParaRPr lang="en-US" sz="1050" dirty="0"/>
          </a:p>
        </p:txBody>
      </p:sp>
      <p:sp>
        <p:nvSpPr>
          <p:cNvPr id="14" name="Shape 12"/>
          <p:cNvSpPr/>
          <p:nvPr/>
        </p:nvSpPr>
        <p:spPr>
          <a:xfrm>
            <a:off x="6181344" y="1417320"/>
            <a:ext cx="2743200" cy="137160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15" name="Shape 13"/>
          <p:cNvSpPr/>
          <p:nvPr/>
        </p:nvSpPr>
        <p:spPr>
          <a:xfrm>
            <a:off x="6181344" y="1417320"/>
            <a:ext cx="2743200" cy="54864"/>
          </a:xfrm>
          <a:prstGeom prst="rect">
            <a:avLst/>
          </a:prstGeom>
          <a:solidFill>
            <a:srgbClr val="1565C0"/>
          </a:solidFill>
          <a:ln w="12700">
            <a:solidFill>
              <a:srgbClr val="1565C0"/>
            </a:solidFill>
            <a:prstDash val="solid"/>
          </a:ln>
        </p:spPr>
        <p:txBody>
          <a:bodyPr/>
          <a:lstStyle/>
          <a:p>
            <a:endParaRPr lang="en-CN"/>
          </a:p>
        </p:txBody>
      </p:sp>
      <p:sp>
        <p:nvSpPr>
          <p:cNvPr id="16" name="Text 14"/>
          <p:cNvSpPr/>
          <p:nvPr/>
        </p:nvSpPr>
        <p:spPr>
          <a:xfrm>
            <a:off x="6345936" y="1554480"/>
            <a:ext cx="2468880" cy="228600"/>
          </a:xfrm>
          <a:prstGeom prst="rect">
            <a:avLst/>
          </a:prstGeom>
          <a:noFill/>
          <a:ln/>
        </p:spPr>
        <p:txBody>
          <a:bodyPr wrap="square" lIns="0" tIns="0" rIns="0" bIns="0" rtlCol="0" anchor="ctr"/>
          <a:lstStyle/>
          <a:p>
            <a:pPr marL="0" indent="0">
              <a:buNone/>
            </a:pPr>
            <a:r>
              <a:rPr lang="en-US" sz="950" b="1" kern="0" spc="200" dirty="0">
                <a:solidFill>
                  <a:srgbClr val="FF6B35"/>
                </a:solidFill>
                <a:latin typeface="Calibri" pitchFamily="34" charset="0"/>
                <a:ea typeface="Calibri" pitchFamily="34" charset="-122"/>
                <a:cs typeface="Calibri" pitchFamily="34" charset="-120"/>
              </a:rPr>
              <a:t>初始化</a:t>
            </a:r>
            <a:endParaRPr lang="en-US" sz="950" dirty="0"/>
          </a:p>
        </p:txBody>
      </p:sp>
      <p:sp>
        <p:nvSpPr>
          <p:cNvPr id="17" name="Text 15"/>
          <p:cNvSpPr/>
          <p:nvPr/>
        </p:nvSpPr>
        <p:spPr>
          <a:xfrm>
            <a:off x="6345936" y="1783080"/>
            <a:ext cx="2468880" cy="365760"/>
          </a:xfrm>
          <a:prstGeom prst="rect">
            <a:avLst/>
          </a:prstGeom>
          <a:noFill/>
          <a:ln/>
        </p:spPr>
        <p:txBody>
          <a:bodyPr wrap="square" lIns="0" tIns="0" rIns="0" bIns="0" rtlCol="0" anchor="ctr"/>
          <a:lstStyle/>
          <a:p>
            <a:pPr marL="0" indent="0">
              <a:buNone/>
            </a:pPr>
            <a:r>
              <a:rPr lang="en-US" sz="1600" b="1" dirty="0">
                <a:solidFill>
                  <a:srgbClr val="0B1E3F"/>
                </a:solidFill>
                <a:latin typeface="Georgia" pitchFamily="34" charset="0"/>
                <a:ea typeface="Georgia" pitchFamily="34" charset="-122"/>
                <a:cs typeface="Georgia" pitchFamily="34" charset="-120"/>
              </a:rPr>
              <a:t>He初始化  sigma = sqrt(2/N)</a:t>
            </a:r>
            <a:endParaRPr lang="en-US" sz="1600" dirty="0"/>
          </a:p>
        </p:txBody>
      </p:sp>
      <p:sp>
        <p:nvSpPr>
          <p:cNvPr id="18" name="Text 16"/>
          <p:cNvSpPr/>
          <p:nvPr/>
        </p:nvSpPr>
        <p:spPr>
          <a:xfrm>
            <a:off x="6345936" y="2194560"/>
            <a:ext cx="2468880" cy="50292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N = 输入维度；保持激活值在单位方差</a:t>
            </a:r>
            <a:endParaRPr lang="en-US" sz="1050" dirty="0"/>
          </a:p>
        </p:txBody>
      </p:sp>
      <p:sp>
        <p:nvSpPr>
          <p:cNvPr id="19" name="Shape 17"/>
          <p:cNvSpPr/>
          <p:nvPr/>
        </p:nvSpPr>
        <p:spPr>
          <a:xfrm>
            <a:off x="457200" y="2926080"/>
            <a:ext cx="2743200" cy="137160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20" name="Shape 18"/>
          <p:cNvSpPr/>
          <p:nvPr/>
        </p:nvSpPr>
        <p:spPr>
          <a:xfrm>
            <a:off x="457200" y="2926080"/>
            <a:ext cx="2743200" cy="54864"/>
          </a:xfrm>
          <a:prstGeom prst="rect">
            <a:avLst/>
          </a:prstGeom>
          <a:solidFill>
            <a:srgbClr val="1565C0"/>
          </a:solidFill>
          <a:ln w="12700">
            <a:solidFill>
              <a:srgbClr val="1565C0"/>
            </a:solidFill>
            <a:prstDash val="solid"/>
          </a:ln>
        </p:spPr>
        <p:txBody>
          <a:bodyPr/>
          <a:lstStyle/>
          <a:p>
            <a:endParaRPr lang="en-CN"/>
          </a:p>
        </p:txBody>
      </p:sp>
      <p:sp>
        <p:nvSpPr>
          <p:cNvPr id="21" name="Text 19"/>
          <p:cNvSpPr/>
          <p:nvPr/>
        </p:nvSpPr>
        <p:spPr>
          <a:xfrm>
            <a:off x="621792" y="3063240"/>
            <a:ext cx="2468880" cy="228600"/>
          </a:xfrm>
          <a:prstGeom prst="rect">
            <a:avLst/>
          </a:prstGeom>
          <a:noFill/>
          <a:ln/>
        </p:spPr>
        <p:txBody>
          <a:bodyPr wrap="square" lIns="0" tIns="0" rIns="0" bIns="0" rtlCol="0" anchor="ctr"/>
          <a:lstStyle/>
          <a:p>
            <a:pPr marL="0" indent="0">
              <a:buNone/>
            </a:pPr>
            <a:r>
              <a:rPr lang="en-US" sz="950" b="1" kern="0" spc="200" dirty="0">
                <a:solidFill>
                  <a:srgbClr val="FF6B35"/>
                </a:solidFill>
                <a:latin typeface="Calibri" pitchFamily="34" charset="0"/>
                <a:ea typeface="Calibri" pitchFamily="34" charset="-122"/>
                <a:cs typeface="Calibri" pitchFamily="34" charset="-120"/>
              </a:rPr>
              <a:t>损失函数</a:t>
            </a:r>
            <a:endParaRPr lang="en-US" sz="950" dirty="0"/>
          </a:p>
        </p:txBody>
      </p:sp>
      <p:sp>
        <p:nvSpPr>
          <p:cNvPr id="22" name="Text 20"/>
          <p:cNvSpPr/>
          <p:nvPr/>
        </p:nvSpPr>
        <p:spPr>
          <a:xfrm>
            <a:off x="621792" y="3291840"/>
            <a:ext cx="2468880" cy="365760"/>
          </a:xfrm>
          <a:prstGeom prst="rect">
            <a:avLst/>
          </a:prstGeom>
          <a:noFill/>
          <a:ln/>
        </p:spPr>
        <p:txBody>
          <a:bodyPr wrap="square" lIns="0" tIns="0" rIns="0" bIns="0" rtlCol="0" anchor="ctr"/>
          <a:lstStyle/>
          <a:p>
            <a:pPr marL="0" indent="0">
              <a:buNone/>
            </a:pPr>
            <a:r>
              <a:rPr lang="en-US" sz="1600" b="1" dirty="0">
                <a:solidFill>
                  <a:srgbClr val="0B1E3F"/>
                </a:solidFill>
                <a:latin typeface="Georgia" pitchFamily="34" charset="0"/>
                <a:ea typeface="Georgia" pitchFamily="34" charset="-122"/>
                <a:cs typeface="Georgia" pitchFamily="34" charset="-120"/>
              </a:rPr>
              <a:t>加权交叉熵 + 逐像素权重w(x)</a:t>
            </a:r>
            <a:endParaRPr lang="en-US" sz="1600" dirty="0"/>
          </a:p>
        </p:txBody>
      </p:sp>
      <p:sp>
        <p:nvSpPr>
          <p:cNvPr id="23" name="Text 21"/>
          <p:cNvSpPr/>
          <p:nvPr/>
        </p:nvSpPr>
        <p:spPr>
          <a:xfrm>
            <a:off x="621792" y="3703320"/>
            <a:ext cx="2468880" cy="50292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类别平衡 + 边界加权</a:t>
            </a:r>
            <a:endParaRPr lang="en-US" sz="1050" dirty="0"/>
          </a:p>
        </p:txBody>
      </p:sp>
      <p:sp>
        <p:nvSpPr>
          <p:cNvPr id="24" name="Shape 22"/>
          <p:cNvSpPr/>
          <p:nvPr/>
        </p:nvSpPr>
        <p:spPr>
          <a:xfrm>
            <a:off x="3319272" y="2926080"/>
            <a:ext cx="2743200" cy="137160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25" name="Shape 23"/>
          <p:cNvSpPr/>
          <p:nvPr/>
        </p:nvSpPr>
        <p:spPr>
          <a:xfrm>
            <a:off x="3319272" y="2926080"/>
            <a:ext cx="2743200" cy="54864"/>
          </a:xfrm>
          <a:prstGeom prst="rect">
            <a:avLst/>
          </a:prstGeom>
          <a:solidFill>
            <a:srgbClr val="1565C0"/>
          </a:solidFill>
          <a:ln w="12700">
            <a:solidFill>
              <a:srgbClr val="1565C0"/>
            </a:solidFill>
            <a:prstDash val="solid"/>
          </a:ln>
        </p:spPr>
        <p:txBody>
          <a:bodyPr/>
          <a:lstStyle/>
          <a:p>
            <a:endParaRPr lang="en-CN"/>
          </a:p>
        </p:txBody>
      </p:sp>
      <p:sp>
        <p:nvSpPr>
          <p:cNvPr id="26" name="Text 24"/>
          <p:cNvSpPr/>
          <p:nvPr/>
        </p:nvSpPr>
        <p:spPr>
          <a:xfrm>
            <a:off x="3483864" y="3063240"/>
            <a:ext cx="2468880" cy="228600"/>
          </a:xfrm>
          <a:prstGeom prst="rect">
            <a:avLst/>
          </a:prstGeom>
          <a:noFill/>
          <a:ln/>
        </p:spPr>
        <p:txBody>
          <a:bodyPr wrap="square" lIns="0" tIns="0" rIns="0" bIns="0" rtlCol="0" anchor="ctr"/>
          <a:lstStyle/>
          <a:p>
            <a:pPr marL="0" indent="0">
              <a:buNone/>
            </a:pPr>
            <a:r>
              <a:rPr lang="en-US" sz="950" b="1" kern="0" spc="200" dirty="0">
                <a:solidFill>
                  <a:srgbClr val="FF6B35"/>
                </a:solidFill>
                <a:latin typeface="Calibri" pitchFamily="34" charset="0"/>
                <a:ea typeface="Calibri" pitchFamily="34" charset="-122"/>
                <a:cs typeface="Calibri" pitchFamily="34" charset="-120"/>
              </a:rPr>
              <a:t>数据增强</a:t>
            </a:r>
            <a:endParaRPr lang="en-US" sz="950" dirty="0"/>
          </a:p>
        </p:txBody>
      </p:sp>
      <p:sp>
        <p:nvSpPr>
          <p:cNvPr id="27" name="Text 25"/>
          <p:cNvSpPr/>
          <p:nvPr/>
        </p:nvSpPr>
        <p:spPr>
          <a:xfrm>
            <a:off x="3483864" y="3291840"/>
            <a:ext cx="2468880" cy="365760"/>
          </a:xfrm>
          <a:prstGeom prst="rect">
            <a:avLst/>
          </a:prstGeom>
          <a:noFill/>
          <a:ln/>
        </p:spPr>
        <p:txBody>
          <a:bodyPr wrap="square" lIns="0" tIns="0" rIns="0" bIns="0" rtlCol="0" anchor="ctr"/>
          <a:lstStyle/>
          <a:p>
            <a:pPr marL="0" indent="0">
              <a:buNone/>
            </a:pPr>
            <a:r>
              <a:rPr lang="en-US" sz="1600" b="1" dirty="0">
                <a:solidFill>
                  <a:srgbClr val="0B1E3F"/>
                </a:solidFill>
                <a:latin typeface="Georgia" pitchFamily="34" charset="0"/>
                <a:ea typeface="Georgia" pitchFamily="34" charset="-122"/>
                <a:cs typeface="Georgia" pitchFamily="34" charset="-120"/>
              </a:rPr>
              <a:t>弹性形变 + 平移 + 旋转 + 灰度变换</a:t>
            </a:r>
            <a:endParaRPr lang="en-US" sz="1600" dirty="0"/>
          </a:p>
        </p:txBody>
      </p:sp>
      <p:sp>
        <p:nvSpPr>
          <p:cNvPr id="28" name="Text 26"/>
          <p:cNvSpPr/>
          <p:nvPr/>
        </p:nvSpPr>
        <p:spPr>
          <a:xfrm>
            <a:off x="3483864" y="3703320"/>
            <a:ext cx="2468880" cy="50292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外加编码器末端的Dropout</a:t>
            </a:r>
            <a:endParaRPr lang="en-US" sz="1050" dirty="0"/>
          </a:p>
        </p:txBody>
      </p:sp>
      <p:sp>
        <p:nvSpPr>
          <p:cNvPr id="29" name="Shape 27"/>
          <p:cNvSpPr/>
          <p:nvPr/>
        </p:nvSpPr>
        <p:spPr>
          <a:xfrm>
            <a:off x="6181344" y="2926080"/>
            <a:ext cx="2743200" cy="137160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30" name="Shape 28"/>
          <p:cNvSpPr/>
          <p:nvPr/>
        </p:nvSpPr>
        <p:spPr>
          <a:xfrm>
            <a:off x="6181344" y="2926080"/>
            <a:ext cx="2743200" cy="54864"/>
          </a:xfrm>
          <a:prstGeom prst="rect">
            <a:avLst/>
          </a:prstGeom>
          <a:solidFill>
            <a:srgbClr val="1565C0"/>
          </a:solidFill>
          <a:ln w="12700">
            <a:solidFill>
              <a:srgbClr val="1565C0"/>
            </a:solidFill>
            <a:prstDash val="solid"/>
          </a:ln>
        </p:spPr>
        <p:txBody>
          <a:bodyPr/>
          <a:lstStyle/>
          <a:p>
            <a:endParaRPr lang="en-CN"/>
          </a:p>
        </p:txBody>
      </p:sp>
      <p:sp>
        <p:nvSpPr>
          <p:cNvPr id="31" name="Text 29"/>
          <p:cNvSpPr/>
          <p:nvPr/>
        </p:nvSpPr>
        <p:spPr>
          <a:xfrm>
            <a:off x="6345936" y="3063240"/>
            <a:ext cx="2468880" cy="228600"/>
          </a:xfrm>
          <a:prstGeom prst="rect">
            <a:avLst/>
          </a:prstGeom>
          <a:noFill/>
          <a:ln/>
        </p:spPr>
        <p:txBody>
          <a:bodyPr wrap="square" lIns="0" tIns="0" rIns="0" bIns="0" rtlCol="0" anchor="ctr"/>
          <a:lstStyle/>
          <a:p>
            <a:pPr marL="0" indent="0">
              <a:buNone/>
            </a:pPr>
            <a:r>
              <a:rPr lang="en-US" sz="950" b="1" kern="0" spc="200" dirty="0">
                <a:solidFill>
                  <a:srgbClr val="FF6B35"/>
                </a:solidFill>
                <a:latin typeface="Calibri" pitchFamily="34" charset="0"/>
                <a:ea typeface="Calibri" pitchFamily="34" charset="-122"/>
                <a:cs typeface="Calibri" pitchFamily="34" charset="-120"/>
              </a:rPr>
              <a:t>硬件</a:t>
            </a:r>
            <a:endParaRPr lang="en-US" sz="950" dirty="0"/>
          </a:p>
        </p:txBody>
      </p:sp>
      <p:sp>
        <p:nvSpPr>
          <p:cNvPr id="32" name="Text 30"/>
          <p:cNvSpPr/>
          <p:nvPr/>
        </p:nvSpPr>
        <p:spPr>
          <a:xfrm>
            <a:off x="6345936" y="3291840"/>
            <a:ext cx="2468880" cy="365760"/>
          </a:xfrm>
          <a:prstGeom prst="rect">
            <a:avLst/>
          </a:prstGeom>
          <a:noFill/>
          <a:ln/>
        </p:spPr>
        <p:txBody>
          <a:bodyPr wrap="square" lIns="0" tIns="0" rIns="0" bIns="0" rtlCol="0" anchor="ctr"/>
          <a:lstStyle/>
          <a:p>
            <a:pPr marL="0" indent="0">
              <a:buNone/>
            </a:pPr>
            <a:r>
              <a:rPr lang="en-US" sz="1600" b="1" dirty="0">
                <a:solidFill>
                  <a:srgbClr val="0B1E3F"/>
                </a:solidFill>
                <a:latin typeface="Georgia" pitchFamily="34" charset="0"/>
                <a:ea typeface="Georgia" pitchFamily="34" charset="-122"/>
                <a:cs typeface="Georgia" pitchFamily="34" charset="-120"/>
              </a:rPr>
              <a:t>1x NVidia Titan (6 GB)</a:t>
            </a:r>
            <a:endParaRPr lang="en-US" sz="1600" dirty="0"/>
          </a:p>
        </p:txBody>
      </p:sp>
      <p:sp>
        <p:nvSpPr>
          <p:cNvPr id="33" name="Text 31"/>
          <p:cNvSpPr/>
          <p:nvPr/>
        </p:nvSpPr>
        <p:spPr>
          <a:xfrm>
            <a:off x="6345936" y="3703320"/>
            <a:ext cx="2468880" cy="50292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总计约10小时训练时间</a:t>
            </a:r>
            <a:endParaRPr lang="en-US" sz="1050" dirty="0"/>
          </a:p>
        </p:txBody>
      </p:sp>
      <p:sp>
        <p:nvSpPr>
          <p:cNvPr id="34" name="Shape 32"/>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35" name="Text 33"/>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36" name="Text 34"/>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14 / 22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实验结果</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三项挑战，一种架构——全赢了</a:t>
            </a:r>
            <a:endParaRPr lang="en-US" sz="2400" dirty="0"/>
          </a:p>
        </p:txBody>
      </p:sp>
      <p:graphicFrame>
        <p:nvGraphicFramePr>
          <p:cNvPr id="4" name="Chart 0"/>
          <p:cNvGraphicFramePr/>
          <p:nvPr/>
        </p:nvGraphicFramePr>
        <p:xfrm>
          <a:off x="457200" y="1417320"/>
          <a:ext cx="512064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760720" y="1417320"/>
            <a:ext cx="2926080" cy="3017520"/>
          </a:xfrm>
          <a:prstGeom prst="rect">
            <a:avLst/>
          </a:prstGeom>
          <a:solidFill>
            <a:srgbClr val="0B1E3F"/>
          </a:solidFill>
          <a:ln w="12700">
            <a:solidFill>
              <a:srgbClr val="0B1E3F"/>
            </a:solidFill>
            <a:prstDash val="solid"/>
          </a:ln>
        </p:spPr>
        <p:txBody>
          <a:bodyPr/>
          <a:lstStyle/>
          <a:p>
            <a:endParaRPr lang="en-CN"/>
          </a:p>
        </p:txBody>
      </p:sp>
      <p:sp>
        <p:nvSpPr>
          <p:cNvPr id="6" name="Shape 3"/>
          <p:cNvSpPr/>
          <p:nvPr/>
        </p:nvSpPr>
        <p:spPr>
          <a:xfrm>
            <a:off x="5760720" y="1417320"/>
            <a:ext cx="73152" cy="3017520"/>
          </a:xfrm>
          <a:prstGeom prst="rect">
            <a:avLst/>
          </a:prstGeom>
          <a:solidFill>
            <a:srgbClr val="FF6B35"/>
          </a:solidFill>
          <a:ln w="12700">
            <a:solidFill>
              <a:srgbClr val="FF6B35"/>
            </a:solidFill>
            <a:prstDash val="solid"/>
          </a:ln>
        </p:spPr>
        <p:txBody>
          <a:bodyPr/>
          <a:lstStyle/>
          <a:p>
            <a:endParaRPr lang="en-CN"/>
          </a:p>
        </p:txBody>
      </p:sp>
      <p:sp>
        <p:nvSpPr>
          <p:cNvPr id="7" name="Text 4"/>
          <p:cNvSpPr/>
          <p:nvPr/>
        </p:nvSpPr>
        <p:spPr>
          <a:xfrm>
            <a:off x="5943600" y="1554480"/>
            <a:ext cx="2651760" cy="2743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ISBI 电子显微镜分割</a:t>
            </a:r>
            <a:endParaRPr lang="en-US" sz="1300" dirty="0"/>
          </a:p>
        </p:txBody>
      </p:sp>
      <p:sp>
        <p:nvSpPr>
          <p:cNvPr id="8" name="Text 5"/>
          <p:cNvSpPr/>
          <p:nvPr/>
        </p:nvSpPr>
        <p:spPr>
          <a:xfrm>
            <a:off x="5943600" y="1828800"/>
            <a:ext cx="2651760" cy="228600"/>
          </a:xfrm>
          <a:prstGeom prst="rect">
            <a:avLst/>
          </a:prstGeom>
          <a:noFill/>
          <a:ln/>
        </p:spPr>
        <p:txBody>
          <a:bodyPr wrap="square" lIns="0" tIns="0" rIns="0" bIns="0" rtlCol="0" anchor="ctr"/>
          <a:lstStyle/>
          <a:p>
            <a:pPr marL="0" indent="0">
              <a:buNone/>
            </a:pPr>
            <a:r>
              <a:rPr lang="en-US" sz="1000" i="1" dirty="0">
                <a:solidFill>
                  <a:srgbClr val="CBD5E1"/>
                </a:solidFill>
                <a:latin typeface="Calibri" pitchFamily="34" charset="0"/>
                <a:ea typeface="Calibri" pitchFamily="34" charset="-122"/>
                <a:cs typeface="Calibri" pitchFamily="34" charset="-120"/>
              </a:rPr>
              <a:t>（果蝇VNC，电子显微镜）</a:t>
            </a:r>
            <a:endParaRPr lang="en-US" sz="1000" dirty="0"/>
          </a:p>
        </p:txBody>
      </p:sp>
      <p:sp>
        <p:nvSpPr>
          <p:cNvPr id="9" name="Text 6"/>
          <p:cNvSpPr/>
          <p:nvPr/>
        </p:nvSpPr>
        <p:spPr>
          <a:xfrm>
            <a:off x="5943600" y="2194560"/>
            <a:ext cx="2651760" cy="502920"/>
          </a:xfrm>
          <a:prstGeom prst="rect">
            <a:avLst/>
          </a:prstGeom>
          <a:noFill/>
          <a:ln/>
        </p:spPr>
        <p:txBody>
          <a:bodyPr wrap="square" lIns="0" tIns="0" rIns="0" bIns="0" rtlCol="0" anchor="ctr"/>
          <a:lstStyle/>
          <a:p>
            <a:pPr marL="0" indent="0">
              <a:buNone/>
            </a:pPr>
            <a:r>
              <a:rPr lang="en-US" sz="3400" b="1" dirty="0">
                <a:solidFill>
                  <a:srgbClr val="FF6B35"/>
                </a:solidFill>
                <a:latin typeface="Georgia" pitchFamily="34" charset="0"/>
                <a:ea typeface="Georgia" pitchFamily="34" charset="-122"/>
                <a:cs typeface="Georgia" pitchFamily="34" charset="-120"/>
              </a:rPr>
              <a:t>排名第1</a:t>
            </a:r>
            <a:endParaRPr lang="en-US" sz="3400" dirty="0"/>
          </a:p>
        </p:txBody>
      </p:sp>
      <p:sp>
        <p:nvSpPr>
          <p:cNvPr id="10" name="Text 7"/>
          <p:cNvSpPr/>
          <p:nvPr/>
        </p:nvSpPr>
        <p:spPr>
          <a:xfrm>
            <a:off x="5943600" y="2834640"/>
            <a:ext cx="2651760" cy="91440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变形误差  0.000353</a:t>
            </a:r>
            <a:r>
              <a:rPr lang="en-US" sz="1200" b="1" dirty="0">
                <a:solidFill>
                  <a:srgbClr val="FFFFFF"/>
                </a:solidFill>
                <a:latin typeface="Calibri" pitchFamily="34" charset="0"/>
                <a:ea typeface="Calibri" pitchFamily="34" charset="-122"/>
                <a:cs typeface="Calibri" pitchFamily="34" charset="-120"/>
              </a:rPr>
              <a:t/>
            </a:r>
            <a:endParaRPr lang="en-US" sz="1200" dirty="0"/>
          </a:p>
          <a:p>
            <a:pPr marL="0" indent="0">
              <a:buNone/>
            </a:pPr>
            <a:r>
              <a:rPr lang="en-US" sz="1200" dirty="0">
                <a:solidFill>
                  <a:srgbClr val="CBD5E1"/>
                </a:solidFill>
                <a:latin typeface="Calibri" pitchFamily="34" charset="0"/>
                <a:ea typeface="Calibri" pitchFamily="34" charset="-122"/>
                <a:cs typeface="Calibri" pitchFamily="34" charset="-120"/>
              </a:rPr>
              <a:t>击败 Ciresan</a:t>
            </a:r>
            <a:endParaRPr lang="en-US" sz="1200" dirty="0"/>
          </a:p>
          <a:p>
            <a:pPr marL="0" indent="0">
              <a:buNone/>
            </a:pPr>
            <a:r>
              <a:rPr lang="en-US" sz="1200" b="1" dirty="0">
                <a:solidFill>
                  <a:srgbClr val="FFFFFF"/>
                </a:solidFill>
                <a:latin typeface="Calibri" pitchFamily="34" charset="0"/>
                <a:ea typeface="Calibri" pitchFamily="34" charset="-122"/>
                <a:cs typeface="Calibri" pitchFamily="34" charset="-120"/>
              </a:rPr>
              <a:t>0.000420</a:t>
            </a:r>
            <a:endParaRPr lang="en-US" sz="1200" dirty="0"/>
          </a:p>
          <a:p>
            <a:pPr marL="0" indent="0">
              <a:buNone/>
            </a:pPr>
            <a:r>
              <a:rPr lang="en-US" sz="1200" dirty="0">
                <a:solidFill>
                  <a:srgbClr val="CBD5E1"/>
                </a:solidFill>
                <a:latin typeface="Calibri" pitchFamily="34" charset="0"/>
                <a:ea typeface="Calibri" pitchFamily="34" charset="-122"/>
                <a:cs typeface="Calibri" pitchFamily="34" charset="-120"/>
              </a:rPr>
              <a:t>人类</a:t>
            </a:r>
            <a:endParaRPr lang="en-US" sz="1200" dirty="0"/>
          </a:p>
          <a:p>
            <a:pPr marL="0" indent="0">
              <a:buNone/>
            </a:pPr>
            <a:r>
              <a:rPr lang="en-US" sz="1200" i="1" dirty="0">
                <a:solidFill>
                  <a:srgbClr val="94A3B8"/>
                </a:solidFill>
                <a:latin typeface="Calibri" pitchFamily="34" charset="0"/>
                <a:ea typeface="Calibri" pitchFamily="34" charset="-122"/>
                <a:cs typeface="Calibri" pitchFamily="34" charset="-120"/>
              </a:rPr>
              <a:t>0.000005</a:t>
            </a:r>
            <a:endParaRPr lang="en-US" sz="1200" dirty="0"/>
          </a:p>
        </p:txBody>
      </p:sp>
      <p:sp>
        <p:nvSpPr>
          <p:cNvPr id="11" name="Text 8"/>
          <p:cNvSpPr/>
          <p:nvPr/>
        </p:nvSpPr>
        <p:spPr>
          <a:xfrm>
            <a:off x="5943600" y="3886200"/>
            <a:ext cx="2651760" cy="502920"/>
          </a:xfrm>
          <a:prstGeom prst="rect">
            <a:avLst/>
          </a:prstGeom>
          <a:noFill/>
          <a:ln/>
        </p:spPr>
        <p:txBody>
          <a:bodyPr wrap="square" rtlCol="0" anchor="ctr"/>
          <a:lstStyle/>
          <a:p>
            <a:pPr marL="0" indent="0">
              <a:buNone/>
            </a:pPr>
            <a:r>
              <a:rPr lang="en-US" sz="1100" i="1" dirty="0">
                <a:solidFill>
                  <a:srgbClr val="CBD5E1"/>
                </a:solidFill>
                <a:latin typeface="Calibri" pitchFamily="34" charset="0"/>
                <a:ea typeface="Calibri" pitchFamily="34" charset="-122"/>
                <a:cs typeface="Calibri" pitchFamily="34" charset="-120"/>
              </a:rPr>
              <a:t>推理速度：在2015年的GPU上，512x512图像 &lt; 1秒。</a:t>
            </a:r>
            <a:endParaRPr lang="en-US" sz="1100" dirty="0"/>
          </a:p>
        </p:txBody>
      </p:sp>
      <p:sp>
        <p:nvSpPr>
          <p:cNvPr id="12" name="Shape 9"/>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13" name="Text 10"/>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14" name="Text 11"/>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15 / 22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综合总结</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U-Net"就是好用"的五个原因——至今依然有效</a:t>
            </a:r>
            <a:endParaRPr lang="en-US" sz="2400" dirty="0"/>
          </a:p>
        </p:txBody>
      </p:sp>
      <p:sp>
        <p:nvSpPr>
          <p:cNvPr id="4" name="Shape 2"/>
          <p:cNvSpPr/>
          <p:nvPr/>
        </p:nvSpPr>
        <p:spPr>
          <a:xfrm>
            <a:off x="502920" y="1417320"/>
            <a:ext cx="411480" cy="411480"/>
          </a:xfrm>
          <a:prstGeom prst="ellipse">
            <a:avLst/>
          </a:prstGeom>
          <a:solidFill>
            <a:srgbClr val="1565C0"/>
          </a:solidFill>
          <a:ln w="12700">
            <a:solidFill>
              <a:srgbClr val="FFFFFF"/>
            </a:solidFill>
            <a:prstDash val="solid"/>
          </a:ln>
        </p:spPr>
        <p:txBody>
          <a:bodyPr/>
          <a:lstStyle/>
          <a:p>
            <a:endParaRPr lang="en-CN"/>
          </a:p>
        </p:txBody>
      </p:sp>
      <p:sp>
        <p:nvSpPr>
          <p:cNvPr id="5" name="Text 3"/>
          <p:cNvSpPr/>
          <p:nvPr/>
        </p:nvSpPr>
        <p:spPr>
          <a:xfrm>
            <a:off x="502920" y="141732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051560" y="1435608"/>
            <a:ext cx="7589520" cy="54864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U形结构是任何图像到图像任务的正确归纳偏置：输入和输出共享空间坐标。</a:t>
            </a:r>
            <a:endParaRPr lang="en-US" sz="1300" dirty="0"/>
          </a:p>
        </p:txBody>
      </p:sp>
      <p:sp>
        <p:nvSpPr>
          <p:cNvPr id="7" name="Shape 5"/>
          <p:cNvSpPr/>
          <p:nvPr/>
        </p:nvSpPr>
        <p:spPr>
          <a:xfrm>
            <a:off x="502920" y="2020824"/>
            <a:ext cx="411480" cy="411480"/>
          </a:xfrm>
          <a:prstGeom prst="ellipse">
            <a:avLst/>
          </a:prstGeom>
          <a:solidFill>
            <a:srgbClr val="FF6B35"/>
          </a:solidFill>
          <a:ln w="12700">
            <a:solidFill>
              <a:srgbClr val="FFFFFF"/>
            </a:solidFill>
            <a:prstDash val="solid"/>
          </a:ln>
        </p:spPr>
        <p:txBody>
          <a:bodyPr/>
          <a:lstStyle/>
          <a:p>
            <a:endParaRPr lang="en-CN"/>
          </a:p>
        </p:txBody>
      </p:sp>
      <p:sp>
        <p:nvSpPr>
          <p:cNvPr id="8" name="Text 6"/>
          <p:cNvSpPr/>
          <p:nvPr/>
        </p:nvSpPr>
        <p:spPr>
          <a:xfrm>
            <a:off x="502920" y="2020824"/>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9" name="Text 7"/>
          <p:cNvSpPr/>
          <p:nvPr/>
        </p:nvSpPr>
        <p:spPr>
          <a:xfrm>
            <a:off x="1051560" y="2039112"/>
            <a:ext cx="7589520" cy="54864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跳跃连接为优化器提供了四条短梯度路径——即使只有几十张图像也能训练。</a:t>
            </a:r>
            <a:endParaRPr lang="en-US" sz="1300" dirty="0"/>
          </a:p>
        </p:txBody>
      </p:sp>
      <p:sp>
        <p:nvSpPr>
          <p:cNvPr id="10" name="Shape 8"/>
          <p:cNvSpPr/>
          <p:nvPr/>
        </p:nvSpPr>
        <p:spPr>
          <a:xfrm>
            <a:off x="502920" y="2624328"/>
            <a:ext cx="411480" cy="411480"/>
          </a:xfrm>
          <a:prstGeom prst="ellipse">
            <a:avLst/>
          </a:prstGeom>
          <a:solidFill>
            <a:srgbClr val="1565C0"/>
          </a:solidFill>
          <a:ln w="12700">
            <a:solidFill>
              <a:srgbClr val="FFFFFF"/>
            </a:solidFill>
            <a:prstDash val="solid"/>
          </a:ln>
        </p:spPr>
        <p:txBody>
          <a:bodyPr/>
          <a:lstStyle/>
          <a:p>
            <a:endParaRPr lang="en-CN"/>
          </a:p>
        </p:txBody>
      </p:sp>
      <p:sp>
        <p:nvSpPr>
          <p:cNvPr id="11" name="Text 9"/>
          <p:cNvSpPr/>
          <p:nvPr/>
        </p:nvSpPr>
        <p:spPr>
          <a:xfrm>
            <a:off x="502920" y="2624328"/>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2" name="Text 10"/>
          <p:cNvSpPr/>
          <p:nvPr/>
        </p:nvSpPr>
        <p:spPr>
          <a:xfrm>
            <a:off x="1051560" y="2642616"/>
            <a:ext cx="7589520" cy="54864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深度-宽度配方（每次下采样通道翻倍）创建了平衡的瓶颈层：足够的全局上下文容量，而不会导致参数爆炸。</a:t>
            </a:r>
            <a:endParaRPr lang="en-US" sz="1300" dirty="0"/>
          </a:p>
        </p:txBody>
      </p:sp>
      <p:sp>
        <p:nvSpPr>
          <p:cNvPr id="13" name="Shape 11"/>
          <p:cNvSpPr/>
          <p:nvPr/>
        </p:nvSpPr>
        <p:spPr>
          <a:xfrm>
            <a:off x="502920" y="3227832"/>
            <a:ext cx="411480" cy="411480"/>
          </a:xfrm>
          <a:prstGeom prst="ellipse">
            <a:avLst/>
          </a:prstGeom>
          <a:solidFill>
            <a:srgbClr val="FF6B35"/>
          </a:solidFill>
          <a:ln w="12700">
            <a:solidFill>
              <a:srgbClr val="FFFFFF"/>
            </a:solidFill>
            <a:prstDash val="solid"/>
          </a:ln>
        </p:spPr>
        <p:txBody>
          <a:bodyPr/>
          <a:lstStyle/>
          <a:p>
            <a:endParaRPr lang="en-CN"/>
          </a:p>
        </p:txBody>
      </p:sp>
      <p:sp>
        <p:nvSpPr>
          <p:cNvPr id="14" name="Text 12"/>
          <p:cNvSpPr/>
          <p:nvPr/>
        </p:nvSpPr>
        <p:spPr>
          <a:xfrm>
            <a:off x="502920" y="3227832"/>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15" name="Text 13"/>
          <p:cNvSpPr/>
          <p:nvPr/>
        </p:nvSpPr>
        <p:spPr>
          <a:xfrm>
            <a:off x="1051560" y="3246120"/>
            <a:ext cx="7589520" cy="54864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损失函数层面的工程（加权交叉熵）与架构解耦——网络是骨干，而非固定配方。</a:t>
            </a:r>
            <a:endParaRPr lang="en-US" sz="1300" dirty="0"/>
          </a:p>
        </p:txBody>
      </p:sp>
      <p:sp>
        <p:nvSpPr>
          <p:cNvPr id="16" name="Shape 14"/>
          <p:cNvSpPr/>
          <p:nvPr/>
        </p:nvSpPr>
        <p:spPr>
          <a:xfrm>
            <a:off x="502920" y="3831336"/>
            <a:ext cx="411480" cy="411480"/>
          </a:xfrm>
          <a:prstGeom prst="ellipse">
            <a:avLst/>
          </a:prstGeom>
          <a:solidFill>
            <a:srgbClr val="1565C0"/>
          </a:solidFill>
          <a:ln w="12700">
            <a:solidFill>
              <a:srgbClr val="FFFFFF"/>
            </a:solidFill>
            <a:prstDash val="solid"/>
          </a:ln>
        </p:spPr>
        <p:txBody>
          <a:bodyPr/>
          <a:lstStyle/>
          <a:p>
            <a:endParaRPr lang="en-CN"/>
          </a:p>
        </p:txBody>
      </p:sp>
      <p:sp>
        <p:nvSpPr>
          <p:cNvPr id="17" name="Text 15"/>
          <p:cNvSpPr/>
          <p:nvPr/>
        </p:nvSpPr>
        <p:spPr>
          <a:xfrm>
            <a:off x="502920" y="3831336"/>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18" name="Text 16"/>
          <p:cNvSpPr/>
          <p:nvPr/>
        </p:nvSpPr>
        <p:spPr>
          <a:xfrm>
            <a:off x="1051560" y="3849624"/>
            <a:ext cx="7589520" cy="54864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它很小（约18M参数），很快（每张5122图像不到1秒），可在单GPU上训练——完美适用于数据稀少、风险高的领域。</a:t>
            </a:r>
            <a:endParaRPr lang="en-US" sz="1300" dirty="0"/>
          </a:p>
        </p:txBody>
      </p:sp>
      <p:sp>
        <p:nvSpPr>
          <p:cNvPr id="19" name="Shape 17"/>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20" name="Text 18"/>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21" name="Text 19"/>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16 / 22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影响 2015 -&gt; 2026</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深度学习领域被引用最多的论文之一</a:t>
            </a:r>
            <a:endParaRPr lang="en-US" sz="2400" dirty="0"/>
          </a:p>
        </p:txBody>
      </p:sp>
      <p:sp>
        <p:nvSpPr>
          <p:cNvPr id="4" name="Shape 2"/>
          <p:cNvSpPr/>
          <p:nvPr/>
        </p:nvSpPr>
        <p:spPr>
          <a:xfrm>
            <a:off x="457200" y="1417320"/>
            <a:ext cx="4023360" cy="3017520"/>
          </a:xfrm>
          <a:prstGeom prst="rect">
            <a:avLst/>
          </a:prstGeom>
          <a:solidFill>
            <a:srgbClr val="0B1E3F"/>
          </a:solidFill>
          <a:ln w="12700">
            <a:solidFill>
              <a:srgbClr val="0B1E3F"/>
            </a:solidFill>
            <a:prstDash val="solid"/>
          </a:ln>
        </p:spPr>
        <p:txBody>
          <a:bodyPr/>
          <a:lstStyle/>
          <a:p>
            <a:endParaRPr lang="en-CN"/>
          </a:p>
        </p:txBody>
      </p:sp>
      <p:sp>
        <p:nvSpPr>
          <p:cNvPr id="5" name="Shape 3"/>
          <p:cNvSpPr/>
          <p:nvPr/>
        </p:nvSpPr>
        <p:spPr>
          <a:xfrm>
            <a:off x="457200" y="1417320"/>
            <a:ext cx="73152" cy="3017520"/>
          </a:xfrm>
          <a:prstGeom prst="rect">
            <a:avLst/>
          </a:prstGeom>
          <a:solidFill>
            <a:srgbClr val="FF6B35"/>
          </a:solidFill>
          <a:ln w="12700">
            <a:solidFill>
              <a:srgbClr val="FF6B35"/>
            </a:solidFill>
            <a:prstDash val="solid"/>
          </a:ln>
        </p:spPr>
        <p:txBody>
          <a:bodyPr/>
          <a:lstStyle/>
          <a:p>
            <a:endParaRPr lang="en-CN"/>
          </a:p>
        </p:txBody>
      </p:sp>
      <p:sp>
        <p:nvSpPr>
          <p:cNvPr id="6" name="Text 4"/>
          <p:cNvSpPr/>
          <p:nvPr/>
        </p:nvSpPr>
        <p:spPr>
          <a:xfrm>
            <a:off x="640080" y="1554480"/>
            <a:ext cx="3749040" cy="274320"/>
          </a:xfrm>
          <a:prstGeom prst="rect">
            <a:avLst/>
          </a:prstGeom>
          <a:noFill/>
          <a:ln/>
        </p:spPr>
        <p:txBody>
          <a:bodyPr wrap="square" lIns="0" tIns="0" rIns="0" bIns="0" rtlCol="0" anchor="ctr"/>
          <a:lstStyle/>
          <a:p>
            <a:pPr marL="0" indent="0">
              <a:buNone/>
            </a:pPr>
            <a:r>
              <a:rPr lang="en-US" sz="1100" b="1" kern="0" spc="200" dirty="0">
                <a:solidFill>
                  <a:srgbClr val="FF6B35"/>
                </a:solidFill>
                <a:latin typeface="Calibri" pitchFamily="34" charset="0"/>
                <a:ea typeface="Calibri" pitchFamily="34" charset="-122"/>
                <a:cs typeface="Calibri" pitchFamily="34" charset="-120"/>
              </a:rPr>
              <a:t>引用量（Google Scholar, 2025）</a:t>
            </a:r>
            <a:endParaRPr lang="en-US" sz="1100" dirty="0"/>
          </a:p>
        </p:txBody>
      </p:sp>
      <p:sp>
        <p:nvSpPr>
          <p:cNvPr id="7" name="Text 5"/>
          <p:cNvSpPr/>
          <p:nvPr/>
        </p:nvSpPr>
        <p:spPr>
          <a:xfrm>
            <a:off x="640080" y="1874520"/>
            <a:ext cx="3749040" cy="91440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118,000+</a:t>
            </a:r>
            <a:endParaRPr lang="en-US" sz="4000" dirty="0"/>
          </a:p>
        </p:txBody>
      </p:sp>
      <p:sp>
        <p:nvSpPr>
          <p:cNvPr id="8" name="Text 6"/>
          <p:cNvSpPr/>
          <p:nvPr/>
        </p:nvSpPr>
        <p:spPr>
          <a:xfrm>
            <a:off x="640080" y="2926080"/>
            <a:ext cx="3749040" cy="914400"/>
          </a:xfrm>
          <a:prstGeom prst="rect">
            <a:avLst/>
          </a:prstGeom>
          <a:noFill/>
          <a:ln/>
        </p:spPr>
        <p:txBody>
          <a:bodyPr wrap="square" rtlCol="0" anchor="ctr"/>
          <a:lstStyle/>
          <a:p>
            <a:pPr marL="0" indent="0">
              <a:buNone/>
            </a:pPr>
            <a:r>
              <a:rPr lang="en-US" sz="1200" i="1" dirty="0">
                <a:solidFill>
                  <a:srgbClr val="E2E8F0"/>
                </a:solidFill>
                <a:latin typeface="Calibri" pitchFamily="34" charset="0"/>
                <a:ea typeface="Calibri" pitchFamily="34" charset="-122"/>
                <a:cs typeface="Calibri" pitchFamily="34" charset="-120"/>
              </a:rPr>
              <a:t>深度学习领域引用量最高的论文之一——也是生物医学图像分析中被引用最多的单篇论文。</a:t>
            </a:r>
            <a:endParaRPr lang="en-US" sz="1200" dirty="0"/>
          </a:p>
        </p:txBody>
      </p:sp>
      <p:sp>
        <p:nvSpPr>
          <p:cNvPr id="9" name="Text 7"/>
          <p:cNvSpPr/>
          <p:nvPr/>
        </p:nvSpPr>
        <p:spPr>
          <a:xfrm>
            <a:off x="640080" y="3931920"/>
            <a:ext cx="3749040" cy="4114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2025年平均每天约30次新引用</a:t>
            </a:r>
            <a:endParaRPr lang="en-US" sz="1100" dirty="0"/>
          </a:p>
        </p:txBody>
      </p:sp>
      <p:sp>
        <p:nvSpPr>
          <p:cNvPr id="10" name="Text 8"/>
          <p:cNvSpPr/>
          <p:nvPr/>
        </p:nvSpPr>
        <p:spPr>
          <a:xfrm>
            <a:off x="4754880" y="1463040"/>
            <a:ext cx="3931920" cy="274320"/>
          </a:xfrm>
          <a:prstGeom prst="rect">
            <a:avLst/>
          </a:prstGeom>
          <a:noFill/>
          <a:ln/>
        </p:spPr>
        <p:txBody>
          <a:bodyPr wrap="square" lIns="0" tIns="0" rIns="0" bIns="0" rtlCol="0" anchor="ctr"/>
          <a:lstStyle/>
          <a:p>
            <a:pPr marL="0" indent="0">
              <a:buNone/>
            </a:pPr>
            <a:r>
              <a:rPr lang="en-US" sz="1300" b="1" dirty="0">
                <a:solidFill>
                  <a:srgbClr val="0B1E3F"/>
                </a:solidFill>
                <a:latin typeface="Georgia" pitchFamily="34" charset="0"/>
                <a:ea typeface="Georgia" pitchFamily="34" charset="-122"/>
                <a:cs typeface="Georgia" pitchFamily="34" charset="-120"/>
              </a:rPr>
              <a:t>U-Net如今的应用领域</a:t>
            </a:r>
            <a:endParaRPr lang="en-US" sz="1300" dirty="0"/>
          </a:p>
        </p:txBody>
      </p:sp>
      <p:sp>
        <p:nvSpPr>
          <p:cNvPr id="11" name="Text 9"/>
          <p:cNvSpPr/>
          <p:nvPr/>
        </p:nvSpPr>
        <p:spPr>
          <a:xfrm>
            <a:off x="4754880" y="1874520"/>
            <a:ext cx="3931920" cy="18288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医学影像（CT、MRI、组织病理、X光）</a:t>
            </a:r>
            <a:endParaRPr lang="en-US" sz="1050" dirty="0"/>
          </a:p>
        </p:txBody>
      </p:sp>
      <p:sp>
        <p:nvSpPr>
          <p:cNvPr id="12" name="Shape 10"/>
          <p:cNvSpPr/>
          <p:nvPr/>
        </p:nvSpPr>
        <p:spPr>
          <a:xfrm>
            <a:off x="4754880" y="2084832"/>
            <a:ext cx="3931920" cy="128016"/>
          </a:xfrm>
          <a:prstGeom prst="rect">
            <a:avLst/>
          </a:prstGeom>
          <a:solidFill>
            <a:srgbClr val="E2E8F0"/>
          </a:solidFill>
          <a:ln w="12700">
            <a:solidFill>
              <a:srgbClr val="E2E8F0"/>
            </a:solidFill>
            <a:prstDash val="solid"/>
          </a:ln>
        </p:spPr>
        <p:txBody>
          <a:bodyPr/>
          <a:lstStyle/>
          <a:p>
            <a:endParaRPr lang="en-CN"/>
          </a:p>
        </p:txBody>
      </p:sp>
      <p:sp>
        <p:nvSpPr>
          <p:cNvPr id="13" name="Shape 11"/>
          <p:cNvSpPr/>
          <p:nvPr/>
        </p:nvSpPr>
        <p:spPr>
          <a:xfrm>
            <a:off x="4754880" y="2084832"/>
            <a:ext cx="3813962" cy="128016"/>
          </a:xfrm>
          <a:prstGeom prst="rect">
            <a:avLst/>
          </a:prstGeom>
          <a:solidFill>
            <a:srgbClr val="1565C0"/>
          </a:solidFill>
          <a:ln w="12700">
            <a:solidFill>
              <a:srgbClr val="FFFFFF"/>
            </a:solidFill>
            <a:prstDash val="solid"/>
          </a:ln>
        </p:spPr>
        <p:txBody>
          <a:bodyPr/>
          <a:lstStyle/>
          <a:p>
            <a:endParaRPr lang="en-CN"/>
          </a:p>
        </p:txBody>
      </p:sp>
      <p:sp>
        <p:nvSpPr>
          <p:cNvPr id="14" name="Text 12"/>
          <p:cNvSpPr/>
          <p:nvPr/>
        </p:nvSpPr>
        <p:spPr>
          <a:xfrm>
            <a:off x="4754880" y="2331720"/>
            <a:ext cx="3931920" cy="18288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遥感与卫星图像分割</a:t>
            </a:r>
            <a:endParaRPr lang="en-US" sz="1050" dirty="0"/>
          </a:p>
        </p:txBody>
      </p:sp>
      <p:sp>
        <p:nvSpPr>
          <p:cNvPr id="15" name="Shape 13"/>
          <p:cNvSpPr/>
          <p:nvPr/>
        </p:nvSpPr>
        <p:spPr>
          <a:xfrm>
            <a:off x="4754880" y="2542032"/>
            <a:ext cx="3931920" cy="128016"/>
          </a:xfrm>
          <a:prstGeom prst="rect">
            <a:avLst/>
          </a:prstGeom>
          <a:solidFill>
            <a:srgbClr val="E2E8F0"/>
          </a:solidFill>
          <a:ln w="12700">
            <a:solidFill>
              <a:srgbClr val="E2E8F0"/>
            </a:solidFill>
            <a:prstDash val="solid"/>
          </a:ln>
        </p:spPr>
        <p:txBody>
          <a:bodyPr/>
          <a:lstStyle/>
          <a:p>
            <a:endParaRPr lang="en-CN"/>
          </a:p>
        </p:txBody>
      </p:sp>
      <p:sp>
        <p:nvSpPr>
          <p:cNvPr id="16" name="Shape 14"/>
          <p:cNvSpPr/>
          <p:nvPr/>
        </p:nvSpPr>
        <p:spPr>
          <a:xfrm>
            <a:off x="4754880" y="2542032"/>
            <a:ext cx="3145536" cy="128016"/>
          </a:xfrm>
          <a:prstGeom prst="rect">
            <a:avLst/>
          </a:prstGeom>
          <a:solidFill>
            <a:srgbClr val="FF6B35"/>
          </a:solidFill>
          <a:ln w="12700">
            <a:solidFill>
              <a:srgbClr val="FFFFFF"/>
            </a:solidFill>
            <a:prstDash val="solid"/>
          </a:ln>
        </p:spPr>
        <p:txBody>
          <a:bodyPr/>
          <a:lstStyle/>
          <a:p>
            <a:endParaRPr lang="en-CN"/>
          </a:p>
        </p:txBody>
      </p:sp>
      <p:sp>
        <p:nvSpPr>
          <p:cNvPr id="17" name="Text 15"/>
          <p:cNvSpPr/>
          <p:nvPr/>
        </p:nvSpPr>
        <p:spPr>
          <a:xfrm>
            <a:off x="4754880" y="2788920"/>
            <a:ext cx="3931920" cy="18288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图像到图像翻译（pix2pix、CycleGAN）</a:t>
            </a:r>
            <a:endParaRPr lang="en-US" sz="1050" dirty="0"/>
          </a:p>
        </p:txBody>
      </p:sp>
      <p:sp>
        <p:nvSpPr>
          <p:cNvPr id="18" name="Shape 16"/>
          <p:cNvSpPr/>
          <p:nvPr/>
        </p:nvSpPr>
        <p:spPr>
          <a:xfrm>
            <a:off x="4754880" y="2999232"/>
            <a:ext cx="3931920" cy="128016"/>
          </a:xfrm>
          <a:prstGeom prst="rect">
            <a:avLst/>
          </a:prstGeom>
          <a:solidFill>
            <a:srgbClr val="E2E8F0"/>
          </a:solidFill>
          <a:ln w="12700">
            <a:solidFill>
              <a:srgbClr val="E2E8F0"/>
            </a:solidFill>
            <a:prstDash val="solid"/>
          </a:ln>
        </p:spPr>
        <p:txBody>
          <a:bodyPr/>
          <a:lstStyle/>
          <a:p>
            <a:endParaRPr lang="en-CN"/>
          </a:p>
        </p:txBody>
      </p:sp>
      <p:sp>
        <p:nvSpPr>
          <p:cNvPr id="19" name="Shape 17"/>
          <p:cNvSpPr/>
          <p:nvPr/>
        </p:nvSpPr>
        <p:spPr>
          <a:xfrm>
            <a:off x="4754880" y="2999232"/>
            <a:ext cx="2948940" cy="128016"/>
          </a:xfrm>
          <a:prstGeom prst="rect">
            <a:avLst/>
          </a:prstGeom>
          <a:solidFill>
            <a:srgbClr val="1565C0"/>
          </a:solidFill>
          <a:ln w="12700">
            <a:solidFill>
              <a:srgbClr val="FFFFFF"/>
            </a:solidFill>
            <a:prstDash val="solid"/>
          </a:ln>
        </p:spPr>
        <p:txBody>
          <a:bodyPr/>
          <a:lstStyle/>
          <a:p>
            <a:endParaRPr lang="en-CN"/>
          </a:p>
        </p:txBody>
      </p:sp>
      <p:sp>
        <p:nvSpPr>
          <p:cNvPr id="20" name="Text 18"/>
          <p:cNvSpPr/>
          <p:nvPr/>
        </p:nvSpPr>
        <p:spPr>
          <a:xfrm>
            <a:off x="4754880" y="3246120"/>
            <a:ext cx="3931920" cy="18288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扩散模型（DDPM、Stable Diffusion、Imagen）</a:t>
            </a:r>
            <a:endParaRPr lang="en-US" sz="1050" dirty="0"/>
          </a:p>
        </p:txBody>
      </p:sp>
      <p:sp>
        <p:nvSpPr>
          <p:cNvPr id="21" name="Shape 19"/>
          <p:cNvSpPr/>
          <p:nvPr/>
        </p:nvSpPr>
        <p:spPr>
          <a:xfrm>
            <a:off x="4754880" y="3456432"/>
            <a:ext cx="3931920" cy="128016"/>
          </a:xfrm>
          <a:prstGeom prst="rect">
            <a:avLst/>
          </a:prstGeom>
          <a:solidFill>
            <a:srgbClr val="E2E8F0"/>
          </a:solidFill>
          <a:ln w="12700">
            <a:solidFill>
              <a:srgbClr val="E2E8F0"/>
            </a:solidFill>
            <a:prstDash val="solid"/>
          </a:ln>
        </p:spPr>
        <p:txBody>
          <a:bodyPr/>
          <a:lstStyle/>
          <a:p>
            <a:endParaRPr lang="en-CN"/>
          </a:p>
        </p:txBody>
      </p:sp>
      <p:sp>
        <p:nvSpPr>
          <p:cNvPr id="22" name="Shape 20"/>
          <p:cNvSpPr/>
          <p:nvPr/>
        </p:nvSpPr>
        <p:spPr>
          <a:xfrm>
            <a:off x="4754880" y="3456432"/>
            <a:ext cx="3617366" cy="128016"/>
          </a:xfrm>
          <a:prstGeom prst="rect">
            <a:avLst/>
          </a:prstGeom>
          <a:solidFill>
            <a:srgbClr val="FF6B35"/>
          </a:solidFill>
          <a:ln w="12700">
            <a:solidFill>
              <a:srgbClr val="FFFFFF"/>
            </a:solidFill>
            <a:prstDash val="solid"/>
          </a:ln>
        </p:spPr>
        <p:txBody>
          <a:bodyPr/>
          <a:lstStyle/>
          <a:p>
            <a:endParaRPr lang="en-CN"/>
          </a:p>
        </p:txBody>
      </p:sp>
      <p:sp>
        <p:nvSpPr>
          <p:cNvPr id="23" name="Text 21"/>
          <p:cNvSpPr/>
          <p:nvPr/>
        </p:nvSpPr>
        <p:spPr>
          <a:xfrm>
            <a:off x="4754880" y="3703320"/>
            <a:ext cx="3931920" cy="18288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音频/语音增强</a:t>
            </a:r>
            <a:endParaRPr lang="en-US" sz="1050" dirty="0"/>
          </a:p>
        </p:txBody>
      </p:sp>
      <p:sp>
        <p:nvSpPr>
          <p:cNvPr id="24" name="Shape 22"/>
          <p:cNvSpPr/>
          <p:nvPr/>
        </p:nvSpPr>
        <p:spPr>
          <a:xfrm>
            <a:off x="4754880" y="3913632"/>
            <a:ext cx="3931920" cy="128016"/>
          </a:xfrm>
          <a:prstGeom prst="rect">
            <a:avLst/>
          </a:prstGeom>
          <a:solidFill>
            <a:srgbClr val="E2E8F0"/>
          </a:solidFill>
          <a:ln w="12700">
            <a:solidFill>
              <a:srgbClr val="E2E8F0"/>
            </a:solidFill>
            <a:prstDash val="solid"/>
          </a:ln>
        </p:spPr>
        <p:txBody>
          <a:bodyPr/>
          <a:lstStyle/>
          <a:p>
            <a:endParaRPr lang="en-CN"/>
          </a:p>
        </p:txBody>
      </p:sp>
      <p:sp>
        <p:nvSpPr>
          <p:cNvPr id="25" name="Shape 23"/>
          <p:cNvSpPr/>
          <p:nvPr/>
        </p:nvSpPr>
        <p:spPr>
          <a:xfrm>
            <a:off x="4754880" y="3913632"/>
            <a:ext cx="2162556" cy="128016"/>
          </a:xfrm>
          <a:prstGeom prst="rect">
            <a:avLst/>
          </a:prstGeom>
          <a:solidFill>
            <a:srgbClr val="1565C0"/>
          </a:solidFill>
          <a:ln w="12700">
            <a:solidFill>
              <a:srgbClr val="FFFFFF"/>
            </a:solidFill>
            <a:prstDash val="solid"/>
          </a:ln>
        </p:spPr>
        <p:txBody>
          <a:bodyPr/>
          <a:lstStyle/>
          <a:p>
            <a:endParaRPr lang="en-CN"/>
          </a:p>
        </p:txBody>
      </p:sp>
      <p:sp>
        <p:nvSpPr>
          <p:cNvPr id="26" name="Text 24"/>
          <p:cNvSpPr/>
          <p:nvPr/>
        </p:nvSpPr>
        <p:spPr>
          <a:xfrm>
            <a:off x="4754880" y="4160520"/>
            <a:ext cx="3931920" cy="18288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科学模拟（天气、流体）</a:t>
            </a:r>
            <a:endParaRPr lang="en-US" sz="1050" dirty="0"/>
          </a:p>
        </p:txBody>
      </p:sp>
      <p:sp>
        <p:nvSpPr>
          <p:cNvPr id="27" name="Shape 25"/>
          <p:cNvSpPr/>
          <p:nvPr/>
        </p:nvSpPr>
        <p:spPr>
          <a:xfrm>
            <a:off x="4754880" y="4370832"/>
            <a:ext cx="3931920" cy="128016"/>
          </a:xfrm>
          <a:prstGeom prst="rect">
            <a:avLst/>
          </a:prstGeom>
          <a:solidFill>
            <a:srgbClr val="E2E8F0"/>
          </a:solidFill>
          <a:ln w="12700">
            <a:solidFill>
              <a:srgbClr val="E2E8F0"/>
            </a:solidFill>
            <a:prstDash val="solid"/>
          </a:ln>
        </p:spPr>
        <p:txBody>
          <a:bodyPr/>
          <a:lstStyle/>
          <a:p>
            <a:endParaRPr lang="en-CN"/>
          </a:p>
        </p:txBody>
      </p:sp>
      <p:sp>
        <p:nvSpPr>
          <p:cNvPr id="28" name="Shape 26"/>
          <p:cNvSpPr/>
          <p:nvPr/>
        </p:nvSpPr>
        <p:spPr>
          <a:xfrm>
            <a:off x="4754880" y="4370832"/>
            <a:ext cx="2359152" cy="128016"/>
          </a:xfrm>
          <a:prstGeom prst="rect">
            <a:avLst/>
          </a:prstGeom>
          <a:solidFill>
            <a:srgbClr val="FF6B35"/>
          </a:solidFill>
          <a:ln w="12700">
            <a:solidFill>
              <a:srgbClr val="FFFFFF"/>
            </a:solidFill>
            <a:prstDash val="solid"/>
          </a:ln>
        </p:spPr>
        <p:txBody>
          <a:bodyPr/>
          <a:lstStyle/>
          <a:p>
            <a:endParaRPr lang="en-CN"/>
          </a:p>
        </p:txBody>
      </p:sp>
      <p:sp>
        <p:nvSpPr>
          <p:cNvPr id="29" name="Shape 27"/>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30" name="Text 28"/>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31" name="Text 29"/>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17 / 22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意外影响</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U-Net成为生成式扩散的主力架构</a:t>
            </a:r>
            <a:endParaRPr lang="en-US" sz="2400" dirty="0"/>
          </a:p>
        </p:txBody>
      </p:sp>
      <p:sp>
        <p:nvSpPr>
          <p:cNvPr id="4" name="Text 2"/>
          <p:cNvSpPr/>
          <p:nvPr/>
        </p:nvSpPr>
        <p:spPr>
          <a:xfrm>
            <a:off x="457200" y="1417320"/>
            <a:ext cx="4846320" cy="3108960"/>
          </a:xfrm>
          <a:prstGeom prst="rect">
            <a:avLst/>
          </a:prstGeom>
          <a:noFill/>
          <a:ln/>
        </p:spPr>
        <p:txBody>
          <a:bodyPr wrap="square" rtlCol="0" anchor="ctr"/>
          <a:lstStyle/>
          <a:p>
            <a:pPr marL="0" indent="0">
              <a:buNone/>
            </a:pPr>
            <a:r>
              <a:rPr lang="en-US" sz="1350" b="1" dirty="0">
                <a:solidFill>
                  <a:srgbClr val="0B1E3F"/>
                </a:solidFill>
                <a:latin typeface="Georgia" pitchFamily="34" charset="0"/>
                <a:ea typeface="Georgia" pitchFamily="34" charset="-122"/>
                <a:cs typeface="Georgia" pitchFamily="34" charset="-120"/>
              </a:rPr>
              <a:t>DDPM、Imagen、Stable Diffusion 1/2、ControlNet、视频扩散（AnimateDiff、SVD）</a:t>
            </a:r>
            <a:endParaRPr lang="en-US" sz="1200" dirty="0"/>
          </a:p>
          <a:p>
            <a:pPr marL="0" indent="0">
              <a:spcAft>
                <a:spcPts val="800"/>
              </a:spcAft>
              <a:buNone/>
            </a:pPr>
            <a:r>
              <a:rPr lang="en-US" sz="1200" dirty="0">
                <a:solidFill>
                  <a:srgbClr val="475569"/>
                </a:solidFill>
                <a:latin typeface="Calibri" pitchFamily="34" charset="0"/>
                <a:ea typeface="Calibri" pitchFamily="34" charset="-122"/>
                <a:cs typeface="Calibri" pitchFamily="34" charset="-120"/>
              </a:rPr>
              <a:t>都使用U-Net作为噪声预测（score）网络——正是2015年的架构，只是增加了一些组件：</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时间步嵌入（正弦MLP）注入每个残差块。</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编码器和解码器块内部的文本/条件交叉注意力。</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使用GroupNorm + SiLU + 残差块替代普通conv+ReLU。</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跳跃连接未变——它们仍然将"在哪里"传递给解码器。</a:t>
            </a:r>
            <a:endParaRPr lang="en-US" sz="1200" dirty="0"/>
          </a:p>
        </p:txBody>
      </p:sp>
      <p:sp>
        <p:nvSpPr>
          <p:cNvPr id="5" name="Shape 3"/>
          <p:cNvSpPr/>
          <p:nvPr/>
        </p:nvSpPr>
        <p:spPr>
          <a:xfrm>
            <a:off x="5760720" y="1463040"/>
            <a:ext cx="2743200" cy="237744"/>
          </a:xfrm>
          <a:prstGeom prst="rect">
            <a:avLst/>
          </a:prstGeom>
          <a:solidFill>
            <a:srgbClr val="63A4FF"/>
          </a:solidFill>
          <a:ln w="8890">
            <a:solidFill>
              <a:srgbClr val="1565C0"/>
            </a:solidFill>
            <a:prstDash val="solid"/>
          </a:ln>
        </p:spPr>
        <p:txBody>
          <a:bodyPr/>
          <a:lstStyle/>
          <a:p>
            <a:endParaRPr lang="en-CN"/>
          </a:p>
        </p:txBody>
      </p:sp>
      <p:sp>
        <p:nvSpPr>
          <p:cNvPr id="6" name="Shape 4"/>
          <p:cNvSpPr/>
          <p:nvPr/>
        </p:nvSpPr>
        <p:spPr>
          <a:xfrm>
            <a:off x="5577840" y="1481328"/>
            <a:ext cx="182880" cy="182880"/>
          </a:xfrm>
          <a:prstGeom prst="ellipse">
            <a:avLst/>
          </a:prstGeom>
          <a:solidFill>
            <a:srgbClr val="FF6B35"/>
          </a:solidFill>
          <a:ln w="12700">
            <a:solidFill>
              <a:srgbClr val="FF6B35"/>
            </a:solidFill>
            <a:prstDash val="solid"/>
          </a:ln>
        </p:spPr>
        <p:txBody>
          <a:bodyPr/>
          <a:lstStyle/>
          <a:p>
            <a:endParaRPr lang="en-CN"/>
          </a:p>
        </p:txBody>
      </p:sp>
      <p:sp>
        <p:nvSpPr>
          <p:cNvPr id="7" name="Text 5"/>
          <p:cNvSpPr/>
          <p:nvPr/>
        </p:nvSpPr>
        <p:spPr>
          <a:xfrm>
            <a:off x="5577840" y="1481328"/>
            <a:ext cx="18288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 name="Shape 6"/>
          <p:cNvSpPr/>
          <p:nvPr/>
        </p:nvSpPr>
        <p:spPr>
          <a:xfrm>
            <a:off x="5989320" y="1792224"/>
            <a:ext cx="2286000" cy="237744"/>
          </a:xfrm>
          <a:prstGeom prst="rect">
            <a:avLst/>
          </a:prstGeom>
          <a:solidFill>
            <a:srgbClr val="63A4FF"/>
          </a:solidFill>
          <a:ln w="8890">
            <a:solidFill>
              <a:srgbClr val="1565C0"/>
            </a:solidFill>
            <a:prstDash val="solid"/>
          </a:ln>
        </p:spPr>
        <p:txBody>
          <a:bodyPr/>
          <a:lstStyle/>
          <a:p>
            <a:endParaRPr lang="en-CN"/>
          </a:p>
        </p:txBody>
      </p:sp>
      <p:sp>
        <p:nvSpPr>
          <p:cNvPr id="9" name="Shape 7"/>
          <p:cNvSpPr/>
          <p:nvPr/>
        </p:nvSpPr>
        <p:spPr>
          <a:xfrm>
            <a:off x="5806440" y="1810512"/>
            <a:ext cx="182880" cy="182880"/>
          </a:xfrm>
          <a:prstGeom prst="ellipse">
            <a:avLst/>
          </a:prstGeom>
          <a:solidFill>
            <a:srgbClr val="FF6B35"/>
          </a:solidFill>
          <a:ln w="12700">
            <a:solidFill>
              <a:srgbClr val="FF6B35"/>
            </a:solidFill>
            <a:prstDash val="solid"/>
          </a:ln>
        </p:spPr>
        <p:txBody>
          <a:bodyPr/>
          <a:lstStyle/>
          <a:p>
            <a:endParaRPr lang="en-CN"/>
          </a:p>
        </p:txBody>
      </p:sp>
      <p:sp>
        <p:nvSpPr>
          <p:cNvPr id="10" name="Text 8"/>
          <p:cNvSpPr/>
          <p:nvPr/>
        </p:nvSpPr>
        <p:spPr>
          <a:xfrm>
            <a:off x="5806440" y="1810512"/>
            <a:ext cx="18288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1" name="Shape 9"/>
          <p:cNvSpPr/>
          <p:nvPr/>
        </p:nvSpPr>
        <p:spPr>
          <a:xfrm>
            <a:off x="6217920" y="2121408"/>
            <a:ext cx="1828800" cy="237744"/>
          </a:xfrm>
          <a:prstGeom prst="rect">
            <a:avLst/>
          </a:prstGeom>
          <a:solidFill>
            <a:srgbClr val="63A4FF"/>
          </a:solidFill>
          <a:ln w="8890">
            <a:solidFill>
              <a:srgbClr val="1565C0"/>
            </a:solidFill>
            <a:prstDash val="solid"/>
          </a:ln>
        </p:spPr>
        <p:txBody>
          <a:bodyPr/>
          <a:lstStyle/>
          <a:p>
            <a:endParaRPr lang="en-CN"/>
          </a:p>
        </p:txBody>
      </p:sp>
      <p:sp>
        <p:nvSpPr>
          <p:cNvPr id="12" name="Shape 10"/>
          <p:cNvSpPr/>
          <p:nvPr/>
        </p:nvSpPr>
        <p:spPr>
          <a:xfrm>
            <a:off x="6035040" y="2139696"/>
            <a:ext cx="182880" cy="182880"/>
          </a:xfrm>
          <a:prstGeom prst="ellipse">
            <a:avLst/>
          </a:prstGeom>
          <a:solidFill>
            <a:srgbClr val="FF6B35"/>
          </a:solidFill>
          <a:ln w="12700">
            <a:solidFill>
              <a:srgbClr val="FF6B35"/>
            </a:solidFill>
            <a:prstDash val="solid"/>
          </a:ln>
        </p:spPr>
        <p:txBody>
          <a:bodyPr/>
          <a:lstStyle/>
          <a:p>
            <a:endParaRPr lang="en-CN"/>
          </a:p>
        </p:txBody>
      </p:sp>
      <p:sp>
        <p:nvSpPr>
          <p:cNvPr id="13" name="Text 11"/>
          <p:cNvSpPr/>
          <p:nvPr/>
        </p:nvSpPr>
        <p:spPr>
          <a:xfrm>
            <a:off x="6035040" y="2139696"/>
            <a:ext cx="18288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4" name="Shape 12"/>
          <p:cNvSpPr/>
          <p:nvPr/>
        </p:nvSpPr>
        <p:spPr>
          <a:xfrm>
            <a:off x="6446520" y="2450592"/>
            <a:ext cx="1371600" cy="237744"/>
          </a:xfrm>
          <a:prstGeom prst="rect">
            <a:avLst/>
          </a:prstGeom>
          <a:solidFill>
            <a:srgbClr val="63A4FF"/>
          </a:solidFill>
          <a:ln w="8890">
            <a:solidFill>
              <a:srgbClr val="1565C0"/>
            </a:solidFill>
            <a:prstDash val="solid"/>
          </a:ln>
        </p:spPr>
        <p:txBody>
          <a:bodyPr/>
          <a:lstStyle/>
          <a:p>
            <a:endParaRPr lang="en-CN"/>
          </a:p>
        </p:txBody>
      </p:sp>
      <p:sp>
        <p:nvSpPr>
          <p:cNvPr id="15" name="Shape 13"/>
          <p:cNvSpPr/>
          <p:nvPr/>
        </p:nvSpPr>
        <p:spPr>
          <a:xfrm>
            <a:off x="6263640" y="2468880"/>
            <a:ext cx="182880" cy="182880"/>
          </a:xfrm>
          <a:prstGeom prst="ellipse">
            <a:avLst/>
          </a:prstGeom>
          <a:solidFill>
            <a:srgbClr val="FF6B35"/>
          </a:solidFill>
          <a:ln w="12700">
            <a:solidFill>
              <a:srgbClr val="FF6B35"/>
            </a:solidFill>
            <a:prstDash val="solid"/>
          </a:ln>
        </p:spPr>
        <p:txBody>
          <a:bodyPr/>
          <a:lstStyle/>
          <a:p>
            <a:endParaRPr lang="en-CN"/>
          </a:p>
        </p:txBody>
      </p:sp>
      <p:sp>
        <p:nvSpPr>
          <p:cNvPr id="16" name="Text 14"/>
          <p:cNvSpPr/>
          <p:nvPr/>
        </p:nvSpPr>
        <p:spPr>
          <a:xfrm>
            <a:off x="6263640" y="2468880"/>
            <a:ext cx="18288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7" name="Shape 15"/>
          <p:cNvSpPr/>
          <p:nvPr/>
        </p:nvSpPr>
        <p:spPr>
          <a:xfrm>
            <a:off x="6446520" y="2779776"/>
            <a:ext cx="1371600" cy="237744"/>
          </a:xfrm>
          <a:prstGeom prst="rect">
            <a:avLst/>
          </a:prstGeom>
          <a:solidFill>
            <a:srgbClr val="FFD3C0"/>
          </a:solidFill>
          <a:ln w="8890">
            <a:solidFill>
              <a:srgbClr val="FF6B35"/>
            </a:solidFill>
            <a:prstDash val="solid"/>
          </a:ln>
        </p:spPr>
        <p:txBody>
          <a:bodyPr/>
          <a:lstStyle/>
          <a:p>
            <a:endParaRPr lang="en-CN"/>
          </a:p>
        </p:txBody>
      </p:sp>
      <p:sp>
        <p:nvSpPr>
          <p:cNvPr id="18" name="Shape 16"/>
          <p:cNvSpPr/>
          <p:nvPr/>
        </p:nvSpPr>
        <p:spPr>
          <a:xfrm>
            <a:off x="6217920" y="3108960"/>
            <a:ext cx="1828800" cy="237744"/>
          </a:xfrm>
          <a:prstGeom prst="rect">
            <a:avLst/>
          </a:prstGeom>
          <a:solidFill>
            <a:srgbClr val="FFD3C0"/>
          </a:solidFill>
          <a:ln w="8890">
            <a:solidFill>
              <a:srgbClr val="FF6B35"/>
            </a:solidFill>
            <a:prstDash val="solid"/>
          </a:ln>
        </p:spPr>
        <p:txBody>
          <a:bodyPr/>
          <a:lstStyle/>
          <a:p>
            <a:endParaRPr lang="en-CN"/>
          </a:p>
        </p:txBody>
      </p:sp>
      <p:sp>
        <p:nvSpPr>
          <p:cNvPr id="19" name="Shape 17"/>
          <p:cNvSpPr/>
          <p:nvPr/>
        </p:nvSpPr>
        <p:spPr>
          <a:xfrm>
            <a:off x="5989320" y="3438144"/>
            <a:ext cx="2286000" cy="237744"/>
          </a:xfrm>
          <a:prstGeom prst="rect">
            <a:avLst/>
          </a:prstGeom>
          <a:solidFill>
            <a:srgbClr val="FFD3C0"/>
          </a:solidFill>
          <a:ln w="8890">
            <a:solidFill>
              <a:srgbClr val="FF6B35"/>
            </a:solidFill>
            <a:prstDash val="solid"/>
          </a:ln>
        </p:spPr>
        <p:txBody>
          <a:bodyPr/>
          <a:lstStyle/>
          <a:p>
            <a:endParaRPr lang="en-CN"/>
          </a:p>
        </p:txBody>
      </p:sp>
      <p:sp>
        <p:nvSpPr>
          <p:cNvPr id="20" name="Shape 18"/>
          <p:cNvSpPr/>
          <p:nvPr/>
        </p:nvSpPr>
        <p:spPr>
          <a:xfrm>
            <a:off x="5760720" y="3767328"/>
            <a:ext cx="2743200" cy="237744"/>
          </a:xfrm>
          <a:prstGeom prst="rect">
            <a:avLst/>
          </a:prstGeom>
          <a:solidFill>
            <a:srgbClr val="FFD3C0"/>
          </a:solidFill>
          <a:ln w="8890">
            <a:solidFill>
              <a:srgbClr val="FF6B35"/>
            </a:solidFill>
            <a:prstDash val="solid"/>
          </a:ln>
        </p:spPr>
        <p:txBody>
          <a:bodyPr/>
          <a:lstStyle/>
          <a:p>
            <a:endParaRPr lang="en-CN"/>
          </a:p>
        </p:txBody>
      </p:sp>
      <p:sp>
        <p:nvSpPr>
          <p:cNvPr id="21" name="Text 19"/>
          <p:cNvSpPr/>
          <p:nvPr/>
        </p:nvSpPr>
        <p:spPr>
          <a:xfrm>
            <a:off x="5303520" y="2478024"/>
            <a:ext cx="274320" cy="274320"/>
          </a:xfrm>
          <a:prstGeom prst="rect">
            <a:avLst/>
          </a:prstGeom>
          <a:noFill/>
          <a:ln/>
        </p:spPr>
        <p:txBody>
          <a:bodyPr wrap="square" lIns="0" tIns="0" rIns="0" bIns="0" rtlCol="0" anchor="ctr"/>
          <a:lstStyle/>
          <a:p>
            <a:pPr marL="0" indent="0" algn="ctr">
              <a:buNone/>
            </a:pPr>
            <a:r>
              <a:rPr lang="en-US" sz="1800" b="1" i="1" dirty="0">
                <a:solidFill>
                  <a:srgbClr val="10B981"/>
                </a:solidFill>
                <a:latin typeface="Georgia" pitchFamily="34" charset="0"/>
                <a:ea typeface="Georgia" pitchFamily="34" charset="-122"/>
                <a:cs typeface="Georgia" pitchFamily="34" charset="-120"/>
              </a:rPr>
              <a:t>t</a:t>
            </a:r>
            <a:endParaRPr lang="en-US" sz="1800" dirty="0"/>
          </a:p>
        </p:txBody>
      </p:sp>
      <p:sp>
        <p:nvSpPr>
          <p:cNvPr id="22" name="Shape 20"/>
          <p:cNvSpPr/>
          <p:nvPr/>
        </p:nvSpPr>
        <p:spPr>
          <a:xfrm>
            <a:off x="5596128" y="2615184"/>
            <a:ext cx="201168" cy="0"/>
          </a:xfrm>
          <a:prstGeom prst="line">
            <a:avLst/>
          </a:prstGeom>
          <a:noFill/>
          <a:ln w="20320">
            <a:solidFill>
              <a:srgbClr val="10B981"/>
            </a:solidFill>
            <a:prstDash val="solid"/>
            <a:tailEnd type="triangle"/>
          </a:ln>
        </p:spPr>
        <p:txBody>
          <a:bodyPr/>
          <a:lstStyle/>
          <a:p>
            <a:endParaRPr lang="en-CN"/>
          </a:p>
        </p:txBody>
      </p:sp>
      <p:sp>
        <p:nvSpPr>
          <p:cNvPr id="23" name="Text 21"/>
          <p:cNvSpPr/>
          <p:nvPr/>
        </p:nvSpPr>
        <p:spPr>
          <a:xfrm>
            <a:off x="5669280" y="4142232"/>
            <a:ext cx="3108960" cy="201168"/>
          </a:xfrm>
          <a:prstGeom prst="rect">
            <a:avLst/>
          </a:prstGeom>
          <a:noFill/>
          <a:ln/>
        </p:spPr>
        <p:txBody>
          <a:bodyPr wrap="square" lIns="0" tIns="0" rIns="0" bIns="0" rtlCol="0" anchor="ctr"/>
          <a:lstStyle/>
          <a:p>
            <a:pPr marL="0" indent="0" algn="ctr">
              <a:buNone/>
            </a:pPr>
            <a:r>
              <a:rPr lang="en-US" sz="1000" i="1" dirty="0">
                <a:solidFill>
                  <a:srgbClr val="475569"/>
                </a:solidFill>
                <a:latin typeface="Calibri" pitchFamily="34" charset="0"/>
                <a:ea typeface="Calibri" pitchFamily="34" charset="-122"/>
                <a:cs typeface="Calibri" pitchFamily="34" charset="-120"/>
              </a:rPr>
              <a:t>denoising U-Net  ε_θ(x_t, t, c)</a:t>
            </a:r>
            <a:endParaRPr lang="en-US" sz="1000" dirty="0"/>
          </a:p>
        </p:txBody>
      </p:sp>
      <p:sp>
        <p:nvSpPr>
          <p:cNvPr id="24" name="Shape 22"/>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25" name="Text 23"/>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26" name="Text 24"/>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18 / 22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最新进展 - 2024</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nnU-Net再审视（MICCAI 2024）：适当扩展后U-Net仍是SOTA</a:t>
            </a:r>
            <a:endParaRPr lang="en-US" sz="2400" dirty="0"/>
          </a:p>
        </p:txBody>
      </p:sp>
      <p:sp>
        <p:nvSpPr>
          <p:cNvPr id="4" name="Shape 2"/>
          <p:cNvSpPr/>
          <p:nvPr/>
        </p:nvSpPr>
        <p:spPr>
          <a:xfrm>
            <a:off x="457200" y="1417320"/>
            <a:ext cx="4023360" cy="3017520"/>
          </a:xfrm>
          <a:prstGeom prst="rect">
            <a:avLst/>
          </a:prstGeom>
          <a:solidFill>
            <a:srgbClr val="0B1E3F"/>
          </a:solidFill>
          <a:ln w="12700">
            <a:solidFill>
              <a:srgbClr val="0B1E3F"/>
            </a:solidFill>
            <a:prstDash val="solid"/>
          </a:ln>
        </p:spPr>
        <p:txBody>
          <a:bodyPr/>
          <a:lstStyle/>
          <a:p>
            <a:endParaRPr lang="en-CN"/>
          </a:p>
        </p:txBody>
      </p:sp>
      <p:sp>
        <p:nvSpPr>
          <p:cNvPr id="5" name="Shape 3"/>
          <p:cNvSpPr/>
          <p:nvPr/>
        </p:nvSpPr>
        <p:spPr>
          <a:xfrm>
            <a:off x="457200" y="1417320"/>
            <a:ext cx="73152" cy="3017520"/>
          </a:xfrm>
          <a:prstGeom prst="rect">
            <a:avLst/>
          </a:prstGeom>
          <a:solidFill>
            <a:srgbClr val="FF6B35"/>
          </a:solidFill>
          <a:ln w="12700">
            <a:solidFill>
              <a:srgbClr val="FF6B35"/>
            </a:solidFill>
            <a:prstDash val="solid"/>
          </a:ln>
        </p:spPr>
        <p:txBody>
          <a:bodyPr/>
          <a:lstStyle/>
          <a:p>
            <a:endParaRPr lang="en-CN"/>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100" i="1" dirty="0">
                <a:solidFill>
                  <a:srgbClr val="CBD5E1"/>
                </a:solidFill>
                <a:latin typeface="Calibri" pitchFamily="34" charset="0"/>
                <a:ea typeface="Calibri" pitchFamily="34" charset="-122"/>
                <a:cs typeface="Calibri" pitchFamily="34" charset="-120"/>
              </a:rPr>
              <a:t>Isensee et al. - MICCAI 2024 (arXiv 2404.09556)</a:t>
            </a:r>
            <a:endParaRPr lang="en-US" sz="1100" dirty="0"/>
          </a:p>
        </p:txBody>
      </p:sp>
      <p:sp>
        <p:nvSpPr>
          <p:cNvPr id="7" name="Text 5"/>
          <p:cNvSpPr/>
          <p:nvPr/>
        </p:nvSpPr>
        <p:spPr>
          <a:xfrm>
            <a:off x="640080" y="1783080"/>
            <a:ext cx="3657600" cy="5943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"呼吁在3D医学图像分割中进行严格验证"</a:t>
            </a:r>
            <a:endParaRPr lang="en-US" sz="1400" dirty="0"/>
          </a:p>
        </p:txBody>
      </p:sp>
      <p:sp>
        <p:nvSpPr>
          <p:cNvPr id="8" name="Text 6"/>
          <p:cNvSpPr/>
          <p:nvPr/>
        </p:nvSpPr>
        <p:spPr>
          <a:xfrm>
            <a:off x="640080" y="2468880"/>
            <a:ext cx="3657600" cy="1874520"/>
          </a:xfrm>
          <a:prstGeom prst="rect">
            <a:avLst/>
          </a:prstGeom>
          <a:noFill/>
          <a:ln/>
        </p:spPr>
        <p:txBody>
          <a:bodyPr wrap="square" rtlCol="0" anchor="ctr"/>
          <a:lstStyle/>
          <a:p>
            <a:pPr marL="0" indent="0">
              <a:buNone/>
            </a:pPr>
            <a:r>
              <a:rPr lang="en-US" sz="1200" dirty="0">
                <a:solidFill>
                  <a:srgbClr val="E2E8F0"/>
                </a:solidFill>
                <a:latin typeface="Calibri" pitchFamily="34" charset="0"/>
                <a:ea typeface="Calibri" pitchFamily="34" charset="-122"/>
                <a:cs typeface="Calibri" pitchFamily="34" charset="-120"/>
              </a:rPr>
              <a:t>在审查了数十种"新型"架构后，2024年3D医学分割SOTA的配方是：
1. 基于CNN的U-Net（ResNet或ConvNeXt风格）。
2. nnU-Net自动配置框架。
3. 扩展到现代算力（更大的模型，更多的GPU内存）。</a:t>
            </a:r>
            <a:r>
              <a:rPr lang="en-US" sz="1200" b="1" dirty="0">
                <a:solidFill>
                  <a:srgbClr val="FF6B35"/>
                </a:solidFill>
                <a:latin typeface="Calibri" pitchFamily="34" charset="0"/>
                <a:ea typeface="Calibri" pitchFamily="34" charset="-122"/>
                <a:cs typeface="Calibri" pitchFamily="34" charset="-120"/>
              </a:rPr>
              <a:t/>
            </a:r>
            <a:r>
              <a:rPr lang="en-US" sz="1200" dirty="0">
                <a:solidFill>
                  <a:srgbClr val="FFFFFF"/>
                </a:solidFill>
                <a:latin typeface="Calibri" pitchFamily="34" charset="0"/>
                <a:ea typeface="Calibri" pitchFamily="34" charset="-122"/>
                <a:cs typeface="Calibri" pitchFamily="34" charset="-120"/>
              </a:rPr>
              <a:t/>
            </a:r>
            <a:r>
              <a:rPr lang="en-US" sz="1200" b="1" dirty="0">
                <a:solidFill>
                  <a:srgbClr val="FF6B35"/>
                </a:solidFill>
                <a:latin typeface="Calibri" pitchFamily="34" charset="0"/>
                <a:ea typeface="Calibri" pitchFamily="34" charset="-122"/>
                <a:cs typeface="Calibri" pitchFamily="34" charset="-120"/>
              </a:rPr>
              <a:t/>
            </a:r>
            <a:r>
              <a:rPr lang="en-US" sz="1200" dirty="0">
                <a:solidFill>
                  <a:srgbClr val="FFFFFF"/>
                </a:solidFill>
                <a:latin typeface="Calibri" pitchFamily="34" charset="0"/>
                <a:ea typeface="Calibri" pitchFamily="34" charset="-122"/>
                <a:cs typeface="Calibri" pitchFamily="34" charset="-120"/>
              </a:rPr>
              <a:t/>
            </a:r>
            <a:r>
              <a:rPr lang="en-US" sz="1200" b="1" dirty="0">
                <a:solidFill>
                  <a:srgbClr val="FF6B35"/>
                </a:solidFill>
                <a:latin typeface="Calibri" pitchFamily="34" charset="0"/>
                <a:ea typeface="Calibri" pitchFamily="34" charset="-122"/>
                <a:cs typeface="Calibri" pitchFamily="34" charset="-120"/>
              </a:rPr>
              <a:t/>
            </a:r>
            <a:r>
              <a:rPr lang="en-US" sz="1200" dirty="0">
                <a:solidFill>
                  <a:srgbClr val="FFFFFF"/>
                </a:solidFill>
                <a:latin typeface="Calibri" pitchFamily="34" charset="0"/>
                <a:ea typeface="Calibri" pitchFamily="34" charset="-122"/>
                <a:cs typeface="Calibri" pitchFamily="34" charset="-120"/>
              </a:rPr>
              <a:t/>
            </a:r>
            <a:endParaRPr lang="en-US" sz="1200" dirty="0"/>
          </a:p>
        </p:txBody>
      </p:sp>
      <p:sp>
        <p:nvSpPr>
          <p:cNvPr id="9" name="Shape 7"/>
          <p:cNvSpPr/>
          <p:nvPr/>
        </p:nvSpPr>
        <p:spPr>
          <a:xfrm>
            <a:off x="4754880" y="1417320"/>
            <a:ext cx="3931920" cy="301752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10" name="Shape 8"/>
          <p:cNvSpPr/>
          <p:nvPr/>
        </p:nvSpPr>
        <p:spPr>
          <a:xfrm>
            <a:off x="4754880" y="1417320"/>
            <a:ext cx="73152" cy="3017520"/>
          </a:xfrm>
          <a:prstGeom prst="rect">
            <a:avLst/>
          </a:prstGeom>
          <a:solidFill>
            <a:srgbClr val="1565C0"/>
          </a:solidFill>
          <a:ln w="12700">
            <a:solidFill>
              <a:srgbClr val="1565C0"/>
            </a:solidFill>
            <a:prstDash val="solid"/>
          </a:ln>
        </p:spPr>
        <p:txBody>
          <a:bodyPr/>
          <a:lstStyle/>
          <a:p>
            <a:endParaRPr lang="en-CN"/>
          </a:p>
        </p:txBody>
      </p:sp>
      <p:sp>
        <p:nvSpPr>
          <p:cNvPr id="11" name="Text 9"/>
          <p:cNvSpPr/>
          <p:nvPr/>
        </p:nvSpPr>
        <p:spPr>
          <a:xfrm>
            <a:off x="4983480" y="1554480"/>
            <a:ext cx="3657600" cy="320040"/>
          </a:xfrm>
          <a:prstGeom prst="rect">
            <a:avLst/>
          </a:prstGeom>
          <a:noFill/>
          <a:ln/>
        </p:spPr>
        <p:txBody>
          <a:bodyPr wrap="square" lIns="0" tIns="0" rIns="0" bIns="0" rtlCol="0" anchor="ctr"/>
          <a:lstStyle/>
          <a:p>
            <a:pPr marL="0" indent="0">
              <a:buNone/>
            </a:pPr>
            <a:r>
              <a:rPr lang="en-US" sz="1400" b="1" dirty="0">
                <a:solidFill>
                  <a:srgbClr val="0B1E3F"/>
                </a:solidFill>
                <a:latin typeface="Georgia" pitchFamily="34" charset="0"/>
                <a:ea typeface="Georgia" pitchFamily="34" charset="-122"/>
                <a:cs typeface="Georgia" pitchFamily="34" charset="-120"/>
              </a:rPr>
              <a:t>为什么这很重要</a:t>
            </a:r>
            <a:endParaRPr lang="en-US" sz="1400" dirty="0"/>
          </a:p>
        </p:txBody>
      </p:sp>
      <p:sp>
        <p:nvSpPr>
          <p:cNvPr id="12" name="Text 10"/>
          <p:cNvSpPr/>
          <p:nvPr/>
        </p:nvSpPr>
        <p:spPr>
          <a:xfrm>
            <a:off x="4983480" y="1920240"/>
            <a:ext cx="3566160" cy="246888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在严格的3D基准测试中，Transformers（Swin-UNETR、nnFormer）和Mamba变体无法击败适当扩展的CNN U-Net。
表面上的改进往往来自较弱的基线、不充分的数据集或算力不匹配。</a:t>
            </a:r>
            <a:r>
              <a:rPr lang="en-US" sz="1200" b="1" dirty="0">
                <a:solidFill>
                  <a:srgbClr val="FF6B35"/>
                </a:solidFill>
                <a:latin typeface="Calibri" pitchFamily="34" charset="0"/>
                <a:ea typeface="Calibri" pitchFamily="34" charset="-122"/>
                <a:cs typeface="Calibri" pitchFamily="34" charset="-120"/>
              </a:rPr>
              <a:t/>
            </a:r>
            <a:r>
              <a:rPr lang="en-US" sz="1200" dirty="0">
                <a:solidFill>
                  <a:srgbClr val="475569"/>
                </a:solidFill>
                <a:latin typeface="Calibri" pitchFamily="34" charset="0"/>
                <a:ea typeface="Calibri" pitchFamily="34" charset="-122"/>
                <a:cs typeface="Calibri" pitchFamily="34" charset="-120"/>
              </a:rPr>
              <a:t/>
            </a:r>
            <a:r>
              <a:rPr lang="en-US" sz="1200" i="1" dirty="0">
                <a:solidFill>
                  <a:srgbClr val="475569"/>
                </a:solidFill>
                <a:latin typeface="Calibri" pitchFamily="34" charset="0"/>
                <a:ea typeface="Calibri" pitchFamily="34" charset="-122"/>
                <a:cs typeface="Calibri" pitchFamily="34" charset="-120"/>
              </a:rPr>
              <a:t/>
            </a:r>
            <a:endParaRPr lang="en-US" sz="1200" dirty="0"/>
          </a:p>
          <a:p>
            <a:pPr marL="0" indent="0">
              <a:buNone/>
            </a:pPr>
            <a:endParaRPr lang="en-US" sz="1200" dirty="0"/>
          </a:p>
          <a:p>
            <a:pPr marL="0" indent="0">
              <a:buNone/>
            </a:pPr>
            <a:r>
              <a:rPr lang="en-US" sz="1200" b="1" dirty="0">
                <a:solidFill>
                  <a:srgbClr val="475569"/>
                </a:solidFill>
                <a:latin typeface="Calibri" pitchFamily="34" charset="0"/>
                <a:ea typeface="Calibri" pitchFamily="34" charset="-122"/>
                <a:cs typeface="Calibri" pitchFamily="34" charset="-120"/>
              </a:rPr>
              <a:t>十年过去了，2015年的架构——在现代规模下——在稠密生物医学预测中仍然难以被超越。</a:t>
            </a:r>
            <a:endParaRPr lang="en-US" sz="1200" dirty="0"/>
          </a:p>
        </p:txBody>
      </p:sp>
      <p:sp>
        <p:nvSpPr>
          <p:cNvPr id="13" name="Shape 11"/>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14" name="Text 12"/>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15" name="Text 13"/>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19 / 22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最新进展 - 2024-2026</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新的U-Net家族：Trans-UNet、Mamba-UNet、KAN-UNet</a:t>
            </a:r>
            <a:endParaRPr lang="en-US" sz="2400" dirty="0"/>
          </a:p>
        </p:txBody>
      </p:sp>
      <p:sp>
        <p:nvSpPr>
          <p:cNvPr id="4" name="Shape 2"/>
          <p:cNvSpPr/>
          <p:nvPr/>
        </p:nvSpPr>
        <p:spPr>
          <a:xfrm>
            <a:off x="457200" y="1417320"/>
            <a:ext cx="4023360" cy="137160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5" name="Shape 3"/>
          <p:cNvSpPr/>
          <p:nvPr/>
        </p:nvSpPr>
        <p:spPr>
          <a:xfrm>
            <a:off x="457200" y="1417320"/>
            <a:ext cx="73152" cy="1371600"/>
          </a:xfrm>
          <a:prstGeom prst="rect">
            <a:avLst/>
          </a:prstGeom>
          <a:solidFill>
            <a:srgbClr val="1565C0"/>
          </a:solidFill>
          <a:ln w="12700">
            <a:solidFill>
              <a:srgbClr val="1565C0"/>
            </a:solidFill>
            <a:prstDash val="solid"/>
          </a:ln>
        </p:spPr>
        <p:txBody>
          <a:bodyPr/>
          <a:lstStyle/>
          <a:p>
            <a:endParaRPr lang="en-CN"/>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300" b="1" dirty="0">
                <a:solidFill>
                  <a:srgbClr val="0B1E3F"/>
                </a:solidFill>
                <a:latin typeface="Georgia" pitchFamily="34" charset="0"/>
                <a:ea typeface="Georgia" pitchFamily="34" charset="-122"/>
                <a:cs typeface="Georgia" pitchFamily="34" charset="-120"/>
              </a:rPr>
              <a:t>Trans-UNet &amp; Swin-UNet</a:t>
            </a:r>
            <a:endParaRPr lang="en-US" sz="1300" dirty="0"/>
          </a:p>
        </p:txBody>
      </p:sp>
      <p:sp>
        <p:nvSpPr>
          <p:cNvPr id="7" name="Text 5"/>
          <p:cNvSpPr/>
          <p:nvPr/>
        </p:nvSpPr>
        <p:spPr>
          <a:xfrm>
            <a:off x="640080" y="1783080"/>
            <a:ext cx="3657600" cy="201168"/>
          </a:xfrm>
          <a:prstGeom prst="rect">
            <a:avLst/>
          </a:prstGeom>
          <a:noFill/>
          <a:ln/>
        </p:spPr>
        <p:txBody>
          <a:bodyPr wrap="square" lIns="0" tIns="0" rIns="0" bIns="0" rtlCol="0" anchor="ctr"/>
          <a:lstStyle/>
          <a:p>
            <a:pPr marL="0" indent="0">
              <a:buNone/>
            </a:pPr>
            <a:r>
              <a:rPr lang="en-US" sz="950" i="1" dirty="0">
                <a:solidFill>
                  <a:srgbClr val="FF6B35"/>
                </a:solidFill>
                <a:latin typeface="Calibri" pitchFamily="34" charset="0"/>
                <a:ea typeface="Calibri" pitchFamily="34" charset="-122"/>
                <a:cs typeface="Calibri" pitchFamily="34" charset="-120"/>
              </a:rPr>
              <a:t>（Chen 2021 -&gt; 2024变体）</a:t>
            </a:r>
            <a:endParaRPr lang="en-US" sz="950" dirty="0"/>
          </a:p>
        </p:txBody>
      </p:sp>
      <p:sp>
        <p:nvSpPr>
          <p:cNvPr id="8" name="Text 6"/>
          <p:cNvSpPr/>
          <p:nvPr/>
        </p:nvSpPr>
        <p:spPr>
          <a:xfrm>
            <a:off x="658368" y="2011680"/>
            <a:ext cx="3703320" cy="77724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用视觉Transformer替换瓶颈层（或整个编码器）——全局注意力补充局部卷积细节。在多器官CT上表现强劲。</a:t>
            </a:r>
            <a:endParaRPr lang="en-US" sz="1100" dirty="0"/>
          </a:p>
        </p:txBody>
      </p:sp>
      <p:sp>
        <p:nvSpPr>
          <p:cNvPr id="9" name="Shape 7"/>
          <p:cNvSpPr/>
          <p:nvPr/>
        </p:nvSpPr>
        <p:spPr>
          <a:xfrm>
            <a:off x="4663440" y="1417320"/>
            <a:ext cx="4023360" cy="137160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10" name="Shape 8"/>
          <p:cNvSpPr/>
          <p:nvPr/>
        </p:nvSpPr>
        <p:spPr>
          <a:xfrm>
            <a:off x="4663440" y="1417320"/>
            <a:ext cx="73152" cy="1371600"/>
          </a:xfrm>
          <a:prstGeom prst="rect">
            <a:avLst/>
          </a:prstGeom>
          <a:solidFill>
            <a:srgbClr val="FF6B35"/>
          </a:solidFill>
          <a:ln w="12700">
            <a:solidFill>
              <a:srgbClr val="FF6B35"/>
            </a:solidFill>
            <a:prstDash val="solid"/>
          </a:ln>
        </p:spPr>
        <p:txBody>
          <a:bodyPr/>
          <a:lstStyle/>
          <a:p>
            <a:endParaRPr lang="en-CN"/>
          </a:p>
        </p:txBody>
      </p:sp>
      <p:sp>
        <p:nvSpPr>
          <p:cNvPr id="11" name="Text 9"/>
          <p:cNvSpPr/>
          <p:nvPr/>
        </p:nvSpPr>
        <p:spPr>
          <a:xfrm>
            <a:off x="4846320" y="1508760"/>
            <a:ext cx="3657600" cy="274320"/>
          </a:xfrm>
          <a:prstGeom prst="rect">
            <a:avLst/>
          </a:prstGeom>
          <a:noFill/>
          <a:ln/>
        </p:spPr>
        <p:txBody>
          <a:bodyPr wrap="square" lIns="0" tIns="0" rIns="0" bIns="0" rtlCol="0" anchor="ctr"/>
          <a:lstStyle/>
          <a:p>
            <a:pPr marL="0" indent="0">
              <a:buNone/>
            </a:pPr>
            <a:r>
              <a:rPr lang="en-US" sz="1300" b="1" dirty="0">
                <a:solidFill>
                  <a:srgbClr val="0B1E3F"/>
                </a:solidFill>
                <a:latin typeface="Georgia" pitchFamily="34" charset="0"/>
                <a:ea typeface="Georgia" pitchFamily="34" charset="-122"/>
                <a:cs typeface="Georgia" pitchFamily="34" charset="-120"/>
              </a:rPr>
              <a:t>Mamba-UNet家族</a:t>
            </a:r>
            <a:endParaRPr lang="en-US" sz="1300" dirty="0"/>
          </a:p>
        </p:txBody>
      </p:sp>
      <p:sp>
        <p:nvSpPr>
          <p:cNvPr id="12" name="Text 10"/>
          <p:cNvSpPr/>
          <p:nvPr/>
        </p:nvSpPr>
        <p:spPr>
          <a:xfrm>
            <a:off x="4846320" y="1783080"/>
            <a:ext cx="3657600" cy="201168"/>
          </a:xfrm>
          <a:prstGeom prst="rect">
            <a:avLst/>
          </a:prstGeom>
          <a:noFill/>
          <a:ln/>
        </p:spPr>
        <p:txBody>
          <a:bodyPr wrap="square" lIns="0" tIns="0" rIns="0" bIns="0" rtlCol="0" anchor="ctr"/>
          <a:lstStyle/>
          <a:p>
            <a:pPr marL="0" indent="0">
              <a:buNone/>
            </a:pPr>
            <a:r>
              <a:rPr lang="en-US" sz="950" i="1" dirty="0">
                <a:solidFill>
                  <a:srgbClr val="FF6B35"/>
                </a:solidFill>
                <a:latin typeface="Calibri" pitchFamily="34" charset="0"/>
                <a:ea typeface="Calibri" pitchFamily="34" charset="-122"/>
                <a:cs typeface="Calibri" pitchFamily="34" charset="-120"/>
              </a:rPr>
              <a:t>VM-UNet、Mamba-UNet、U-Mamba、KM-UNet（2024-2025）</a:t>
            </a:r>
            <a:endParaRPr lang="en-US" sz="950" dirty="0"/>
          </a:p>
        </p:txBody>
      </p:sp>
      <p:sp>
        <p:nvSpPr>
          <p:cNvPr id="13" name="Text 11"/>
          <p:cNvSpPr/>
          <p:nvPr/>
        </p:nvSpPr>
        <p:spPr>
          <a:xfrm>
            <a:off x="4864608" y="2011680"/>
            <a:ext cx="3703320" cy="77724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用结构化状态空间模型（SSM）替代卷积/注意力。在高分辨率下实现线性时间的长程建模——在ISIC、Synapse、息肉数据集上表现优异。</a:t>
            </a:r>
            <a:endParaRPr lang="en-US" sz="1100" dirty="0"/>
          </a:p>
        </p:txBody>
      </p:sp>
      <p:sp>
        <p:nvSpPr>
          <p:cNvPr id="14" name="Shape 12"/>
          <p:cNvSpPr/>
          <p:nvPr/>
        </p:nvSpPr>
        <p:spPr>
          <a:xfrm>
            <a:off x="457200" y="2926080"/>
            <a:ext cx="4023360" cy="137160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15" name="Shape 13"/>
          <p:cNvSpPr/>
          <p:nvPr/>
        </p:nvSpPr>
        <p:spPr>
          <a:xfrm>
            <a:off x="457200" y="2926080"/>
            <a:ext cx="73152" cy="1371600"/>
          </a:xfrm>
          <a:prstGeom prst="rect">
            <a:avLst/>
          </a:prstGeom>
          <a:solidFill>
            <a:srgbClr val="10B981"/>
          </a:solidFill>
          <a:ln w="12700">
            <a:solidFill>
              <a:srgbClr val="10B981"/>
            </a:solidFill>
            <a:prstDash val="solid"/>
          </a:ln>
        </p:spPr>
        <p:txBody>
          <a:bodyPr/>
          <a:lstStyle/>
          <a:p>
            <a:endParaRPr lang="en-CN"/>
          </a:p>
        </p:txBody>
      </p:sp>
      <p:sp>
        <p:nvSpPr>
          <p:cNvPr id="16" name="Text 14"/>
          <p:cNvSpPr/>
          <p:nvPr/>
        </p:nvSpPr>
        <p:spPr>
          <a:xfrm>
            <a:off x="640080" y="3017520"/>
            <a:ext cx="3657600" cy="274320"/>
          </a:xfrm>
          <a:prstGeom prst="rect">
            <a:avLst/>
          </a:prstGeom>
          <a:noFill/>
          <a:ln/>
        </p:spPr>
        <p:txBody>
          <a:bodyPr wrap="square" lIns="0" tIns="0" rIns="0" bIns="0" rtlCol="0" anchor="ctr"/>
          <a:lstStyle/>
          <a:p>
            <a:pPr marL="0" indent="0">
              <a:buNone/>
            </a:pPr>
            <a:r>
              <a:rPr lang="en-US" sz="1300" b="1" dirty="0">
                <a:solidFill>
                  <a:srgbClr val="0B1E3F"/>
                </a:solidFill>
                <a:latin typeface="Georgia" pitchFamily="34" charset="0"/>
                <a:ea typeface="Georgia" pitchFamily="34" charset="-122"/>
                <a:cs typeface="Georgia" pitchFamily="34" charset="-120"/>
              </a:rPr>
              <a:t>扩散-UNet混合模型</a:t>
            </a:r>
            <a:endParaRPr lang="en-US" sz="1300" dirty="0"/>
          </a:p>
        </p:txBody>
      </p:sp>
      <p:sp>
        <p:nvSpPr>
          <p:cNvPr id="17" name="Text 15"/>
          <p:cNvSpPr/>
          <p:nvPr/>
        </p:nvSpPr>
        <p:spPr>
          <a:xfrm>
            <a:off x="640080" y="3291840"/>
            <a:ext cx="3657600" cy="201168"/>
          </a:xfrm>
          <a:prstGeom prst="rect">
            <a:avLst/>
          </a:prstGeom>
          <a:noFill/>
          <a:ln/>
        </p:spPr>
        <p:txBody>
          <a:bodyPr wrap="square" lIns="0" tIns="0" rIns="0" bIns="0" rtlCol="0" anchor="ctr"/>
          <a:lstStyle/>
          <a:p>
            <a:pPr marL="0" indent="0">
              <a:buNone/>
            </a:pPr>
            <a:r>
              <a:rPr lang="en-US" sz="950" i="1" dirty="0">
                <a:solidFill>
                  <a:srgbClr val="FF6B35"/>
                </a:solidFill>
                <a:latin typeface="Calibri" pitchFamily="34" charset="0"/>
                <a:ea typeface="Calibri" pitchFamily="34" charset="-122"/>
                <a:cs typeface="Calibri" pitchFamily="34" charset="-120"/>
              </a:rPr>
              <a:t>DPUSegDiff、MedSegDiff、Diffusion-CSPAM（2024-2025）</a:t>
            </a:r>
            <a:endParaRPr lang="en-US" sz="950" dirty="0"/>
          </a:p>
        </p:txBody>
      </p:sp>
      <p:sp>
        <p:nvSpPr>
          <p:cNvPr id="18" name="Text 16"/>
          <p:cNvSpPr/>
          <p:nvPr/>
        </p:nvSpPr>
        <p:spPr>
          <a:xfrm>
            <a:off x="658368" y="3520440"/>
            <a:ext cx="3703320" cy="77724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将分割掩码视为需要去噪的对象——U-Net通过反向扩散步骤同时进行分割和细化。</a:t>
            </a:r>
            <a:endParaRPr lang="en-US" sz="1100" dirty="0"/>
          </a:p>
        </p:txBody>
      </p:sp>
      <p:sp>
        <p:nvSpPr>
          <p:cNvPr id="19" name="Shape 17"/>
          <p:cNvSpPr/>
          <p:nvPr/>
        </p:nvSpPr>
        <p:spPr>
          <a:xfrm>
            <a:off x="4663440" y="2926080"/>
            <a:ext cx="4023360" cy="1371600"/>
          </a:xfrm>
          <a:prstGeom prst="rect">
            <a:avLst/>
          </a:prstGeom>
          <a:solidFill>
            <a:srgbClr val="FFFFFF"/>
          </a:solidFill>
          <a:ln w="12700">
            <a:solidFill>
              <a:srgbClr val="E2E8F0"/>
            </a:solidFill>
            <a:prstDash val="solid"/>
          </a:ln>
          <a:effectLst>
            <a:outerShdw blurRad="76200" dist="25400" dir="5400000" algn="bl" rotWithShape="0">
              <a:srgbClr val="0F172A">
                <a:alpha val="8000"/>
              </a:srgbClr>
            </a:outerShdw>
          </a:effectLst>
        </p:spPr>
        <p:txBody>
          <a:bodyPr/>
          <a:lstStyle/>
          <a:p>
            <a:endParaRPr lang="en-CN"/>
          </a:p>
        </p:txBody>
      </p:sp>
      <p:sp>
        <p:nvSpPr>
          <p:cNvPr id="20" name="Shape 18"/>
          <p:cNvSpPr/>
          <p:nvPr/>
        </p:nvSpPr>
        <p:spPr>
          <a:xfrm>
            <a:off x="4663440" y="2926080"/>
            <a:ext cx="73152" cy="1371600"/>
          </a:xfrm>
          <a:prstGeom prst="rect">
            <a:avLst/>
          </a:prstGeom>
          <a:solidFill>
            <a:srgbClr val="F59E0B"/>
          </a:solidFill>
          <a:ln w="12700">
            <a:solidFill>
              <a:srgbClr val="F59E0B"/>
            </a:solidFill>
            <a:prstDash val="solid"/>
          </a:ln>
        </p:spPr>
        <p:txBody>
          <a:bodyPr/>
          <a:lstStyle/>
          <a:p>
            <a:endParaRPr lang="en-CN"/>
          </a:p>
        </p:txBody>
      </p:sp>
      <p:sp>
        <p:nvSpPr>
          <p:cNvPr id="21" name="Text 19"/>
          <p:cNvSpPr/>
          <p:nvPr/>
        </p:nvSpPr>
        <p:spPr>
          <a:xfrm>
            <a:off x="4846320" y="3017520"/>
            <a:ext cx="3657600" cy="274320"/>
          </a:xfrm>
          <a:prstGeom prst="rect">
            <a:avLst/>
          </a:prstGeom>
          <a:noFill/>
          <a:ln/>
        </p:spPr>
        <p:txBody>
          <a:bodyPr wrap="square" lIns="0" tIns="0" rIns="0" bIns="0" rtlCol="0" anchor="ctr"/>
          <a:lstStyle/>
          <a:p>
            <a:pPr marL="0" indent="0">
              <a:buNone/>
            </a:pPr>
            <a:r>
              <a:rPr lang="en-US" sz="1300" b="1" dirty="0">
                <a:solidFill>
                  <a:srgbClr val="0B1E3F"/>
                </a:solidFill>
                <a:latin typeface="Georgia" pitchFamily="34" charset="0"/>
                <a:ea typeface="Georgia" pitchFamily="34" charset="-122"/>
                <a:cs typeface="Georgia" pitchFamily="34" charset="-120"/>
              </a:rPr>
              <a:t>KAN-UNet与效率变体</a:t>
            </a:r>
            <a:endParaRPr lang="en-US" sz="1300" dirty="0"/>
          </a:p>
        </p:txBody>
      </p:sp>
      <p:sp>
        <p:nvSpPr>
          <p:cNvPr id="22" name="Text 20"/>
          <p:cNvSpPr/>
          <p:nvPr/>
        </p:nvSpPr>
        <p:spPr>
          <a:xfrm>
            <a:off x="4846320" y="3291840"/>
            <a:ext cx="3657600" cy="201168"/>
          </a:xfrm>
          <a:prstGeom prst="rect">
            <a:avLst/>
          </a:prstGeom>
          <a:noFill/>
          <a:ln/>
        </p:spPr>
        <p:txBody>
          <a:bodyPr wrap="square" lIns="0" tIns="0" rIns="0" bIns="0" rtlCol="0" anchor="ctr"/>
          <a:lstStyle/>
          <a:p>
            <a:pPr marL="0" indent="0">
              <a:buNone/>
            </a:pPr>
            <a:r>
              <a:rPr lang="en-US" sz="950" i="1" dirty="0">
                <a:solidFill>
                  <a:srgbClr val="FF6B35"/>
                </a:solidFill>
                <a:latin typeface="Calibri" pitchFamily="34" charset="0"/>
                <a:ea typeface="Calibri" pitchFamily="34" charset="-122"/>
                <a:cs typeface="Calibri" pitchFamily="34" charset="-120"/>
              </a:rPr>
              <a:t>Kolmogorov-Arnold网络、xLSTM-UNet（2025）</a:t>
            </a:r>
            <a:endParaRPr lang="en-US" sz="950" dirty="0"/>
          </a:p>
        </p:txBody>
      </p:sp>
      <p:sp>
        <p:nvSpPr>
          <p:cNvPr id="23" name="Text 21"/>
          <p:cNvSpPr/>
          <p:nvPr/>
        </p:nvSpPr>
        <p:spPr>
          <a:xfrm>
            <a:off x="4864608" y="3520440"/>
            <a:ext cx="3703320" cy="77724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用可学习的激活函数（KAN）或循环门控替代MLP块——更小、更可解释、精度相似。</a:t>
            </a:r>
            <a:endParaRPr lang="en-US" sz="1100" dirty="0"/>
          </a:p>
        </p:txBody>
      </p:sp>
      <p:sp>
        <p:nvSpPr>
          <p:cNvPr id="24" name="Shape 22"/>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25" name="Text 23"/>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26" name="Text 24"/>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20 / 22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最新进展 - 2025</a:t>
            </a:r>
            <a:endParaRPr lang="en-US" sz="1100" dirty="0"/>
          </a:p>
        </p:txBody>
      </p:sp>
      <p:sp>
        <p:nvSpPr>
          <p:cNvPr id="3" name="Text 1"/>
          <p:cNvSpPr/>
          <p:nvPr/>
        </p:nvSpPr>
        <p:spPr>
          <a:xfrm>
            <a:off x="457200" y="548640"/>
            <a:ext cx="8229600" cy="594360"/>
          </a:xfrm>
          <a:prstGeom prst="rect">
            <a:avLst/>
          </a:prstGeom>
          <a:noFill/>
          <a:ln/>
        </p:spPr>
        <p:txBody>
          <a:bodyPr wrap="square" lIns="0" tIns="0" rIns="0" bIns="0" rtlCol="0" anchor="ctr"/>
          <a:lstStyle/>
          <a:p>
            <a:pPr marL="0" indent="0">
              <a:buNone/>
            </a:pPr>
            <a:r>
              <a:rPr lang="en-US" sz="2400" b="1" dirty="0">
                <a:solidFill>
                  <a:srgbClr val="0B1E3F"/>
                </a:solidFill>
                <a:latin typeface="Georgia" pitchFamily="34" charset="0"/>
                <a:ea typeface="Georgia" pitchFamily="34" charset="-122"/>
                <a:cs typeface="Georgia" pitchFamily="34" charset="-120"/>
              </a:rPr>
              <a:t>U-Net遇上基础模型：nnSAM与Medical SAM3</a:t>
            </a:r>
            <a:endParaRPr lang="en-US" sz="2400" dirty="0"/>
          </a:p>
        </p:txBody>
      </p:sp>
      <p:sp>
        <p:nvSpPr>
          <p:cNvPr id="4" name="Shape 2"/>
          <p:cNvSpPr/>
          <p:nvPr/>
        </p:nvSpPr>
        <p:spPr>
          <a:xfrm>
            <a:off x="548640" y="1554480"/>
            <a:ext cx="2011680" cy="1005840"/>
          </a:xfrm>
          <a:prstGeom prst="rect">
            <a:avLst/>
          </a:prstGeom>
          <a:solidFill>
            <a:srgbClr val="1565C0"/>
          </a:solidFill>
          <a:ln w="12700">
            <a:solidFill>
              <a:srgbClr val="1565C0"/>
            </a:solidFill>
            <a:prstDash val="solid"/>
          </a:ln>
        </p:spPr>
        <p:txBody>
          <a:bodyPr/>
          <a:lstStyle/>
          <a:p>
            <a:endParaRPr lang="en-CN"/>
          </a:p>
        </p:txBody>
      </p:sp>
      <p:sp>
        <p:nvSpPr>
          <p:cNvPr id="5" name="Text 3"/>
          <p:cNvSpPr/>
          <p:nvPr/>
        </p:nvSpPr>
        <p:spPr>
          <a:xfrm>
            <a:off x="548640" y="1627632"/>
            <a:ext cx="201168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SAM / SAM3</a:t>
            </a:r>
            <a:endParaRPr lang="en-US" sz="1400" dirty="0"/>
          </a:p>
        </p:txBody>
      </p:sp>
      <p:sp>
        <p:nvSpPr>
          <p:cNvPr id="6" name="Text 4"/>
          <p:cNvSpPr/>
          <p:nvPr/>
        </p:nvSpPr>
        <p:spPr>
          <a:xfrm>
            <a:off x="548640" y="1993392"/>
            <a:ext cx="2011680" cy="502920"/>
          </a:xfrm>
          <a:prstGeom prst="rect">
            <a:avLst/>
          </a:prstGeom>
          <a:noFill/>
          <a:ln/>
        </p:spPr>
        <p:txBody>
          <a:bodyPr wrap="square" lIns="0" tIns="0" rIns="0" bIns="0" rtlCol="0" anchor="ctr"/>
          <a:lstStyle/>
          <a:p>
            <a:pPr marL="0" indent="0" algn="ctr">
              <a:buNone/>
            </a:pPr>
            <a:r>
              <a:rPr lang="en-US" sz="1000" i="1" dirty="0">
                <a:solidFill>
                  <a:srgbClr val="E2E8F0"/>
                </a:solidFill>
                <a:latin typeface="Calibri" pitchFamily="34" charset="0"/>
                <a:ea typeface="Calibri" pitchFamily="34" charset="-122"/>
                <a:cs typeface="Calibri" pitchFamily="34" charset="-120"/>
              </a:rPr>
              <a:t>基础模型，ViT-H，</a:t>
            </a:r>
            <a:endParaRPr lang="en-US" sz="1000" dirty="0"/>
          </a:p>
          <a:p>
            <a:pPr marL="0" indent="0" algn="ctr">
              <a:buNone/>
            </a:pPr>
            <a:r>
              <a:rPr lang="en-US" sz="1000" i="1" dirty="0">
                <a:solidFill>
                  <a:srgbClr val="E2E8F0"/>
                </a:solidFill>
                <a:latin typeface="Calibri" pitchFamily="34" charset="0"/>
                <a:ea typeface="Calibri" pitchFamily="34" charset="-122"/>
                <a:cs typeface="Calibri" pitchFamily="34" charset="-120"/>
              </a:rPr>
              <a:t>十亿级提示</a:t>
            </a:r>
            <a:endParaRPr lang="en-US" sz="1000" dirty="0"/>
          </a:p>
        </p:txBody>
      </p:sp>
      <p:sp>
        <p:nvSpPr>
          <p:cNvPr id="7" name="Text 5"/>
          <p:cNvSpPr/>
          <p:nvPr/>
        </p:nvSpPr>
        <p:spPr>
          <a:xfrm>
            <a:off x="2651760" y="1874520"/>
            <a:ext cx="320040" cy="457200"/>
          </a:xfrm>
          <a:prstGeom prst="rect">
            <a:avLst/>
          </a:prstGeom>
          <a:noFill/>
          <a:ln/>
        </p:spPr>
        <p:txBody>
          <a:bodyPr wrap="square" lIns="0" tIns="0" rIns="0" bIns="0" rtlCol="0" anchor="ctr"/>
          <a:lstStyle/>
          <a:p>
            <a:pPr marL="0" indent="0" algn="ctr">
              <a:buNone/>
            </a:pPr>
            <a:r>
              <a:rPr lang="en-US" sz="2800" b="1" dirty="0">
                <a:solidFill>
                  <a:srgbClr val="0B1E3F"/>
                </a:solidFill>
                <a:latin typeface="Georgia" pitchFamily="34" charset="0"/>
                <a:ea typeface="Georgia" pitchFamily="34" charset="-122"/>
                <a:cs typeface="Georgia" pitchFamily="34" charset="-120"/>
              </a:rPr>
              <a:t>+</a:t>
            </a:r>
            <a:endParaRPr lang="en-US" sz="2800" dirty="0"/>
          </a:p>
        </p:txBody>
      </p:sp>
      <p:sp>
        <p:nvSpPr>
          <p:cNvPr id="8" name="Shape 6"/>
          <p:cNvSpPr/>
          <p:nvPr/>
        </p:nvSpPr>
        <p:spPr>
          <a:xfrm>
            <a:off x="3063240" y="1554480"/>
            <a:ext cx="2011680" cy="1005840"/>
          </a:xfrm>
          <a:prstGeom prst="rect">
            <a:avLst/>
          </a:prstGeom>
          <a:solidFill>
            <a:srgbClr val="FF6B35"/>
          </a:solidFill>
          <a:ln w="12700">
            <a:solidFill>
              <a:srgbClr val="FF6B35"/>
            </a:solidFill>
            <a:prstDash val="solid"/>
          </a:ln>
        </p:spPr>
        <p:txBody>
          <a:bodyPr/>
          <a:lstStyle/>
          <a:p>
            <a:endParaRPr lang="en-CN"/>
          </a:p>
        </p:txBody>
      </p:sp>
      <p:sp>
        <p:nvSpPr>
          <p:cNvPr id="9" name="Text 7"/>
          <p:cNvSpPr/>
          <p:nvPr/>
        </p:nvSpPr>
        <p:spPr>
          <a:xfrm>
            <a:off x="3063240" y="1627632"/>
            <a:ext cx="201168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nnU-Net</a:t>
            </a:r>
            <a:endParaRPr lang="en-US" sz="1400" dirty="0"/>
          </a:p>
        </p:txBody>
      </p:sp>
      <p:sp>
        <p:nvSpPr>
          <p:cNvPr id="10" name="Text 8"/>
          <p:cNvSpPr/>
          <p:nvPr/>
        </p:nvSpPr>
        <p:spPr>
          <a:xfrm>
            <a:off x="3063240" y="1993392"/>
            <a:ext cx="2011680" cy="502920"/>
          </a:xfrm>
          <a:prstGeom prst="rect">
            <a:avLst/>
          </a:prstGeom>
          <a:noFill/>
          <a:ln/>
        </p:spPr>
        <p:txBody>
          <a:bodyPr wrap="square" lIns="0" tIns="0" rIns="0" bIns="0" rtlCol="0" anchor="ctr"/>
          <a:lstStyle/>
          <a:p>
            <a:pPr marL="0" indent="0" algn="ctr">
              <a:buNone/>
            </a:pPr>
            <a:r>
              <a:rPr lang="en-US" sz="1000" i="1" dirty="0">
                <a:solidFill>
                  <a:srgbClr val="FFE7DA"/>
                </a:solidFill>
                <a:latin typeface="Calibri" pitchFamily="34" charset="0"/>
                <a:ea typeface="Calibri" pitchFamily="34" charset="-122"/>
                <a:cs typeface="Calibri" pitchFamily="34" charset="-120"/>
              </a:rPr>
              <a:t>自动配置，</a:t>
            </a:r>
            <a:endParaRPr lang="en-US" sz="1000" dirty="0"/>
          </a:p>
          <a:p>
            <a:pPr marL="0" indent="0" algn="ctr">
              <a:buNone/>
            </a:pPr>
            <a:r>
              <a:rPr lang="en-US" sz="1000" i="1" dirty="0">
                <a:solidFill>
                  <a:srgbClr val="FFE7DA"/>
                </a:solidFill>
                <a:latin typeface="Calibri" pitchFamily="34" charset="0"/>
                <a:ea typeface="Calibri" pitchFamily="34" charset="-122"/>
                <a:cs typeface="Calibri" pitchFamily="34" charset="-120"/>
              </a:rPr>
              <a:t>领域训练的CNN</a:t>
            </a:r>
            <a:endParaRPr lang="en-US" sz="1000" dirty="0"/>
          </a:p>
        </p:txBody>
      </p:sp>
      <p:sp>
        <p:nvSpPr>
          <p:cNvPr id="11" name="Shape 9"/>
          <p:cNvSpPr/>
          <p:nvPr/>
        </p:nvSpPr>
        <p:spPr>
          <a:xfrm>
            <a:off x="2834640" y="2697480"/>
            <a:ext cx="0" cy="411480"/>
          </a:xfrm>
          <a:prstGeom prst="line">
            <a:avLst/>
          </a:prstGeom>
          <a:noFill/>
          <a:ln w="25400">
            <a:solidFill>
              <a:srgbClr val="0B1E3F"/>
            </a:solidFill>
            <a:prstDash val="solid"/>
            <a:tailEnd type="triangle"/>
          </a:ln>
        </p:spPr>
        <p:txBody>
          <a:bodyPr/>
          <a:lstStyle/>
          <a:p>
            <a:endParaRPr lang="en-CN"/>
          </a:p>
        </p:txBody>
      </p:sp>
      <p:sp>
        <p:nvSpPr>
          <p:cNvPr id="12" name="Shape 10"/>
          <p:cNvSpPr/>
          <p:nvPr/>
        </p:nvSpPr>
        <p:spPr>
          <a:xfrm>
            <a:off x="1371600" y="3154680"/>
            <a:ext cx="3108960" cy="1188720"/>
          </a:xfrm>
          <a:prstGeom prst="rect">
            <a:avLst/>
          </a:prstGeom>
          <a:solidFill>
            <a:srgbClr val="0B1E3F"/>
          </a:solidFill>
          <a:ln w="12700">
            <a:solidFill>
              <a:srgbClr val="0B1E3F"/>
            </a:solidFill>
            <a:prstDash val="solid"/>
          </a:ln>
        </p:spPr>
        <p:txBody>
          <a:bodyPr/>
          <a:lstStyle/>
          <a:p>
            <a:endParaRPr lang="en-CN"/>
          </a:p>
        </p:txBody>
      </p:sp>
      <p:sp>
        <p:nvSpPr>
          <p:cNvPr id="13" name="Text 11"/>
          <p:cNvSpPr/>
          <p:nvPr/>
        </p:nvSpPr>
        <p:spPr>
          <a:xfrm>
            <a:off x="1371600" y="3246120"/>
            <a:ext cx="3108960" cy="365760"/>
          </a:xfrm>
          <a:prstGeom prst="rect">
            <a:avLst/>
          </a:prstGeom>
          <a:noFill/>
          <a:ln/>
        </p:spPr>
        <p:txBody>
          <a:bodyPr wrap="square" lIns="0" tIns="0" rIns="0" bIns="0" rtlCol="0" anchor="ctr"/>
          <a:lstStyle/>
          <a:p>
            <a:pPr marL="0" indent="0" algn="ctr">
              <a:buNone/>
            </a:pPr>
            <a:r>
              <a:rPr lang="en-US" sz="1400" b="1" dirty="0">
                <a:solidFill>
                  <a:srgbClr val="FF6B35"/>
                </a:solidFill>
                <a:latin typeface="Georgia" pitchFamily="34" charset="0"/>
                <a:ea typeface="Georgia" pitchFamily="34" charset="-122"/>
                <a:cs typeface="Georgia" pitchFamily="34" charset="-120"/>
              </a:rPr>
              <a:t>nnSAM  -  Medical SAM3</a:t>
            </a:r>
            <a:endParaRPr lang="en-US" sz="1400" dirty="0"/>
          </a:p>
        </p:txBody>
      </p:sp>
      <p:sp>
        <p:nvSpPr>
          <p:cNvPr id="14" name="Text 12"/>
          <p:cNvSpPr/>
          <p:nvPr/>
        </p:nvSpPr>
        <p:spPr>
          <a:xfrm>
            <a:off x="1371600" y="3611880"/>
            <a:ext cx="3108960" cy="640080"/>
          </a:xfrm>
          <a:prstGeom prst="rect">
            <a:avLst/>
          </a:prstGeom>
          <a:noFill/>
          <a:ln/>
        </p:spPr>
        <p:txBody>
          <a:bodyPr wrap="square" lIns="0" tIns="0" rIns="0" bIns="0" rtlCol="0" anchor="ctr"/>
          <a:lstStyle/>
          <a:p>
            <a:pPr marL="0" indent="0" algn="ctr">
              <a:buNone/>
            </a:pPr>
            <a:r>
              <a:rPr lang="en-US" sz="1100" i="1" dirty="0">
                <a:solidFill>
                  <a:srgbClr val="E2E8F0"/>
                </a:solidFill>
                <a:latin typeface="Calibri" pitchFamily="34" charset="0"/>
                <a:ea typeface="Calibri" pitchFamily="34" charset="-122"/>
                <a:cs typeface="Calibri" pitchFamily="34" charset="-120"/>
              </a:rPr>
              <a:t>泛化能力（SAM）+ 专业化（U-Net）。</a:t>
            </a:r>
            <a:endParaRPr lang="en-US" sz="1100" dirty="0"/>
          </a:p>
          <a:p>
            <a:pPr marL="0" indent="0" algn="ctr">
              <a:buNone/>
            </a:pPr>
            <a:r>
              <a:rPr lang="en-US" sz="1100" i="1" dirty="0">
                <a:solidFill>
                  <a:srgbClr val="E2E8F0"/>
                </a:solidFill>
                <a:latin typeface="Calibri" pitchFamily="34" charset="0"/>
                <a:ea typeface="Calibri" pitchFamily="34" charset="-122"/>
                <a:cs typeface="Calibri" pitchFamily="34" charset="-120"/>
              </a:rPr>
              <a:t>少样本、多中心、文本提示。</a:t>
            </a:r>
            <a:endParaRPr lang="en-US" sz="1100" dirty="0"/>
          </a:p>
        </p:txBody>
      </p:sp>
      <p:sp>
        <p:nvSpPr>
          <p:cNvPr id="15" name="Text 13"/>
          <p:cNvSpPr/>
          <p:nvPr/>
        </p:nvSpPr>
        <p:spPr>
          <a:xfrm>
            <a:off x="5669280" y="1417320"/>
            <a:ext cx="3108960" cy="3108960"/>
          </a:xfrm>
          <a:prstGeom prst="rect">
            <a:avLst/>
          </a:prstGeom>
          <a:noFill/>
          <a:ln/>
        </p:spPr>
        <p:txBody>
          <a:bodyPr wrap="square" rtlCol="0" anchor="ctr"/>
          <a:lstStyle/>
          <a:p>
            <a:pPr marL="0" indent="0">
              <a:buNone/>
            </a:pPr>
            <a:r>
              <a:rPr lang="en-US" sz="1500" b="1" dirty="0">
                <a:solidFill>
                  <a:srgbClr val="0B1E3F"/>
                </a:solidFill>
                <a:latin typeface="Georgia" pitchFamily="34" charset="0"/>
                <a:ea typeface="Georgia" pitchFamily="34" charset="-122"/>
                <a:cs typeface="Georgia" pitchFamily="34" charset="-120"/>
              </a:rPr>
              <a:t>为什么这种组合能赢</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SAM提供模态无关的边缘/主体线索；nnU-Net贡献领域专用的解码器。</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即插即用：SAM特征被插入U-Net编码器的跳跃连接流中。</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报告的增益在低数据场景中最大（这正是原始U-Net的主场）。</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Medical SAM3（2025）扩展到文本引导、2D/3D、多器官——保留U-Net解码器以生成精确掩码。</a:t>
            </a:r>
            <a:endParaRPr lang="en-US" sz="1200" dirty="0"/>
          </a:p>
        </p:txBody>
      </p:sp>
      <p:sp>
        <p:nvSpPr>
          <p:cNvPr id="16" name="Shape 14"/>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17" name="Text 15"/>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U-Net (2015) - Ronneberger, Fischer, Brox</a:t>
            </a:r>
            <a:endParaRPr lang="en-US" sz="900" dirty="0"/>
          </a:p>
        </p:txBody>
      </p:sp>
      <p:sp>
        <p:nvSpPr>
          <p:cNvPr id="18" name="Text 16"/>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21 / 22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E3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92608"/>
          </a:xfrm>
          <a:prstGeom prst="rect">
            <a:avLst/>
          </a:prstGeom>
          <a:noFill/>
          <a:ln/>
        </p:spPr>
        <p:txBody>
          <a:bodyPr wrap="square" lIns="0" tIns="0" rIns="0" bIns="0" rtlCol="0" anchor="ctr"/>
          <a:lstStyle/>
          <a:p>
            <a:pPr marL="0" indent="0">
              <a:buNone/>
            </a:pPr>
            <a:r>
              <a:rPr lang="en-US" sz="1100" b="1" kern="0" spc="400" dirty="0">
                <a:solidFill>
                  <a:srgbClr val="FF6B35"/>
                </a:solidFill>
                <a:latin typeface="Calibri" pitchFamily="34" charset="0"/>
                <a:ea typeface="Calibri" pitchFamily="34" charset="-122"/>
                <a:cs typeface="Calibri" pitchFamily="34" charset="-120"/>
              </a:rPr>
              <a:t>展望 - 要点 - 参考文献</a:t>
            </a:r>
            <a:endParaRPr lang="en-US" sz="1100" dirty="0"/>
          </a:p>
        </p:txBody>
      </p:sp>
      <p:sp>
        <p:nvSpPr>
          <p:cNvPr id="3" name="Text 1"/>
          <p:cNvSpPr/>
          <p:nvPr/>
        </p:nvSpPr>
        <p:spPr>
          <a:xfrm>
            <a:off x="457200" y="594360"/>
            <a:ext cx="8229600" cy="54864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十年之后——该记住什么，未来走向何方</a:t>
            </a:r>
            <a:endParaRPr lang="en-US" sz="1900" dirty="0"/>
          </a:p>
        </p:txBody>
      </p:sp>
      <p:sp>
        <p:nvSpPr>
          <p:cNvPr id="4" name="Shape 2"/>
          <p:cNvSpPr/>
          <p:nvPr/>
        </p:nvSpPr>
        <p:spPr>
          <a:xfrm>
            <a:off x="457200" y="1417320"/>
            <a:ext cx="73152" cy="3017520"/>
          </a:xfrm>
          <a:prstGeom prst="rect">
            <a:avLst/>
          </a:prstGeom>
          <a:solidFill>
            <a:srgbClr val="FF6B35"/>
          </a:solidFill>
          <a:ln w="12700">
            <a:solidFill>
              <a:srgbClr val="FF6B35"/>
            </a:solidFill>
            <a:prstDash val="solid"/>
          </a:ln>
        </p:spPr>
        <p:txBody>
          <a:bodyPr/>
          <a:lstStyle/>
          <a:p>
            <a:endParaRPr lang="en-CN"/>
          </a:p>
        </p:txBody>
      </p:sp>
      <p:sp>
        <p:nvSpPr>
          <p:cNvPr id="5" name="Text 3"/>
          <p:cNvSpPr/>
          <p:nvPr/>
        </p:nvSpPr>
        <p:spPr>
          <a:xfrm>
            <a:off x="640080" y="1417320"/>
            <a:ext cx="2286000" cy="29260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核心要点</a:t>
            </a:r>
            <a:endParaRPr lang="en-US" sz="1400" dirty="0"/>
          </a:p>
        </p:txBody>
      </p:sp>
      <p:sp>
        <p:nvSpPr>
          <p:cNvPr id="6" name="Text 4"/>
          <p:cNvSpPr/>
          <p:nvPr/>
        </p:nvSpPr>
        <p:spPr>
          <a:xfrm>
            <a:off x="685800" y="1783080"/>
            <a:ext cx="2377440" cy="2697480"/>
          </a:xfrm>
          <a:prstGeom prst="rect">
            <a:avLst/>
          </a:prstGeom>
          <a:noFill/>
          <a:ln/>
        </p:spPr>
        <p:txBody>
          <a:bodyPr wrap="square" rtlCol="0" anchor="ctr"/>
          <a:lstStyle/>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U形结构是图像到图像学习的正确归纳偏置。</a:t>
            </a:r>
            <a:endParaRPr lang="en-US" sz="1100" dirty="0"/>
          </a:p>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跳跃连接贡献了90%的魔力。</a:t>
            </a:r>
            <a:endParaRPr lang="en-US" sz="1100" dirty="0"/>
          </a:p>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损失函数与数据工程与骨干网络同等重要。</a:t>
            </a:r>
            <a:endParaRPr lang="en-US" sz="1100" dirty="0"/>
          </a:p>
          <a:p>
            <a:pPr marL="342900" indent="-342900">
              <a:buSzPct val="100000"/>
              <a:buChar char="■"/>
            </a:pPr>
            <a:r>
              <a:rPr lang="en-US" sz="1100" dirty="0">
                <a:solidFill>
                  <a:srgbClr val="E2E8F0"/>
                </a:solidFill>
                <a:latin typeface="Calibri" pitchFamily="34" charset="0"/>
                <a:ea typeface="Calibri" pitchFamily="34" charset="-122"/>
                <a:cs typeface="Calibri" pitchFamily="34" charset="-120"/>
              </a:rPr>
              <a:t>当数据稀缺时，小型快速网络胜出。</a:t>
            </a:r>
            <a:endParaRPr lang="en-US" sz="1100" dirty="0"/>
          </a:p>
        </p:txBody>
      </p:sp>
      <p:sp>
        <p:nvSpPr>
          <p:cNvPr id="7" name="Shape 5"/>
          <p:cNvSpPr/>
          <p:nvPr/>
        </p:nvSpPr>
        <p:spPr>
          <a:xfrm>
            <a:off x="3200400" y="1417320"/>
            <a:ext cx="73152" cy="3017520"/>
          </a:xfrm>
          <a:prstGeom prst="rect">
            <a:avLst/>
          </a:prstGeom>
          <a:solidFill>
            <a:srgbClr val="1565C0"/>
          </a:solidFill>
          <a:ln w="12700">
            <a:solidFill>
              <a:srgbClr val="1565C0"/>
            </a:solidFill>
            <a:prstDash val="solid"/>
          </a:ln>
        </p:spPr>
        <p:txBody>
          <a:bodyPr/>
          <a:lstStyle/>
          <a:p>
            <a:endParaRPr lang="en-CN"/>
          </a:p>
        </p:txBody>
      </p:sp>
      <p:sp>
        <p:nvSpPr>
          <p:cNvPr id="8" name="Text 6"/>
          <p:cNvSpPr/>
          <p:nvPr/>
        </p:nvSpPr>
        <p:spPr>
          <a:xfrm>
            <a:off x="3383280" y="1417320"/>
            <a:ext cx="2468880" cy="29260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开放问题</a:t>
            </a:r>
            <a:endParaRPr lang="en-US" sz="1400" dirty="0"/>
          </a:p>
        </p:txBody>
      </p:sp>
      <p:sp>
        <p:nvSpPr>
          <p:cNvPr id="9" name="Text 7"/>
          <p:cNvSpPr/>
          <p:nvPr/>
        </p:nvSpPr>
        <p:spPr>
          <a:xfrm>
            <a:off x="3429000" y="1783080"/>
            <a:ext cx="2468880" cy="2697480"/>
          </a:xfrm>
          <a:prstGeom prst="rect">
            <a:avLst/>
          </a:prstGeom>
          <a:noFill/>
          <a:ln/>
        </p:spPr>
        <p:txBody>
          <a:bodyPr wrap="square" rtlCol="0" anchor="ctr"/>
          <a:lstStyle/>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MMDiT风格的Transformer会在视频/大图像生成中取代U-Net吗？</a:t>
            </a:r>
            <a:endParaRPr lang="en-US" sz="1100" dirty="0"/>
          </a:p>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基于SSM的U-Net（Mamba）能否扩展到超高分辨率医学体积？</a:t>
            </a:r>
            <a:endParaRPr lang="en-US" sz="1100" dirty="0"/>
          </a:p>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如何将SAM/基础模型的泛化能力与nnU-Net的精度结合起来？</a:t>
            </a:r>
            <a:endParaRPr lang="en-US" sz="1100" dirty="0"/>
          </a:p>
          <a:p>
            <a:pPr marL="342900" indent="-342900">
              <a:buSzPct val="100000"/>
              <a:buChar char="■"/>
            </a:pPr>
            <a:r>
              <a:rPr lang="en-US" sz="1100" dirty="0">
                <a:solidFill>
                  <a:srgbClr val="E2E8F0"/>
                </a:solidFill>
                <a:latin typeface="Calibri" pitchFamily="34" charset="0"/>
                <a:ea typeface="Calibri" pitchFamily="34" charset="-122"/>
                <a:cs typeface="Calibri" pitchFamily="34" charset="-120"/>
              </a:rPr>
              <a:t>是否存在适用于非图像数据——图、序列、点云——的"U-Net"？</a:t>
            </a:r>
            <a:endParaRPr lang="en-US" sz="1100" dirty="0"/>
          </a:p>
        </p:txBody>
      </p:sp>
      <p:sp>
        <p:nvSpPr>
          <p:cNvPr id="10" name="Shape 8"/>
          <p:cNvSpPr/>
          <p:nvPr/>
        </p:nvSpPr>
        <p:spPr>
          <a:xfrm>
            <a:off x="6035040" y="1417320"/>
            <a:ext cx="73152" cy="3017520"/>
          </a:xfrm>
          <a:prstGeom prst="rect">
            <a:avLst/>
          </a:prstGeom>
          <a:solidFill>
            <a:srgbClr val="10B981"/>
          </a:solidFill>
          <a:ln w="12700">
            <a:solidFill>
              <a:srgbClr val="10B981"/>
            </a:solidFill>
            <a:prstDash val="solid"/>
          </a:ln>
        </p:spPr>
        <p:txBody>
          <a:bodyPr/>
          <a:lstStyle/>
          <a:p>
            <a:endParaRPr lang="en-CN"/>
          </a:p>
        </p:txBody>
      </p:sp>
      <p:sp>
        <p:nvSpPr>
          <p:cNvPr id="11" name="Text 9"/>
          <p:cNvSpPr/>
          <p:nvPr/>
        </p:nvSpPr>
        <p:spPr>
          <a:xfrm>
            <a:off x="6217920" y="1417320"/>
            <a:ext cx="2560320" cy="29260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扩展阅读</a:t>
            </a:r>
            <a:endParaRPr lang="en-US" sz="1400" dirty="0"/>
          </a:p>
        </p:txBody>
      </p:sp>
      <p:sp>
        <p:nvSpPr>
          <p:cNvPr id="12" name="Text 10"/>
          <p:cNvSpPr/>
          <p:nvPr/>
        </p:nvSpPr>
        <p:spPr>
          <a:xfrm>
            <a:off x="6217920" y="1783080"/>
            <a:ext cx="2606040" cy="2697480"/>
          </a:xfrm>
          <a:prstGeom prst="rect">
            <a:avLst/>
          </a:prstGeom>
          <a:noFill/>
          <a:ln/>
        </p:spPr>
        <p:txBody>
          <a:bodyPr wrap="square" rtlCol="0" anchor="ctr"/>
          <a:lstStyle/>
          <a:p>
            <a:pPr marL="0" indent="0">
              <a:spcAft>
                <a:spcPts val="400"/>
              </a:spcAft>
              <a:buNone/>
            </a:pPr>
            <a:r>
              <a:rPr lang="en-US" sz="950" dirty="0">
                <a:solidFill>
                  <a:srgbClr val="E2E8F0"/>
                </a:solidFill>
                <a:latin typeface="Calibri" pitchFamily="34" charset="0"/>
                <a:ea typeface="Calibri" pitchFamily="34" charset="-122"/>
                <a:cs typeface="Calibri" pitchFamily="34" charset="-120"/>
              </a:rPr>
              <a:t>Ronneberger et al., U-Net, MICCAI 2015 (arXiv:1505.04597)</a:t>
            </a:r>
            <a:r>
              <a:rPr lang="en-US" sz="950" b="1" dirty="0">
                <a:solidFill>
                  <a:srgbClr val="FFFFFF"/>
                </a:solidFill>
                <a:latin typeface="Calibri" pitchFamily="34" charset="0"/>
                <a:ea typeface="Calibri" pitchFamily="34" charset="-122"/>
                <a:cs typeface="Calibri" pitchFamily="34" charset="-120"/>
              </a:rPr>
              <a:t/>
            </a:r>
            <a:r>
              <a:rPr lang="en-US" sz="950" dirty="0">
                <a:solidFill>
                  <a:srgbClr val="E2E8F0"/>
                </a:solidFill>
                <a:latin typeface="Calibri" pitchFamily="34" charset="0"/>
                <a:ea typeface="Calibri" pitchFamily="34" charset="-122"/>
                <a:cs typeface="Calibri" pitchFamily="34" charset="-120"/>
              </a:rPr>
              <a:t/>
            </a:r>
            <a:endParaRPr lang="en-US" sz="950" dirty="0"/>
          </a:p>
          <a:p>
            <a:pPr marL="0" indent="0">
              <a:spcAft>
                <a:spcPts val="400"/>
              </a:spcAft>
              <a:buNone/>
            </a:pPr>
            <a:r>
              <a:rPr lang="en-US" sz="950" dirty="0">
                <a:solidFill>
                  <a:srgbClr val="E2E8F0"/>
                </a:solidFill>
                <a:latin typeface="Calibri" pitchFamily="34" charset="0"/>
                <a:ea typeface="Calibri" pitchFamily="34" charset="-122"/>
                <a:cs typeface="Calibri" pitchFamily="34" charset="-120"/>
              </a:rPr>
              <a:t>Isensee et al., nnU-Net Revisited, MICCAI 2024 (arXiv:2404.09556)</a:t>
            </a:r>
            <a:r>
              <a:rPr lang="en-US" sz="950" b="1" dirty="0">
                <a:solidFill>
                  <a:srgbClr val="FFFFFF"/>
                </a:solidFill>
                <a:latin typeface="Calibri" pitchFamily="34" charset="0"/>
                <a:ea typeface="Calibri" pitchFamily="34" charset="-122"/>
                <a:cs typeface="Calibri" pitchFamily="34" charset="-120"/>
              </a:rPr>
              <a:t/>
            </a:r>
            <a:r>
              <a:rPr lang="en-US" sz="950" dirty="0">
                <a:solidFill>
                  <a:srgbClr val="E2E8F0"/>
                </a:solidFill>
                <a:latin typeface="Calibri" pitchFamily="34" charset="0"/>
                <a:ea typeface="Calibri" pitchFamily="34" charset="-122"/>
                <a:cs typeface="Calibri" pitchFamily="34" charset="-120"/>
              </a:rPr>
              <a:t/>
            </a:r>
            <a:endParaRPr lang="en-US" sz="950" dirty="0"/>
          </a:p>
          <a:p>
            <a:pPr marL="0" indent="0">
              <a:spcAft>
                <a:spcPts val="400"/>
              </a:spcAft>
              <a:buNone/>
            </a:pPr>
            <a:r>
              <a:rPr lang="en-US" sz="950" dirty="0">
                <a:solidFill>
                  <a:srgbClr val="E2E8F0"/>
                </a:solidFill>
                <a:latin typeface="Calibri" pitchFamily="34" charset="0"/>
                <a:ea typeface="Calibri" pitchFamily="34" charset="-122"/>
                <a:cs typeface="Calibri" pitchFamily="34" charset="-120"/>
              </a:rPr>
              <a:t>Peebles &amp; Xie, Scalable Diffusion Models with Transformers (DiT), ICCV 2023</a:t>
            </a:r>
            <a:r>
              <a:rPr lang="en-US" sz="950" b="1" dirty="0">
                <a:solidFill>
                  <a:srgbClr val="FFFFFF"/>
                </a:solidFill>
                <a:latin typeface="Calibri" pitchFamily="34" charset="0"/>
                <a:ea typeface="Calibri" pitchFamily="34" charset="-122"/>
                <a:cs typeface="Calibri" pitchFamily="34" charset="-120"/>
              </a:rPr>
              <a:t/>
            </a:r>
            <a:endParaRPr lang="en-US" sz="950" dirty="0"/>
          </a:p>
          <a:p>
            <a:pPr marL="0" indent="0">
              <a:spcAft>
                <a:spcPts val="400"/>
              </a:spcAft>
              <a:buNone/>
            </a:pPr>
            <a:r>
              <a:rPr lang="en-US" sz="950" dirty="0">
                <a:solidFill>
                  <a:srgbClr val="E2E8F0"/>
                </a:solidFill>
                <a:latin typeface="Calibri" pitchFamily="34" charset="0"/>
                <a:ea typeface="Calibri" pitchFamily="34" charset="-122"/>
                <a:cs typeface="Calibri" pitchFamily="34" charset="-120"/>
              </a:rPr>
              <a:t>Ruan et al., VM-UNet, 2024 (arXiv:2402.02491)</a:t>
            </a:r>
            <a:r>
              <a:rPr lang="en-US" sz="950" b="1" dirty="0">
                <a:solidFill>
                  <a:srgbClr val="FFFFFF"/>
                </a:solidFill>
                <a:latin typeface="Calibri" pitchFamily="34" charset="0"/>
                <a:ea typeface="Calibri" pitchFamily="34" charset="-122"/>
                <a:cs typeface="Calibri" pitchFamily="34" charset="-120"/>
              </a:rPr>
              <a:t/>
            </a:r>
            <a:r>
              <a:rPr lang="en-US" sz="950" dirty="0">
                <a:solidFill>
                  <a:srgbClr val="E2E8F0"/>
                </a:solidFill>
                <a:latin typeface="Calibri" pitchFamily="34" charset="0"/>
                <a:ea typeface="Calibri" pitchFamily="34" charset="-122"/>
                <a:cs typeface="Calibri" pitchFamily="34" charset="-120"/>
              </a:rPr>
              <a:t/>
            </a:r>
            <a:endParaRPr lang="en-US" sz="950" dirty="0"/>
          </a:p>
          <a:p>
            <a:pPr marL="0" indent="0">
              <a:spcAft>
                <a:spcPts val="400"/>
              </a:spcAft>
              <a:buNone/>
            </a:pPr>
            <a:r>
              <a:rPr lang="en-US" sz="950" dirty="0">
                <a:solidFill>
                  <a:srgbClr val="E2E8F0"/>
                </a:solidFill>
                <a:latin typeface="Calibri" pitchFamily="34" charset="0"/>
                <a:ea typeface="Calibri" pitchFamily="34" charset="-122"/>
                <a:cs typeface="Calibri" pitchFamily="34" charset="-120"/>
              </a:rPr>
              <a:t>Li et al., nnSAM, Medical Physics 2025</a:t>
            </a:r>
            <a:r>
              <a:rPr lang="en-US" sz="950" b="1" dirty="0">
                <a:solidFill>
                  <a:srgbClr val="FFFFFF"/>
                </a:solidFill>
                <a:latin typeface="Calibri" pitchFamily="34" charset="0"/>
                <a:ea typeface="Calibri" pitchFamily="34" charset="-122"/>
                <a:cs typeface="Calibri" pitchFamily="34" charset="-120"/>
              </a:rPr>
              <a:t/>
            </a:r>
            <a:endParaRPr lang="en-US" sz="950" dirty="0"/>
          </a:p>
          <a:p>
            <a:pPr marL="0" indent="0">
              <a:spcAft>
                <a:spcPts val="400"/>
              </a:spcAft>
              <a:buNone/>
            </a:pPr>
            <a:r>
              <a:rPr lang="en-US" sz="950" dirty="0">
                <a:solidFill>
                  <a:srgbClr val="E2E8F0"/>
                </a:solidFill>
                <a:latin typeface="Calibri" pitchFamily="34" charset="0"/>
                <a:ea typeface="Calibri" pitchFamily="34" charset="-122"/>
                <a:cs typeface="Calibri" pitchFamily="34" charset="-120"/>
              </a:rPr>
              <a:t>Mei et al., U-Nets as Belief Propagation, 2024 (arXiv:2404.18444)</a:t>
            </a:r>
            <a:r>
              <a:rPr lang="en-US" sz="950" b="1" dirty="0">
                <a:solidFill>
                  <a:srgbClr val="FFFFFF"/>
                </a:solidFill>
                <a:latin typeface="Calibri" pitchFamily="34" charset="0"/>
                <a:ea typeface="Calibri" pitchFamily="34" charset="-122"/>
                <a:cs typeface="Calibri" pitchFamily="34" charset="-120"/>
              </a:rPr>
              <a:t/>
            </a:r>
            <a:r>
              <a:rPr lang="en-US" sz="950" dirty="0">
                <a:solidFill>
                  <a:srgbClr val="E2E8F0"/>
                </a:solidFill>
                <a:latin typeface="Calibri" pitchFamily="34" charset="0"/>
                <a:ea typeface="Calibri" pitchFamily="34" charset="-122"/>
                <a:cs typeface="Calibri" pitchFamily="34" charset="-120"/>
              </a:rPr>
              <a:t/>
            </a:r>
            <a:endParaRPr lang="en-US" sz="950" dirty="0"/>
          </a:p>
          <a:p>
            <a:pPr marL="0" indent="0">
              <a:spcAft>
                <a:spcPts val="400"/>
              </a:spcAft>
              <a:buNone/>
            </a:pPr>
            <a:r>
              <a:rPr lang="en-US" sz="950" dirty="0">
                <a:solidFill>
                  <a:srgbClr val="E2E8F0"/>
                </a:solidFill>
                <a:latin typeface="Calibri" pitchFamily="34" charset="0"/>
                <a:ea typeface="Calibri" pitchFamily="34" charset="-122"/>
                <a:cs typeface="Calibri" pitchFamily="34" charset="-120"/>
              </a:rPr>
              <a:t>Wiley/Springer U-Net综合综述, 2025。</a:t>
            </a:r>
            <a:r>
              <a:rPr lang="en-US" sz="950" b="1" dirty="0">
                <a:solidFill>
                  <a:srgbClr val="FFFFFF"/>
                </a:solidFill>
                <a:latin typeface="Calibri" pitchFamily="34" charset="0"/>
                <a:ea typeface="Calibri" pitchFamily="34" charset="-122"/>
                <a:cs typeface="Calibri" pitchFamily="34" charset="-120"/>
              </a:rPr>
              <a:t/>
            </a:r>
            <a:r>
              <a:rPr lang="en-US" sz="950" dirty="0">
                <a:solidFill>
                  <a:srgbClr val="E2E8F0"/>
                </a:solidFill>
                <a:latin typeface="Calibri" pitchFamily="34" charset="0"/>
                <a:ea typeface="Calibri" pitchFamily="34" charset="-122"/>
                <a:cs typeface="Calibri" pitchFamily="34" charset="-120"/>
              </a:rPr>
              <a:t/>
            </a:r>
            <a:endParaRPr lang="en-US" sz="950" dirty="0"/>
          </a:p>
        </p:txBody>
      </p:sp>
      <p:sp>
        <p:nvSpPr>
          <p:cNvPr id="13" name="Shape 11"/>
          <p:cNvSpPr/>
          <p:nvPr/>
        </p:nvSpPr>
        <p:spPr>
          <a:xfrm>
            <a:off x="0" y="4937760"/>
            <a:ext cx="73152" cy="205740"/>
          </a:xfrm>
          <a:prstGeom prst="rect">
            <a:avLst/>
          </a:prstGeom>
          <a:solidFill>
            <a:srgbClr val="FF6B35"/>
          </a:solidFill>
          <a:ln w="12700">
            <a:solidFill>
              <a:srgbClr val="FF6B35"/>
            </a:solidFill>
            <a:prstDash val="solid"/>
          </a:ln>
        </p:spPr>
        <p:txBody>
          <a:bodyPr/>
          <a:lstStyle/>
          <a:p>
            <a:endParaRPr lang="en-CN"/>
          </a:p>
        </p:txBody>
      </p:sp>
      <p:sp>
        <p:nvSpPr>
          <p:cNvPr id="14" name="Text 12"/>
          <p:cNvSpPr/>
          <p:nvPr/>
        </p:nvSpPr>
        <p:spPr>
          <a:xfrm>
            <a:off x="228600" y="4919472"/>
            <a:ext cx="5029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U-Net - 深度学习教学 - GSU - 2026</a:t>
            </a:r>
            <a:endParaRPr lang="en-US" sz="900" dirty="0"/>
          </a:p>
        </p:txBody>
      </p:sp>
      <p:sp>
        <p:nvSpPr>
          <p:cNvPr id="15" name="Text 13"/>
          <p:cNvSpPr/>
          <p:nvPr/>
        </p:nvSpPr>
        <p:spPr>
          <a:xfrm>
            <a:off x="8229600" y="4919472"/>
            <a:ext cx="731520" cy="22860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22 / 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2744</Words>
  <Application>Microsoft Macintosh PowerPoint</Application>
  <PresentationFormat>On-screen Show (16:9)</PresentationFormat>
  <Paragraphs>372</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U-Net: Convolutional Networks for Biomedical Image Segmentation</dc:title>
  <dc:subject>DL/RL teaching deck — U-Net 2015 + 2024–2026 advances</dc:subject>
  <dc:creator>Andy Li (GSU Teaching)</dc:creator>
  <cp:lastModifiedBy>Xiaolin Andy Li</cp:lastModifiedBy>
  <cp:revision>3</cp:revision>
  <dcterms:created xsi:type="dcterms:W3CDTF">2026-05-27T15:18:52Z</dcterms:created>
  <dcterms:modified xsi:type="dcterms:W3CDTF">2026-05-28T00:54:33Z</dcterms:modified>
</cp:coreProperties>
</file>